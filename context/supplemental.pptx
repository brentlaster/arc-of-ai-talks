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147478774" r:id="rId3"/>
    <p:sldId id="2147478776" r:id="rId4"/>
    <p:sldId id="2147478775" r:id="rId5"/>
    <p:sldId id="2147478777" r:id="rId6"/>
    <p:sldId id="2147479016" r:id="rId7"/>
    <p:sldId id="2147478755" r:id="rId8"/>
    <p:sldId id="214747901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66A7E1-FEC3-D742-83DD-15DFE6C07D44}" type="datetimeFigureOut">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2AD38F-FE20-7441-8A9D-81501EE478DE}" type="slidenum">
              <a:t>‹#›</a:t>
            </a:fld>
            <a:endParaRPr lang="en-US"/>
          </a:p>
        </p:txBody>
      </p:sp>
    </p:spTree>
    <p:extLst>
      <p:ext uri="{BB962C8B-B14F-4D97-AF65-F5344CB8AC3E}">
        <p14:creationId xmlns:p14="http://schemas.microsoft.com/office/powerpoint/2010/main" val="4483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AA33A7-505C-B745-B4F4-A30D484026E1}" type="slidenum">
              <a:rPr lang="en-US" smtClean="0"/>
              <a:t>4</a:t>
            </a:fld>
            <a:endParaRPr lang="en-US"/>
          </a:p>
        </p:txBody>
      </p:sp>
    </p:spTree>
    <p:extLst>
      <p:ext uri="{BB962C8B-B14F-4D97-AF65-F5344CB8AC3E}">
        <p14:creationId xmlns:p14="http://schemas.microsoft.com/office/powerpoint/2010/main" val="1267734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62AEF-DC12-4D16-6742-2C4F275E4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79998-BD90-79B0-20AB-8BFB716346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13B1D8-D7F5-3A54-13A3-A4675C8E4F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99278A-2B7E-D80C-BA88-4A4477F00178}"/>
              </a:ext>
            </a:extLst>
          </p:cNvPr>
          <p:cNvSpPr>
            <a:spLocks noGrp="1"/>
          </p:cNvSpPr>
          <p:nvPr>
            <p:ph type="sldNum" sz="quarter" idx="5"/>
          </p:nvPr>
        </p:nvSpPr>
        <p:spPr/>
        <p:txBody>
          <a:bodyPr/>
          <a:lstStyle/>
          <a:p>
            <a:fld id="{A0AA33A7-505C-B745-B4F4-A30D484026E1}" type="slidenum">
              <a:rPr lang="en-US" smtClean="0"/>
              <a:t>5</a:t>
            </a:fld>
            <a:endParaRPr lang="en-US"/>
          </a:p>
        </p:txBody>
      </p:sp>
    </p:spTree>
    <p:extLst>
      <p:ext uri="{BB962C8B-B14F-4D97-AF65-F5344CB8AC3E}">
        <p14:creationId xmlns:p14="http://schemas.microsoft.com/office/powerpoint/2010/main" val="2109692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Combined 2 slides ('What is Context?' + 'Context Engineering') into one. Kept the context window breakdown table (5 components with token counts), 'Why Context Matters' list (5 items), and added Core Principles (Relevance, Priority, Structure) from the deleted Context Engineering slide. Combined both definitions into a single banner. Deleted the redundant 'Context Engineering'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64803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Combined 2 slides ('Context Risk' + 'Defending Against Context Risk') into one. Top section: 3 risk categories (Information Leakage, Context Injection, Context Overflow) with severity color coding and key bullets. Bottom section: 5 defense layers (Input Sanitization, Context Isolation, Token Budget Mgmt, Output Filtering, Audit Logging) + 3 best practice cards (Least Privilege, Encryption, Regular Audits). Deleted the 'Defending Against Context Risk'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07973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B057F-EC57-7676-742F-4B1C920651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2F6D50D-0C30-56AB-C0F8-B40C5BDFAD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424B8F-D37F-8993-AED6-B00CB6D9137D}"/>
              </a:ext>
            </a:extLst>
          </p:cNvPr>
          <p:cNvSpPr>
            <a:spLocks noGrp="1"/>
          </p:cNvSpPr>
          <p:nvPr>
            <p:ph type="dt" sz="half" idx="10"/>
          </p:nvPr>
        </p:nvSpPr>
        <p:spPr/>
        <p:txBody>
          <a:body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8ACE78EB-979D-3B8D-8951-E5A63F149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2DE4FF-0FEE-DE3A-499F-2B5DC141ABA5}"/>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341397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79E96-6B70-54A5-CAFA-8DBBBC41BF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72C05-7E91-18BD-38C6-AFBB916714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407D13-E7B8-0186-19E9-49101F1C4E77}"/>
              </a:ext>
            </a:extLst>
          </p:cNvPr>
          <p:cNvSpPr>
            <a:spLocks noGrp="1"/>
          </p:cNvSpPr>
          <p:nvPr>
            <p:ph type="dt" sz="half" idx="10"/>
          </p:nvPr>
        </p:nvSpPr>
        <p:spPr/>
        <p:txBody>
          <a:body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A2B7A8C0-6723-CA0D-CA7A-055436D18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AF740D-EF86-4923-62F3-1850BFEB1D0F}"/>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2868276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447F-09DA-65D5-F8A9-8053A55C17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AE7F9D-12FA-DBC1-67FF-8E9C8E815B4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25714D-023B-6CBC-64C0-9219F4DE792D}"/>
              </a:ext>
            </a:extLst>
          </p:cNvPr>
          <p:cNvSpPr>
            <a:spLocks noGrp="1"/>
          </p:cNvSpPr>
          <p:nvPr>
            <p:ph type="dt" sz="half" idx="10"/>
          </p:nvPr>
        </p:nvSpPr>
        <p:spPr/>
        <p:txBody>
          <a:body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030046C9-C196-FEE0-DAC8-0A36F2BDF0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CF17D-369C-21D5-7794-155A37ED0ED7}"/>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2669028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5C37-9D21-0C64-A8F8-F8A98A4198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4FC0C1-66ED-C187-DE81-BEF073BD45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A016F6-8EE2-1C56-DEA9-FE738C3754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19F8DE-43DD-41C3-29D1-30873CD91402}"/>
              </a:ext>
            </a:extLst>
          </p:cNvPr>
          <p:cNvSpPr>
            <a:spLocks noGrp="1"/>
          </p:cNvSpPr>
          <p:nvPr>
            <p:ph type="dt" sz="half" idx="10"/>
          </p:nvPr>
        </p:nvSpPr>
        <p:spPr/>
        <p:txBody>
          <a:bodyPr/>
          <a:lstStyle/>
          <a:p>
            <a:fld id="{03202004-682A-7246-AD80-CF85433103D3}" type="datetimeFigureOut">
              <a:t>4/8/26</a:t>
            </a:fld>
            <a:endParaRPr lang="en-US"/>
          </a:p>
        </p:txBody>
      </p:sp>
      <p:sp>
        <p:nvSpPr>
          <p:cNvPr id="6" name="Footer Placeholder 5">
            <a:extLst>
              <a:ext uri="{FF2B5EF4-FFF2-40B4-BE49-F238E27FC236}">
                <a16:creationId xmlns:a16="http://schemas.microsoft.com/office/drawing/2014/main" id="{E8122BDE-4FA8-52E6-12CB-8332738474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AD77585-BEB2-94B8-AAB4-812B29439DF4}"/>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4168528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009BD-047A-20F3-5AD6-E49FCB33F9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EBC156-9972-38AE-2A98-AB3FC11A99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5860A3-05D4-A80E-FF2A-A5690873D8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3336B6-FAE1-5359-DA09-4C3EF7C6AD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FE80D4-A2B7-FF3F-F992-55A333CB70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FEB745-AAE2-49BB-0DC2-4E3391905ACF}"/>
              </a:ext>
            </a:extLst>
          </p:cNvPr>
          <p:cNvSpPr>
            <a:spLocks noGrp="1"/>
          </p:cNvSpPr>
          <p:nvPr>
            <p:ph type="dt" sz="half" idx="10"/>
          </p:nvPr>
        </p:nvSpPr>
        <p:spPr/>
        <p:txBody>
          <a:bodyPr/>
          <a:lstStyle/>
          <a:p>
            <a:fld id="{03202004-682A-7246-AD80-CF85433103D3}" type="datetimeFigureOut">
              <a:t>4/8/26</a:t>
            </a:fld>
            <a:endParaRPr lang="en-US"/>
          </a:p>
        </p:txBody>
      </p:sp>
      <p:sp>
        <p:nvSpPr>
          <p:cNvPr id="8" name="Footer Placeholder 7">
            <a:extLst>
              <a:ext uri="{FF2B5EF4-FFF2-40B4-BE49-F238E27FC236}">
                <a16:creationId xmlns:a16="http://schemas.microsoft.com/office/drawing/2014/main" id="{BEC79000-7802-BE2C-0CB7-29A15D6301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E195B1-5155-4404-6015-98D83D7FC064}"/>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4194085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BF5C-F9B9-C624-8ECE-E1292BC68F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D9712C-37CA-EE36-6360-0281F7ADCC71}"/>
              </a:ext>
            </a:extLst>
          </p:cNvPr>
          <p:cNvSpPr>
            <a:spLocks noGrp="1"/>
          </p:cNvSpPr>
          <p:nvPr>
            <p:ph type="dt" sz="half" idx="10"/>
          </p:nvPr>
        </p:nvSpPr>
        <p:spPr/>
        <p:txBody>
          <a:bodyPr/>
          <a:lstStyle/>
          <a:p>
            <a:fld id="{03202004-682A-7246-AD80-CF85433103D3}" type="datetimeFigureOut">
              <a:t>4/8/26</a:t>
            </a:fld>
            <a:endParaRPr lang="en-US"/>
          </a:p>
        </p:txBody>
      </p:sp>
      <p:sp>
        <p:nvSpPr>
          <p:cNvPr id="4" name="Footer Placeholder 3">
            <a:extLst>
              <a:ext uri="{FF2B5EF4-FFF2-40B4-BE49-F238E27FC236}">
                <a16:creationId xmlns:a16="http://schemas.microsoft.com/office/drawing/2014/main" id="{39249944-F200-5E95-9EF6-33E7E54391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4E59D2-7C80-DE65-6C0F-A80F3899155A}"/>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1344639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3CE609-DA40-671C-45ED-6C258283832F}"/>
              </a:ext>
            </a:extLst>
          </p:cNvPr>
          <p:cNvSpPr>
            <a:spLocks noGrp="1"/>
          </p:cNvSpPr>
          <p:nvPr>
            <p:ph type="dt" sz="half" idx="10"/>
          </p:nvPr>
        </p:nvSpPr>
        <p:spPr/>
        <p:txBody>
          <a:bodyPr/>
          <a:lstStyle/>
          <a:p>
            <a:fld id="{03202004-682A-7246-AD80-CF85433103D3}" type="datetimeFigureOut">
              <a:t>4/8/26</a:t>
            </a:fld>
            <a:endParaRPr lang="en-US"/>
          </a:p>
        </p:txBody>
      </p:sp>
      <p:sp>
        <p:nvSpPr>
          <p:cNvPr id="3" name="Footer Placeholder 2">
            <a:extLst>
              <a:ext uri="{FF2B5EF4-FFF2-40B4-BE49-F238E27FC236}">
                <a16:creationId xmlns:a16="http://schemas.microsoft.com/office/drawing/2014/main" id="{0A9AC3A2-3AB7-09BF-4E1B-482ACD4B3FE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CC4063-419E-EBD8-CAAD-6FB09974293E}"/>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3401858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7A18C-0C84-76BF-C0C2-F4429B783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5998DF-C292-E0B0-7060-16855E783E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FA7F135-B1BD-C218-FF65-570F66ACF7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0B65D-4F75-0149-1815-23BF7AEA1AC1}"/>
              </a:ext>
            </a:extLst>
          </p:cNvPr>
          <p:cNvSpPr>
            <a:spLocks noGrp="1"/>
          </p:cNvSpPr>
          <p:nvPr>
            <p:ph type="dt" sz="half" idx="10"/>
          </p:nvPr>
        </p:nvSpPr>
        <p:spPr/>
        <p:txBody>
          <a:bodyPr/>
          <a:lstStyle/>
          <a:p>
            <a:fld id="{03202004-682A-7246-AD80-CF85433103D3}" type="datetimeFigureOut">
              <a:t>4/8/26</a:t>
            </a:fld>
            <a:endParaRPr lang="en-US"/>
          </a:p>
        </p:txBody>
      </p:sp>
      <p:sp>
        <p:nvSpPr>
          <p:cNvPr id="6" name="Footer Placeholder 5">
            <a:extLst>
              <a:ext uri="{FF2B5EF4-FFF2-40B4-BE49-F238E27FC236}">
                <a16:creationId xmlns:a16="http://schemas.microsoft.com/office/drawing/2014/main" id="{440E458D-73A5-5540-F20E-62E75C170E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70A43A-958F-4DD8-B970-947721C676EA}"/>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1701850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392BA-6207-CC72-7533-5D42743370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281F0-6A4E-9336-B0B5-14BD6BE50D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5D059CF-BEA1-8D79-4F8A-DAC58C401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A31469-1B20-CF89-86B2-14B7CB823426}"/>
              </a:ext>
            </a:extLst>
          </p:cNvPr>
          <p:cNvSpPr>
            <a:spLocks noGrp="1"/>
          </p:cNvSpPr>
          <p:nvPr>
            <p:ph type="dt" sz="half" idx="10"/>
          </p:nvPr>
        </p:nvSpPr>
        <p:spPr/>
        <p:txBody>
          <a:bodyPr/>
          <a:lstStyle/>
          <a:p>
            <a:fld id="{03202004-682A-7246-AD80-CF85433103D3}" type="datetimeFigureOut">
              <a:t>4/8/26</a:t>
            </a:fld>
            <a:endParaRPr lang="en-US"/>
          </a:p>
        </p:txBody>
      </p:sp>
      <p:sp>
        <p:nvSpPr>
          <p:cNvPr id="6" name="Footer Placeholder 5">
            <a:extLst>
              <a:ext uri="{FF2B5EF4-FFF2-40B4-BE49-F238E27FC236}">
                <a16:creationId xmlns:a16="http://schemas.microsoft.com/office/drawing/2014/main" id="{354A2EDF-F5A6-3317-C50E-5A05BC44A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C4FC3A-0B30-7418-A262-3076EF062FF7}"/>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2386039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E8A4D-E417-28C4-6D14-8E31F15D11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3826CD-9720-1D87-3DF2-979A8D4076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36C5A-ADED-B664-05EF-B8428D8C2E95}"/>
              </a:ext>
            </a:extLst>
          </p:cNvPr>
          <p:cNvSpPr>
            <a:spLocks noGrp="1"/>
          </p:cNvSpPr>
          <p:nvPr>
            <p:ph type="dt" sz="half" idx="10"/>
          </p:nvPr>
        </p:nvSpPr>
        <p:spPr/>
        <p:txBody>
          <a:body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BA066994-D465-CAA3-B798-304470DF2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C9ED2F-9072-EF42-C7B0-3096D4859F54}"/>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2969220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93C0A-5683-7EF2-DE53-1716983E90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A997E8-CC4C-7FC7-D85A-3673B46A47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F00FAF-DC0E-4B5E-F74A-A4FDF41FDE5D}"/>
              </a:ext>
            </a:extLst>
          </p:cNvPr>
          <p:cNvSpPr>
            <a:spLocks noGrp="1"/>
          </p:cNvSpPr>
          <p:nvPr>
            <p:ph type="dt" sz="half" idx="10"/>
          </p:nvPr>
        </p:nvSpPr>
        <p:spPr/>
        <p:txBody>
          <a:body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845D5E1B-838C-2731-6B7B-5BBFE74EC8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23D428-F64C-94C1-B207-8354ACAC73DD}"/>
              </a:ext>
            </a:extLst>
          </p:cNvPr>
          <p:cNvSpPr>
            <a:spLocks noGrp="1"/>
          </p:cNvSpPr>
          <p:nvPr>
            <p:ph type="sldNum" sz="quarter" idx="12"/>
          </p:nvPr>
        </p:nvSpPr>
        <p:spPr/>
        <p:txBody>
          <a:bodyPr/>
          <a:lstStyle/>
          <a:p>
            <a:fld id="{49AE214B-E7F1-A546-9A9A-8BEACB566253}" type="slidenum">
              <a:t>‹#›</a:t>
            </a:fld>
            <a:endParaRPr lang="en-US"/>
          </a:p>
        </p:txBody>
      </p:sp>
    </p:spTree>
    <p:extLst>
      <p:ext uri="{BB962C8B-B14F-4D97-AF65-F5344CB8AC3E}">
        <p14:creationId xmlns:p14="http://schemas.microsoft.com/office/powerpoint/2010/main" val="328581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p:bg>
      <p:bgPr>
        <a:blipFill>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0899" y="128017"/>
            <a:ext cx="10694925" cy="749952"/>
          </a:xfrm>
          <a:prstGeom prst="rect">
            <a:avLst/>
          </a:prstGeom>
        </p:spPr>
        <p:txBody>
          <a:bodyPr>
            <a:normAutofit/>
          </a:bodyPr>
          <a:lstStyle>
            <a:lvl1pPr>
              <a:defRPr sz="3000" b="1" baseline="0">
                <a:solidFill>
                  <a:srgbClr val="002060"/>
                </a:solidFill>
                <a:latin typeface="Poppins" pitchFamily="2" charset="77"/>
                <a:cs typeface="Poppins" pitchFamily="2" charset="77"/>
              </a:defRPr>
            </a:lvl1pPr>
          </a:lstStyle>
          <a:p>
            <a:r>
              <a:rPr lang="en-US" dirty="0"/>
              <a:t>Click to edit Master title style</a:t>
            </a:r>
          </a:p>
        </p:txBody>
      </p:sp>
      <p:sp>
        <p:nvSpPr>
          <p:cNvPr id="3" name="Content Placeholder 2"/>
          <p:cNvSpPr>
            <a:spLocks noGrp="1"/>
          </p:cNvSpPr>
          <p:nvPr>
            <p:ph idx="1" hasCustomPrompt="1"/>
          </p:nvPr>
        </p:nvSpPr>
        <p:spPr>
          <a:xfrm>
            <a:off x="850899" y="1143001"/>
            <a:ext cx="10934700" cy="2084316"/>
          </a:xfrm>
          <a:noFill/>
        </p:spPr>
        <p:txBody>
          <a:bodyPr/>
          <a:lstStyle>
            <a:lvl1pPr>
              <a:buClr>
                <a:schemeClr val="accent2"/>
              </a:buClr>
              <a:defRPr/>
            </a:lvl1pPr>
            <a:lvl2pPr>
              <a:buClr>
                <a:schemeClr val="accent2"/>
              </a:buClr>
              <a:buFont typeface="Wingdings" pitchFamily="2" charset="2"/>
              <a:buChar char="§"/>
              <a:defRPr/>
            </a:lvl2pPr>
            <a:lvl3pPr>
              <a:buClr>
                <a:schemeClr val="accent2"/>
              </a:buClr>
              <a:buFont typeface="Arial" pitchFamily="34" charset="0"/>
              <a:buChar char="»"/>
              <a:defRPr/>
            </a:lvl3pPr>
            <a:lvl4pPr>
              <a:buClr>
                <a:schemeClr val="accent2"/>
              </a:buClr>
              <a:buFont typeface="Arial" pitchFamily="34" charset="0"/>
              <a:buChar char="»"/>
              <a:defRPr/>
            </a:lvl4pPr>
            <a:lvl5pPr>
              <a:buClr>
                <a:schemeClr val="accent2"/>
              </a:buClr>
              <a:buFont typeface="Arial" pitchFamily="34" charset="0"/>
              <a:buChar char="–"/>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9599470"/>
      </p:ext>
    </p:extLst>
  </p:cSld>
  <p:clrMapOvr>
    <a:masterClrMapping/>
  </p:clrMapOvr>
  <p:hf sldNum="0"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DC9F3D-61BF-FAC0-2E67-E08C0EE9F7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5EAE9C-56F3-1C23-A947-B26922D15D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86B70A-746E-2F0C-C928-ED8C3F8A61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202004-682A-7246-AD80-CF85433103D3}" type="datetimeFigureOut">
              <a:t>4/8/26</a:t>
            </a:fld>
            <a:endParaRPr lang="en-US"/>
          </a:p>
        </p:txBody>
      </p:sp>
      <p:sp>
        <p:nvSpPr>
          <p:cNvPr id="5" name="Footer Placeholder 4">
            <a:extLst>
              <a:ext uri="{FF2B5EF4-FFF2-40B4-BE49-F238E27FC236}">
                <a16:creationId xmlns:a16="http://schemas.microsoft.com/office/drawing/2014/main" id="{D86151BB-4459-CA46-1872-6C375115E8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3F43B3-ED19-35BD-9E58-2B0F6A4FB2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AE214B-E7F1-A546-9A9A-8BEACB566253}" type="slidenum">
              <a:t>‹#›</a:t>
            </a:fld>
            <a:endParaRPr lang="en-US"/>
          </a:p>
        </p:txBody>
      </p:sp>
    </p:spTree>
    <p:extLst>
      <p:ext uri="{BB962C8B-B14F-4D97-AF65-F5344CB8AC3E}">
        <p14:creationId xmlns:p14="http://schemas.microsoft.com/office/powerpoint/2010/main" val="1231339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A1976-8837-87D3-7555-12946C5243D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3C7DC089-ADEE-5EE0-97AF-23BC59393B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6053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93D258-74F3-6219-0621-10227E9ADDD7}"/>
              </a:ext>
            </a:extLst>
          </p:cNvPr>
          <p:cNvPicPr>
            <a:picLocks noChangeAspect="1"/>
          </p:cNvPicPr>
          <p:nvPr/>
        </p:nvPicPr>
        <p:blipFill>
          <a:blip r:embed="rId2"/>
          <a:stretch>
            <a:fillRect/>
          </a:stretch>
        </p:blipFill>
        <p:spPr>
          <a:xfrm>
            <a:off x="1897559" y="1235192"/>
            <a:ext cx="8965513" cy="4387616"/>
          </a:xfrm>
          <a:prstGeom prst="rect">
            <a:avLst/>
          </a:prstGeom>
        </p:spPr>
      </p:pic>
      <p:sp>
        <p:nvSpPr>
          <p:cNvPr id="3" name="Title 2">
            <a:extLst>
              <a:ext uri="{FF2B5EF4-FFF2-40B4-BE49-F238E27FC236}">
                <a16:creationId xmlns:a16="http://schemas.microsoft.com/office/drawing/2014/main" id="{5080014D-EFDB-F3DA-0D47-AAAA0BF41C36}"/>
              </a:ext>
            </a:extLst>
          </p:cNvPr>
          <p:cNvSpPr>
            <a:spLocks noGrp="1"/>
          </p:cNvSpPr>
          <p:nvPr>
            <p:ph type="title"/>
          </p:nvPr>
        </p:nvSpPr>
        <p:spPr/>
        <p:txBody>
          <a:bodyPr/>
          <a:lstStyle/>
          <a:p>
            <a:r>
              <a:rPr lang="en-US" dirty="0"/>
              <a:t>"This isn't funny."</a:t>
            </a:r>
          </a:p>
        </p:txBody>
      </p:sp>
      <p:pic>
        <p:nvPicPr>
          <p:cNvPr id="7" name="Picture 6">
            <a:extLst>
              <a:ext uri="{FF2B5EF4-FFF2-40B4-BE49-F238E27FC236}">
                <a16:creationId xmlns:a16="http://schemas.microsoft.com/office/drawing/2014/main" id="{F07FA6BD-6DB1-FF49-C547-D9E4ADAC805E}"/>
              </a:ext>
            </a:extLst>
          </p:cNvPr>
          <p:cNvPicPr>
            <a:picLocks noChangeAspect="1"/>
          </p:cNvPicPr>
          <p:nvPr/>
        </p:nvPicPr>
        <p:blipFill>
          <a:blip r:embed="rId3"/>
          <a:stretch>
            <a:fillRect/>
          </a:stretch>
        </p:blipFill>
        <p:spPr>
          <a:xfrm>
            <a:off x="5929211" y="128017"/>
            <a:ext cx="4775200" cy="939800"/>
          </a:xfrm>
          <a:prstGeom prst="rect">
            <a:avLst/>
          </a:prstGeom>
        </p:spPr>
      </p:pic>
    </p:spTree>
    <p:extLst>
      <p:ext uri="{BB962C8B-B14F-4D97-AF65-F5344CB8AC3E}">
        <p14:creationId xmlns:p14="http://schemas.microsoft.com/office/powerpoint/2010/main" val="752482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1F37F-0532-F56A-0A72-515BD870634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FE67C71-22E7-7614-13AA-E4B683B89236}"/>
              </a:ext>
            </a:extLst>
          </p:cNvPr>
          <p:cNvPicPr>
            <a:picLocks noChangeAspect="1"/>
          </p:cNvPicPr>
          <p:nvPr/>
        </p:nvPicPr>
        <p:blipFill>
          <a:blip r:embed="rId2"/>
          <a:stretch>
            <a:fillRect/>
          </a:stretch>
        </p:blipFill>
        <p:spPr>
          <a:xfrm>
            <a:off x="1897559" y="1235192"/>
            <a:ext cx="8965513" cy="4387616"/>
          </a:xfrm>
          <a:prstGeom prst="rect">
            <a:avLst/>
          </a:prstGeom>
        </p:spPr>
      </p:pic>
      <p:sp>
        <p:nvSpPr>
          <p:cNvPr id="3" name="Title 2">
            <a:extLst>
              <a:ext uri="{FF2B5EF4-FFF2-40B4-BE49-F238E27FC236}">
                <a16:creationId xmlns:a16="http://schemas.microsoft.com/office/drawing/2014/main" id="{56F7CA05-88E4-629B-0CD7-EC9F8205CBBA}"/>
              </a:ext>
            </a:extLst>
          </p:cNvPr>
          <p:cNvSpPr>
            <a:spLocks noGrp="1"/>
          </p:cNvSpPr>
          <p:nvPr>
            <p:ph type="title"/>
          </p:nvPr>
        </p:nvSpPr>
        <p:spPr/>
        <p:txBody>
          <a:bodyPr/>
          <a:lstStyle/>
          <a:p>
            <a:r>
              <a:rPr lang="en-US" dirty="0"/>
              <a:t>"This isn't funny."</a:t>
            </a:r>
          </a:p>
        </p:txBody>
      </p:sp>
      <p:sp>
        <p:nvSpPr>
          <p:cNvPr id="5" name="Rectangle 4">
            <a:extLst>
              <a:ext uri="{FF2B5EF4-FFF2-40B4-BE49-F238E27FC236}">
                <a16:creationId xmlns:a16="http://schemas.microsoft.com/office/drawing/2014/main" id="{8B043A94-E79D-A978-845B-DFBF311763C0}"/>
              </a:ext>
            </a:extLst>
          </p:cNvPr>
          <p:cNvSpPr/>
          <p:nvPr/>
        </p:nvSpPr>
        <p:spPr>
          <a:xfrm>
            <a:off x="6198361" y="3717452"/>
            <a:ext cx="5437632" cy="2657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What's your immediate reaction? </a:t>
            </a:r>
          </a:p>
          <a:p>
            <a:pPr algn="ctr"/>
            <a:endParaRPr lang="en-US" sz="2400" dirty="0"/>
          </a:p>
          <a:p>
            <a:pPr algn="ctr"/>
            <a:r>
              <a:rPr lang="en-US" sz="2400" dirty="0"/>
              <a:t>What do you think "1 year" vs "1 hour" actually refers to?</a:t>
            </a:r>
          </a:p>
        </p:txBody>
      </p:sp>
      <p:sp>
        <p:nvSpPr>
          <p:cNvPr id="6" name="Rectangle 5">
            <a:extLst>
              <a:ext uri="{FF2B5EF4-FFF2-40B4-BE49-F238E27FC236}">
                <a16:creationId xmlns:a16="http://schemas.microsoft.com/office/drawing/2014/main" id="{7DA00A7A-F6CC-F40D-D635-3E889AABCF0C}"/>
              </a:ext>
            </a:extLst>
          </p:cNvPr>
          <p:cNvSpPr/>
          <p:nvPr/>
        </p:nvSpPr>
        <p:spPr>
          <a:xfrm>
            <a:off x="491579" y="3717452"/>
            <a:ext cx="5437632" cy="2657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MYTH or REALITY?</a:t>
            </a:r>
          </a:p>
        </p:txBody>
      </p:sp>
      <p:pic>
        <p:nvPicPr>
          <p:cNvPr id="7" name="Picture 6">
            <a:extLst>
              <a:ext uri="{FF2B5EF4-FFF2-40B4-BE49-F238E27FC236}">
                <a16:creationId xmlns:a16="http://schemas.microsoft.com/office/drawing/2014/main" id="{DF58FD01-9318-489E-6A7E-1D0A0003D1E6}"/>
              </a:ext>
            </a:extLst>
          </p:cNvPr>
          <p:cNvPicPr>
            <a:picLocks noChangeAspect="1"/>
          </p:cNvPicPr>
          <p:nvPr/>
        </p:nvPicPr>
        <p:blipFill>
          <a:blip r:embed="rId3"/>
          <a:stretch>
            <a:fillRect/>
          </a:stretch>
        </p:blipFill>
        <p:spPr>
          <a:xfrm>
            <a:off x="5929211" y="128017"/>
            <a:ext cx="4775200" cy="939800"/>
          </a:xfrm>
          <a:prstGeom prst="rect">
            <a:avLst/>
          </a:prstGeom>
        </p:spPr>
      </p:pic>
    </p:spTree>
    <p:extLst>
      <p:ext uri="{BB962C8B-B14F-4D97-AF65-F5344CB8AC3E}">
        <p14:creationId xmlns:p14="http://schemas.microsoft.com/office/powerpoint/2010/main" val="352191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A9FF4-7B7E-946F-2CE0-0A78F3D3101C}"/>
              </a:ext>
            </a:extLst>
          </p:cNvPr>
          <p:cNvSpPr>
            <a:spLocks noGrp="1"/>
          </p:cNvSpPr>
          <p:nvPr>
            <p:ph type="title"/>
          </p:nvPr>
        </p:nvSpPr>
        <p:spPr/>
        <p:txBody>
          <a:bodyPr>
            <a:normAutofit fontScale="90000"/>
          </a:bodyPr>
          <a:lstStyle/>
          <a:p>
            <a:r>
              <a:rPr lang="en-US" dirty="0"/>
              <a:t>What the post claimed – and what the follow-ups clarified</a:t>
            </a:r>
          </a:p>
        </p:txBody>
      </p:sp>
      <p:sp>
        <p:nvSpPr>
          <p:cNvPr id="4" name="Rectangle 1">
            <a:extLst>
              <a:ext uri="{FF2B5EF4-FFF2-40B4-BE49-F238E27FC236}">
                <a16:creationId xmlns:a16="http://schemas.microsoft.com/office/drawing/2014/main" id="{B57A221F-ABDD-CF41-F49D-3C10E56FE0F0}"/>
              </a:ext>
            </a:extLst>
          </p:cNvPr>
          <p:cNvSpPr>
            <a:spLocks noGrp="1" noChangeArrowheads="1"/>
          </p:cNvSpPr>
          <p:nvPr>
            <p:ph idx="1"/>
          </p:nvPr>
        </p:nvSpPr>
        <p:spPr bwMode="auto">
          <a:xfrm>
            <a:off x="850899" y="1054080"/>
            <a:ext cx="10825464" cy="2262158"/>
          </a:xfrm>
          <a:prstGeom prst="rect">
            <a:avLst/>
          </a:prstGeom>
          <a:solidFill>
            <a:schemeClr val="bg2"/>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Claim (compressed): “Claude Code generated something close to what we built last year… in ~1 hour.” </a:t>
            </a: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Context embedded in the thread:</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“We’ve been trying to build distributed agent orchestrators… since last year” </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Follow-up: “not production grade… toy version” </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Follow-up framing: “we built several versions last year” (iteration happened)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BDA2D592-4EC4-B786-648E-013D5C8F6DB7}"/>
              </a:ext>
            </a:extLst>
          </p:cNvPr>
          <p:cNvPicPr>
            <a:picLocks noChangeAspect="1"/>
          </p:cNvPicPr>
          <p:nvPr/>
        </p:nvPicPr>
        <p:blipFill>
          <a:blip r:embed="rId3"/>
          <a:stretch>
            <a:fillRect/>
          </a:stretch>
        </p:blipFill>
        <p:spPr>
          <a:xfrm>
            <a:off x="615188" y="3760742"/>
            <a:ext cx="5387666" cy="2434294"/>
          </a:xfrm>
          <a:prstGeom prst="rect">
            <a:avLst/>
          </a:prstGeom>
        </p:spPr>
      </p:pic>
      <p:pic>
        <p:nvPicPr>
          <p:cNvPr id="6" name="Picture 5">
            <a:extLst>
              <a:ext uri="{FF2B5EF4-FFF2-40B4-BE49-F238E27FC236}">
                <a16:creationId xmlns:a16="http://schemas.microsoft.com/office/drawing/2014/main" id="{3CF29FC9-7009-9A28-E36E-A75AD67DF32F}"/>
              </a:ext>
            </a:extLst>
          </p:cNvPr>
          <p:cNvPicPr>
            <a:picLocks noChangeAspect="1"/>
          </p:cNvPicPr>
          <p:nvPr/>
        </p:nvPicPr>
        <p:blipFill>
          <a:blip r:embed="rId4"/>
          <a:stretch>
            <a:fillRect/>
          </a:stretch>
        </p:blipFill>
        <p:spPr>
          <a:xfrm>
            <a:off x="6595873" y="3749440"/>
            <a:ext cx="5387666" cy="2445596"/>
          </a:xfrm>
          <a:prstGeom prst="rect">
            <a:avLst/>
          </a:prstGeom>
        </p:spPr>
      </p:pic>
    </p:spTree>
    <p:extLst>
      <p:ext uri="{BB962C8B-B14F-4D97-AF65-F5344CB8AC3E}">
        <p14:creationId xmlns:p14="http://schemas.microsoft.com/office/powerpoint/2010/main" val="349382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3123F-2616-C55E-9A0C-D44FB4DD8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101B5-15FF-C63A-B136-F043A6E8C032}"/>
              </a:ext>
            </a:extLst>
          </p:cNvPr>
          <p:cNvSpPr>
            <a:spLocks noGrp="1"/>
          </p:cNvSpPr>
          <p:nvPr>
            <p:ph type="title"/>
          </p:nvPr>
        </p:nvSpPr>
        <p:spPr/>
        <p:txBody>
          <a:bodyPr>
            <a:normAutofit fontScale="90000"/>
          </a:bodyPr>
          <a:lstStyle/>
          <a:p>
            <a:r>
              <a:rPr lang="en-US" dirty="0"/>
              <a:t>What the post claimed – and what the follow-ups clarified</a:t>
            </a:r>
          </a:p>
        </p:txBody>
      </p:sp>
      <p:sp>
        <p:nvSpPr>
          <p:cNvPr id="4" name="Rectangle 1">
            <a:extLst>
              <a:ext uri="{FF2B5EF4-FFF2-40B4-BE49-F238E27FC236}">
                <a16:creationId xmlns:a16="http://schemas.microsoft.com/office/drawing/2014/main" id="{51629E67-4A1E-8A6D-3EAB-AD3380B6CB94}"/>
              </a:ext>
            </a:extLst>
          </p:cNvPr>
          <p:cNvSpPr>
            <a:spLocks noGrp="1" noChangeArrowheads="1"/>
          </p:cNvSpPr>
          <p:nvPr>
            <p:ph idx="1"/>
          </p:nvPr>
        </p:nvSpPr>
        <p:spPr bwMode="auto">
          <a:xfrm>
            <a:off x="850899" y="1054080"/>
            <a:ext cx="10825464" cy="2262158"/>
          </a:xfrm>
          <a:prstGeom prst="rect">
            <a:avLst/>
          </a:prstGeom>
          <a:solidFill>
            <a:schemeClr val="bg2"/>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Claim (compressed): “Claude Code generated something close to what we built last year… in ~1 hour.” </a:t>
            </a:r>
          </a:p>
          <a:p>
            <a:pPr marL="0" marR="0" lvl="0" indent="0" algn="l" defTabSz="914400" rtl="0" eaLnBrk="0" fontAlgn="base" latinLnBrk="0" hangingPunct="0">
              <a:lnSpc>
                <a:spcPct val="100000"/>
              </a:lnSpc>
              <a:spcBef>
                <a:spcPts val="600"/>
              </a:spcBef>
              <a:spcAft>
                <a:spcPts val="60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Context embedded in the thread:</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“We’ve been trying to build distributed agent orchestrators… since last year” </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Follow-up: “not production grade… toy version” </a:t>
            </a:r>
          </a:p>
          <a:p>
            <a:pPr marL="457200" lvl="1" indent="0" eaLnBrk="0" fontAlgn="base" hangingPunct="0">
              <a:lnSpc>
                <a:spcPct val="100000"/>
              </a:lnSpc>
              <a:spcBef>
                <a:spcPts val="600"/>
              </a:spcBef>
              <a:spcAft>
                <a:spcPts val="600"/>
              </a:spcAft>
              <a:buClrTx/>
              <a:buFontTx/>
              <a:buChar char="•"/>
            </a:pPr>
            <a:r>
              <a:rPr kumimoji="0" lang="en-US" altLang="en-US" sz="1400" b="0" i="0" u="none" strike="noStrike" cap="none" normalizeH="0" baseline="0" dirty="0">
                <a:ln>
                  <a:noFill/>
                </a:ln>
                <a:solidFill>
                  <a:schemeClr val="tx1"/>
                </a:solidFill>
                <a:effectLst/>
                <a:latin typeface="Arial" panose="020B0604020202020204" pitchFamily="34" charset="0"/>
              </a:rPr>
              <a:t>Follow-up framing: “we built several versions last year” (iteration happened)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0579EE19-650A-4749-2B68-2428F1960666}"/>
              </a:ext>
            </a:extLst>
          </p:cNvPr>
          <p:cNvPicPr>
            <a:picLocks noChangeAspect="1"/>
          </p:cNvPicPr>
          <p:nvPr/>
        </p:nvPicPr>
        <p:blipFill>
          <a:blip r:embed="rId3"/>
          <a:stretch>
            <a:fillRect/>
          </a:stretch>
        </p:blipFill>
        <p:spPr>
          <a:xfrm>
            <a:off x="615188" y="3760742"/>
            <a:ext cx="5387666" cy="2434294"/>
          </a:xfrm>
          <a:prstGeom prst="rect">
            <a:avLst/>
          </a:prstGeom>
        </p:spPr>
      </p:pic>
      <p:pic>
        <p:nvPicPr>
          <p:cNvPr id="6" name="Picture 5">
            <a:extLst>
              <a:ext uri="{FF2B5EF4-FFF2-40B4-BE49-F238E27FC236}">
                <a16:creationId xmlns:a16="http://schemas.microsoft.com/office/drawing/2014/main" id="{4AB656D2-A116-EEFC-78BE-CADD233B0C53}"/>
              </a:ext>
            </a:extLst>
          </p:cNvPr>
          <p:cNvPicPr>
            <a:picLocks noChangeAspect="1"/>
          </p:cNvPicPr>
          <p:nvPr/>
        </p:nvPicPr>
        <p:blipFill>
          <a:blip r:embed="rId4"/>
          <a:stretch>
            <a:fillRect/>
          </a:stretch>
        </p:blipFill>
        <p:spPr>
          <a:xfrm>
            <a:off x="6595873" y="3749440"/>
            <a:ext cx="5387666" cy="2445596"/>
          </a:xfrm>
          <a:prstGeom prst="rect">
            <a:avLst/>
          </a:prstGeom>
        </p:spPr>
      </p:pic>
      <p:pic>
        <p:nvPicPr>
          <p:cNvPr id="7" name="Picture 6">
            <a:extLst>
              <a:ext uri="{FF2B5EF4-FFF2-40B4-BE49-F238E27FC236}">
                <a16:creationId xmlns:a16="http://schemas.microsoft.com/office/drawing/2014/main" id="{379567B1-28A6-A816-5921-83B5B6111FE8}"/>
              </a:ext>
            </a:extLst>
          </p:cNvPr>
          <p:cNvPicPr>
            <a:picLocks noChangeAspect="1"/>
          </p:cNvPicPr>
          <p:nvPr/>
        </p:nvPicPr>
        <p:blipFill>
          <a:blip r:embed="rId5"/>
          <a:stretch>
            <a:fillRect/>
          </a:stretch>
        </p:blipFill>
        <p:spPr>
          <a:xfrm>
            <a:off x="1820671" y="2124983"/>
            <a:ext cx="8962521" cy="3248914"/>
          </a:xfrm>
          <a:prstGeom prst="rect">
            <a:avLst/>
          </a:prstGeom>
        </p:spPr>
      </p:pic>
    </p:spTree>
    <p:extLst>
      <p:ext uri="{BB962C8B-B14F-4D97-AF65-F5344CB8AC3E}">
        <p14:creationId xmlns:p14="http://schemas.microsoft.com/office/powerpoint/2010/main" val="162490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728788" y="-3338399"/>
            <a:ext cx="7315200" cy="7315200"/>
          </a:xfrm>
          <a:prstGeom prst="ellipse">
            <a:avLst/>
          </a:prstGeom>
          <a:solidFill>
            <a:srgbClr val="000000">
              <a:alpha val="0"/>
            </a:srgbClr>
          </a:solidFill>
          <a:ln w="1270">
            <a:solidFill>
              <a:srgbClr val="003366">
                <a:alpha val="5000"/>
              </a:srgbClr>
            </a:solidFill>
            <a:prstDash val="solid"/>
          </a:ln>
        </p:spPr>
        <p:txBody>
          <a:bodyPr/>
          <a:lstStyle/>
          <a:p>
            <a:endParaRPr lang="en-US" sz="1867"/>
          </a:p>
        </p:txBody>
      </p:sp>
      <p:sp>
        <p:nvSpPr>
          <p:cNvPr id="3" name="Title 2">
            <a:extLst>
              <a:ext uri="{FF2B5EF4-FFF2-40B4-BE49-F238E27FC236}">
                <a16:creationId xmlns:a16="http://schemas.microsoft.com/office/drawing/2014/main" id="{50048CFF-547B-ACEB-2D4F-4E2D2901C4C2}"/>
              </a:ext>
            </a:extLst>
          </p:cNvPr>
          <p:cNvSpPr>
            <a:spLocks noGrp="1"/>
          </p:cNvSpPr>
          <p:nvPr>
            <p:ph type="title"/>
          </p:nvPr>
        </p:nvSpPr>
        <p:spPr/>
        <p:txBody>
          <a:bodyPr/>
          <a:lstStyle/>
          <a:p>
            <a:r>
              <a:rPr lang="en-US" dirty="0"/>
              <a:t>Context &amp; Context Engineering</a:t>
            </a:r>
          </a:p>
        </p:txBody>
      </p:sp>
      <p:sp>
        <p:nvSpPr>
          <p:cNvPr id="100" name="Subtitle"/>
          <p:cNvSpPr/>
          <p:nvPr/>
        </p:nvSpPr>
        <p:spPr>
          <a:xfrm>
            <a:off x="838200" y="850900"/>
            <a:ext cx="10515600" cy="368300"/>
          </a:xfrm>
          <a:prstGeom prst="rect">
            <a:avLst/>
          </a:prstGeom>
          <a:noFill/>
          <a:ln>
            <a:noFill/>
          </a:ln>
        </p:spPr>
        <p:txBody>
          <a:bodyPr wrap="square" lIns="0" tIns="0" rIns="0" bIns="0"/>
          <a:lstStyle/>
          <a:p>
            <a:r>
              <a:rPr lang="en-US" sz="2133" dirty="0">
                <a:solidFill>
                  <a:srgbClr val="003366"/>
                </a:solidFill>
                <a:latin typeface="Lato"/>
              </a:rPr>
              <a:t>The Information Environment of AI Models</a:t>
            </a:r>
          </a:p>
        </p:txBody>
      </p:sp>
      <p:sp>
        <p:nvSpPr>
          <p:cNvPr id="101" name="DefBanner"/>
          <p:cNvSpPr/>
          <p:nvPr/>
        </p:nvSpPr>
        <p:spPr>
          <a:xfrm>
            <a:off x="838200" y="1270000"/>
            <a:ext cx="10515600" cy="660400"/>
          </a:xfrm>
          <a:prstGeom prst="roundRect">
            <a:avLst>
              <a:gd name="adj" fmla="val 6000"/>
            </a:avLst>
          </a:prstGeom>
          <a:solidFill>
            <a:srgbClr val="003366"/>
          </a:solidFill>
          <a:ln>
            <a:noFill/>
          </a:ln>
        </p:spPr>
        <p:txBody>
          <a:bodyPr wrap="square" lIns="101600" tIns="50800" rIns="101600" bIns="50800" anchor="ctr"/>
          <a:lstStyle/>
          <a:p>
            <a:r>
              <a:rPr lang="en-US" sz="1467" b="1" i="1" dirty="0">
                <a:solidFill>
                  <a:srgbClr val="FFFFFF"/>
                </a:solidFill>
                <a:latin typeface="Lato"/>
              </a:rPr>
              <a:t>Context</a:t>
            </a:r>
            <a:r>
              <a:rPr lang="en-US" sz="1467" i="1" dirty="0">
                <a:solidFill>
                  <a:srgbClr val="E0E0E0"/>
                </a:solidFill>
                <a:latin typeface="Lato"/>
              </a:rPr>
              <a:t> is the complete set of information available to an AI model when processing a request. </a:t>
            </a:r>
            <a:r>
              <a:rPr lang="en-US" sz="1467" b="1" i="1" dirty="0">
                <a:solidFill>
                  <a:srgbClr val="FFFFFF"/>
                </a:solidFill>
                <a:latin typeface="Lato"/>
              </a:rPr>
              <a:t>Context Engineering</a:t>
            </a:r>
            <a:r>
              <a:rPr lang="en-US" sz="1467" i="1" dirty="0">
                <a:solidFill>
                  <a:srgbClr val="E0E0E0"/>
                </a:solidFill>
                <a:latin typeface="Lato"/>
              </a:rPr>
              <a:t> is the practice of designing, structuring, and managing it for performance, accuracy, and safety.</a:t>
            </a:r>
          </a:p>
        </p:txBody>
      </p:sp>
      <p:sp>
        <p:nvSpPr>
          <p:cNvPr id="110" name="LeftHeader"/>
          <p:cNvSpPr/>
          <p:nvPr/>
        </p:nvSpPr>
        <p:spPr>
          <a:xfrm>
            <a:off x="838200" y="2057400"/>
            <a:ext cx="5334000" cy="279400"/>
          </a:xfrm>
          <a:prstGeom prst="rect">
            <a:avLst/>
          </a:prstGeom>
          <a:noFill/>
          <a:ln>
            <a:noFill/>
          </a:ln>
        </p:spPr>
        <p:txBody>
          <a:bodyPr wrap="square" lIns="0" tIns="0" rIns="0" bIns="0"/>
          <a:lstStyle/>
          <a:p>
            <a:r>
              <a:rPr lang="en-US" sz="1600" b="1" dirty="0">
                <a:solidFill>
                  <a:srgbClr val="333333"/>
                </a:solidFill>
                <a:latin typeface="Poppins"/>
              </a:rPr>
              <a:t>The Context Window (128K Tokens)</a:t>
            </a:r>
          </a:p>
        </p:txBody>
      </p:sp>
      <p:sp>
        <p:nvSpPr>
          <p:cNvPr id="111" name="TableBg"/>
          <p:cNvSpPr/>
          <p:nvPr/>
        </p:nvSpPr>
        <p:spPr>
          <a:xfrm>
            <a:off x="838200" y="2387600"/>
            <a:ext cx="5334000" cy="2794000"/>
          </a:xfrm>
          <a:prstGeom prst="roundRect">
            <a:avLst>
              <a:gd name="adj" fmla="val 4000"/>
            </a:avLst>
          </a:prstGeom>
          <a:solidFill>
            <a:srgbClr val="F5F5F5"/>
          </a:solidFill>
          <a:ln w="12700">
            <a:solidFill>
              <a:srgbClr val="DDDDDD"/>
            </a:solidFill>
          </a:ln>
        </p:spPr>
        <p:txBody>
          <a:bodyPr/>
          <a:lstStyle/>
          <a:p>
            <a:endParaRPr lang="en-US"/>
          </a:p>
        </p:txBody>
      </p:sp>
      <p:sp>
        <p:nvSpPr>
          <p:cNvPr id="120" name="RowBg0"/>
          <p:cNvSpPr/>
          <p:nvPr/>
        </p:nvSpPr>
        <p:spPr>
          <a:xfrm>
            <a:off x="965200" y="2438400"/>
            <a:ext cx="5080000" cy="508000"/>
          </a:xfrm>
          <a:prstGeom prst="rect">
            <a:avLst/>
          </a:prstGeom>
          <a:solidFill>
            <a:srgbClr val="EBEBEB"/>
          </a:solidFill>
          <a:ln>
            <a:noFill/>
          </a:ln>
        </p:spPr>
        <p:txBody>
          <a:bodyPr/>
          <a:lstStyle/>
          <a:p>
            <a:endParaRPr lang="en-US"/>
          </a:p>
        </p:txBody>
      </p:sp>
      <p:sp>
        <p:nvSpPr>
          <p:cNvPr id="121" name="Name0"/>
          <p:cNvSpPr/>
          <p:nvPr/>
        </p:nvSpPr>
        <p:spPr>
          <a:xfrm>
            <a:off x="1041400" y="2476500"/>
            <a:ext cx="2540000" cy="203200"/>
          </a:xfrm>
          <a:prstGeom prst="rect">
            <a:avLst/>
          </a:prstGeom>
          <a:noFill/>
          <a:ln>
            <a:noFill/>
          </a:ln>
        </p:spPr>
        <p:txBody>
          <a:bodyPr wrap="square" lIns="0" tIns="0" rIns="0" bIns="0"/>
          <a:lstStyle/>
          <a:p>
            <a:r>
              <a:rPr lang="en-US" sz="1200" b="1" dirty="0">
                <a:solidFill>
                  <a:srgbClr val="333333"/>
                </a:solidFill>
                <a:latin typeface="Poppins"/>
              </a:rPr>
              <a:t>System Instructions</a:t>
            </a:r>
          </a:p>
        </p:txBody>
      </p:sp>
      <p:sp>
        <p:nvSpPr>
          <p:cNvPr id="122" name="Desc0"/>
          <p:cNvSpPr/>
          <p:nvPr/>
        </p:nvSpPr>
        <p:spPr>
          <a:xfrm>
            <a:off x="1041400" y="2679700"/>
            <a:ext cx="2540000" cy="177800"/>
          </a:xfrm>
          <a:prstGeom prst="rect">
            <a:avLst/>
          </a:prstGeom>
          <a:noFill/>
          <a:ln>
            <a:noFill/>
          </a:ln>
        </p:spPr>
        <p:txBody>
          <a:bodyPr wrap="square" lIns="0" tIns="0" rIns="0" bIns="0"/>
          <a:lstStyle/>
          <a:p>
            <a:r>
              <a:rPr lang="en-US" sz="1067" dirty="0">
                <a:solidFill>
                  <a:srgbClr val="666666"/>
                </a:solidFill>
                <a:latin typeface="Lato"/>
              </a:rPr>
              <a:t>Role, rules, constraints</a:t>
            </a:r>
          </a:p>
        </p:txBody>
      </p:sp>
      <p:sp>
        <p:nvSpPr>
          <p:cNvPr id="123" name="Tokens0"/>
          <p:cNvSpPr/>
          <p:nvPr/>
        </p:nvSpPr>
        <p:spPr>
          <a:xfrm>
            <a:off x="4826000" y="2514600"/>
            <a:ext cx="1219200" cy="304800"/>
          </a:xfrm>
          <a:prstGeom prst="roundRect">
            <a:avLst>
              <a:gd name="adj" fmla="val 16000"/>
            </a:avLst>
          </a:prstGeom>
          <a:solidFill>
            <a:srgbClr val="003366"/>
          </a:solidFill>
          <a:ln>
            <a:noFill/>
          </a:ln>
        </p:spPr>
        <p:txBody>
          <a:bodyPr wrap="square" lIns="0" tIns="0" rIns="0" bIns="0" anchor="ctr"/>
          <a:lstStyle/>
          <a:p>
            <a:pPr algn="ctr"/>
            <a:r>
              <a:rPr lang="en-US" sz="1067" b="1" dirty="0">
                <a:solidFill>
                  <a:srgbClr val="FFFFFF"/>
                </a:solidFill>
                <a:latin typeface="Courier New"/>
              </a:rPr>
              <a:t>~2K</a:t>
            </a:r>
          </a:p>
        </p:txBody>
      </p:sp>
      <p:sp>
        <p:nvSpPr>
          <p:cNvPr id="124" name="Name1"/>
          <p:cNvSpPr/>
          <p:nvPr/>
        </p:nvSpPr>
        <p:spPr>
          <a:xfrm>
            <a:off x="1041400" y="2984500"/>
            <a:ext cx="2540000" cy="203200"/>
          </a:xfrm>
          <a:prstGeom prst="rect">
            <a:avLst/>
          </a:prstGeom>
          <a:noFill/>
          <a:ln>
            <a:noFill/>
          </a:ln>
        </p:spPr>
        <p:txBody>
          <a:bodyPr wrap="square" lIns="0" tIns="0" rIns="0" bIns="0"/>
          <a:lstStyle/>
          <a:p>
            <a:r>
              <a:rPr lang="en-US" sz="1200" b="1" dirty="0">
                <a:solidFill>
                  <a:srgbClr val="333333"/>
                </a:solidFill>
                <a:latin typeface="Poppins"/>
              </a:rPr>
              <a:t>Conversation History</a:t>
            </a:r>
          </a:p>
        </p:txBody>
      </p:sp>
      <p:sp>
        <p:nvSpPr>
          <p:cNvPr id="125" name="Desc1"/>
          <p:cNvSpPr/>
          <p:nvPr/>
        </p:nvSpPr>
        <p:spPr>
          <a:xfrm>
            <a:off x="1041400" y="3187700"/>
            <a:ext cx="2540000" cy="177800"/>
          </a:xfrm>
          <a:prstGeom prst="rect">
            <a:avLst/>
          </a:prstGeom>
          <a:noFill/>
          <a:ln>
            <a:noFill/>
          </a:ln>
        </p:spPr>
        <p:txBody>
          <a:bodyPr wrap="square" lIns="0" tIns="0" rIns="0" bIns="0"/>
          <a:lstStyle/>
          <a:p>
            <a:r>
              <a:rPr lang="en-US" sz="1067" dirty="0">
                <a:solidFill>
                  <a:srgbClr val="666666"/>
                </a:solidFill>
                <a:latin typeface="Lato"/>
              </a:rPr>
              <a:t>Past messages &amp; responses</a:t>
            </a:r>
          </a:p>
        </p:txBody>
      </p:sp>
      <p:sp>
        <p:nvSpPr>
          <p:cNvPr id="126" name="Tokens1"/>
          <p:cNvSpPr/>
          <p:nvPr/>
        </p:nvSpPr>
        <p:spPr>
          <a:xfrm>
            <a:off x="4826000" y="3022600"/>
            <a:ext cx="1219200" cy="304800"/>
          </a:xfrm>
          <a:prstGeom prst="roundRect">
            <a:avLst>
              <a:gd name="adj" fmla="val 16000"/>
            </a:avLst>
          </a:prstGeom>
          <a:solidFill>
            <a:srgbClr val="FF6B35"/>
          </a:solidFill>
          <a:ln>
            <a:noFill/>
          </a:ln>
        </p:spPr>
        <p:txBody>
          <a:bodyPr wrap="square" lIns="0" tIns="0" rIns="0" bIns="0" anchor="ctr"/>
          <a:lstStyle/>
          <a:p>
            <a:pPr algn="ctr"/>
            <a:r>
              <a:rPr lang="en-US" sz="1067" b="1" dirty="0">
                <a:solidFill>
                  <a:srgbClr val="FFFFFF"/>
                </a:solidFill>
                <a:latin typeface="Courier New"/>
              </a:rPr>
              <a:t>~40K</a:t>
            </a:r>
          </a:p>
        </p:txBody>
      </p:sp>
      <p:sp>
        <p:nvSpPr>
          <p:cNvPr id="127" name="RowBg2"/>
          <p:cNvSpPr/>
          <p:nvPr/>
        </p:nvSpPr>
        <p:spPr>
          <a:xfrm>
            <a:off x="965200" y="3454400"/>
            <a:ext cx="5080000" cy="508000"/>
          </a:xfrm>
          <a:prstGeom prst="rect">
            <a:avLst/>
          </a:prstGeom>
          <a:solidFill>
            <a:srgbClr val="EBEBEB"/>
          </a:solidFill>
          <a:ln>
            <a:noFill/>
          </a:ln>
        </p:spPr>
        <p:txBody>
          <a:bodyPr/>
          <a:lstStyle/>
          <a:p>
            <a:endParaRPr lang="en-US"/>
          </a:p>
        </p:txBody>
      </p:sp>
      <p:sp>
        <p:nvSpPr>
          <p:cNvPr id="128" name="Name2"/>
          <p:cNvSpPr/>
          <p:nvPr/>
        </p:nvSpPr>
        <p:spPr>
          <a:xfrm>
            <a:off x="1041400" y="3492500"/>
            <a:ext cx="2540000" cy="203200"/>
          </a:xfrm>
          <a:prstGeom prst="rect">
            <a:avLst/>
          </a:prstGeom>
          <a:noFill/>
          <a:ln>
            <a:noFill/>
          </a:ln>
        </p:spPr>
        <p:txBody>
          <a:bodyPr wrap="square" lIns="0" tIns="0" rIns="0" bIns="0"/>
          <a:lstStyle/>
          <a:p>
            <a:r>
              <a:rPr lang="en-US" sz="1200" b="1" dirty="0">
                <a:solidFill>
                  <a:srgbClr val="333333"/>
                </a:solidFill>
                <a:latin typeface="Poppins"/>
              </a:rPr>
              <a:t>Retrieved Documents</a:t>
            </a:r>
          </a:p>
        </p:txBody>
      </p:sp>
      <p:sp>
        <p:nvSpPr>
          <p:cNvPr id="129" name="Desc2"/>
          <p:cNvSpPr/>
          <p:nvPr/>
        </p:nvSpPr>
        <p:spPr>
          <a:xfrm>
            <a:off x="1041400" y="3695700"/>
            <a:ext cx="2540000" cy="177800"/>
          </a:xfrm>
          <a:prstGeom prst="rect">
            <a:avLst/>
          </a:prstGeom>
          <a:noFill/>
          <a:ln>
            <a:noFill/>
          </a:ln>
        </p:spPr>
        <p:txBody>
          <a:bodyPr wrap="square" lIns="0" tIns="0" rIns="0" bIns="0"/>
          <a:lstStyle/>
          <a:p>
            <a:r>
              <a:rPr lang="en-US" sz="1067" dirty="0">
                <a:solidFill>
                  <a:srgbClr val="666666"/>
                </a:solidFill>
                <a:latin typeface="Lato"/>
              </a:rPr>
              <a:t>RAG data &amp; context</a:t>
            </a:r>
          </a:p>
        </p:txBody>
      </p:sp>
      <p:sp>
        <p:nvSpPr>
          <p:cNvPr id="130" name="Tokens2"/>
          <p:cNvSpPr/>
          <p:nvPr/>
        </p:nvSpPr>
        <p:spPr>
          <a:xfrm>
            <a:off x="4826000" y="3530600"/>
            <a:ext cx="1219200" cy="304800"/>
          </a:xfrm>
          <a:prstGeom prst="roundRect">
            <a:avLst>
              <a:gd name="adj" fmla="val 16000"/>
            </a:avLst>
          </a:prstGeom>
          <a:solidFill>
            <a:srgbClr val="F7B801"/>
          </a:solidFill>
          <a:ln>
            <a:noFill/>
          </a:ln>
        </p:spPr>
        <p:txBody>
          <a:bodyPr wrap="square" lIns="0" tIns="0" rIns="0" bIns="0" anchor="ctr"/>
          <a:lstStyle/>
          <a:p>
            <a:pPr algn="ctr"/>
            <a:r>
              <a:rPr lang="en-US" sz="1067" b="1" dirty="0">
                <a:solidFill>
                  <a:srgbClr val="FFFFFF"/>
                </a:solidFill>
                <a:latin typeface="Courier New"/>
              </a:rPr>
              <a:t>~60K</a:t>
            </a:r>
          </a:p>
        </p:txBody>
      </p:sp>
      <p:sp>
        <p:nvSpPr>
          <p:cNvPr id="131" name="Name3"/>
          <p:cNvSpPr/>
          <p:nvPr/>
        </p:nvSpPr>
        <p:spPr>
          <a:xfrm>
            <a:off x="1041400" y="4000500"/>
            <a:ext cx="2540000" cy="203200"/>
          </a:xfrm>
          <a:prstGeom prst="rect">
            <a:avLst/>
          </a:prstGeom>
          <a:noFill/>
          <a:ln>
            <a:noFill/>
          </a:ln>
        </p:spPr>
        <p:txBody>
          <a:bodyPr wrap="square" lIns="0" tIns="0" rIns="0" bIns="0"/>
          <a:lstStyle/>
          <a:p>
            <a:r>
              <a:rPr lang="en-US" sz="1200" b="1" dirty="0">
                <a:solidFill>
                  <a:srgbClr val="333333"/>
                </a:solidFill>
                <a:latin typeface="Poppins"/>
              </a:rPr>
              <a:t>Tools &amp; Schemas</a:t>
            </a:r>
          </a:p>
        </p:txBody>
      </p:sp>
      <p:sp>
        <p:nvSpPr>
          <p:cNvPr id="132" name="Desc3"/>
          <p:cNvSpPr/>
          <p:nvPr/>
        </p:nvSpPr>
        <p:spPr>
          <a:xfrm>
            <a:off x="1041400" y="4203700"/>
            <a:ext cx="2540000" cy="177800"/>
          </a:xfrm>
          <a:prstGeom prst="rect">
            <a:avLst/>
          </a:prstGeom>
          <a:noFill/>
          <a:ln>
            <a:noFill/>
          </a:ln>
        </p:spPr>
        <p:txBody>
          <a:bodyPr wrap="square" lIns="0" tIns="0" rIns="0" bIns="0"/>
          <a:lstStyle/>
          <a:p>
            <a:r>
              <a:rPr lang="en-US" sz="1067" dirty="0">
                <a:solidFill>
                  <a:srgbClr val="666666"/>
                </a:solidFill>
                <a:latin typeface="Lato"/>
              </a:rPr>
              <a:t>Available tool definitions</a:t>
            </a:r>
          </a:p>
        </p:txBody>
      </p:sp>
      <p:sp>
        <p:nvSpPr>
          <p:cNvPr id="133" name="Tokens3"/>
          <p:cNvSpPr/>
          <p:nvPr/>
        </p:nvSpPr>
        <p:spPr>
          <a:xfrm>
            <a:off x="4826000" y="4038600"/>
            <a:ext cx="1219200" cy="304800"/>
          </a:xfrm>
          <a:prstGeom prst="roundRect">
            <a:avLst>
              <a:gd name="adj" fmla="val 16000"/>
            </a:avLst>
          </a:prstGeom>
          <a:solidFill>
            <a:srgbClr val="00A79D"/>
          </a:solidFill>
          <a:ln>
            <a:noFill/>
          </a:ln>
        </p:spPr>
        <p:txBody>
          <a:bodyPr wrap="square" lIns="0" tIns="0" rIns="0" bIns="0" anchor="ctr"/>
          <a:lstStyle/>
          <a:p>
            <a:pPr algn="ctr"/>
            <a:r>
              <a:rPr lang="en-US" sz="1067" b="1" dirty="0">
                <a:solidFill>
                  <a:srgbClr val="FFFFFF"/>
                </a:solidFill>
                <a:latin typeface="Courier New"/>
              </a:rPr>
              <a:t>~10K</a:t>
            </a:r>
          </a:p>
        </p:txBody>
      </p:sp>
      <p:sp>
        <p:nvSpPr>
          <p:cNvPr id="134" name="RowBg4"/>
          <p:cNvSpPr/>
          <p:nvPr/>
        </p:nvSpPr>
        <p:spPr>
          <a:xfrm>
            <a:off x="965200" y="4470400"/>
            <a:ext cx="5080000" cy="508000"/>
          </a:xfrm>
          <a:prstGeom prst="rect">
            <a:avLst/>
          </a:prstGeom>
          <a:solidFill>
            <a:srgbClr val="EBEBEB"/>
          </a:solidFill>
          <a:ln>
            <a:noFill/>
          </a:ln>
        </p:spPr>
        <p:txBody>
          <a:bodyPr/>
          <a:lstStyle/>
          <a:p>
            <a:endParaRPr lang="en-US"/>
          </a:p>
        </p:txBody>
      </p:sp>
      <p:sp>
        <p:nvSpPr>
          <p:cNvPr id="135" name="Name4"/>
          <p:cNvSpPr/>
          <p:nvPr/>
        </p:nvSpPr>
        <p:spPr>
          <a:xfrm>
            <a:off x="1041400" y="4508500"/>
            <a:ext cx="2540000" cy="203200"/>
          </a:xfrm>
          <a:prstGeom prst="rect">
            <a:avLst/>
          </a:prstGeom>
          <a:noFill/>
          <a:ln>
            <a:noFill/>
          </a:ln>
        </p:spPr>
        <p:txBody>
          <a:bodyPr wrap="square" lIns="0" tIns="0" rIns="0" bIns="0"/>
          <a:lstStyle/>
          <a:p>
            <a:r>
              <a:rPr lang="en-US" sz="1200" b="1" dirty="0">
                <a:solidFill>
                  <a:srgbClr val="333333"/>
                </a:solidFill>
                <a:latin typeface="Poppins"/>
              </a:rPr>
              <a:t>Current Query</a:t>
            </a:r>
          </a:p>
        </p:txBody>
      </p:sp>
      <p:sp>
        <p:nvSpPr>
          <p:cNvPr id="136" name="Desc4"/>
          <p:cNvSpPr/>
          <p:nvPr/>
        </p:nvSpPr>
        <p:spPr>
          <a:xfrm>
            <a:off x="1041400" y="4711700"/>
            <a:ext cx="2540000" cy="177800"/>
          </a:xfrm>
          <a:prstGeom prst="rect">
            <a:avLst/>
          </a:prstGeom>
          <a:noFill/>
          <a:ln>
            <a:noFill/>
          </a:ln>
        </p:spPr>
        <p:txBody>
          <a:bodyPr wrap="square" lIns="0" tIns="0" rIns="0" bIns="0"/>
          <a:lstStyle/>
          <a:p>
            <a:r>
              <a:rPr lang="en-US" sz="1067" dirty="0">
                <a:solidFill>
                  <a:srgbClr val="666666"/>
                </a:solidFill>
                <a:latin typeface="Lato"/>
              </a:rPr>
              <a:t>User's active request</a:t>
            </a:r>
          </a:p>
        </p:txBody>
      </p:sp>
      <p:sp>
        <p:nvSpPr>
          <p:cNvPr id="137" name="Tokens4"/>
          <p:cNvSpPr/>
          <p:nvPr/>
        </p:nvSpPr>
        <p:spPr>
          <a:xfrm>
            <a:off x="4826000" y="4546600"/>
            <a:ext cx="1219200" cy="304800"/>
          </a:xfrm>
          <a:prstGeom prst="roundRect">
            <a:avLst>
              <a:gd name="adj" fmla="val 16000"/>
            </a:avLst>
          </a:prstGeom>
          <a:solidFill>
            <a:srgbClr val="003366"/>
          </a:solidFill>
          <a:ln>
            <a:noFill/>
          </a:ln>
        </p:spPr>
        <p:txBody>
          <a:bodyPr wrap="square" lIns="0" tIns="0" rIns="0" bIns="0" anchor="ctr"/>
          <a:lstStyle/>
          <a:p>
            <a:pPr algn="ctr"/>
            <a:r>
              <a:rPr lang="en-US" sz="1067" b="1" dirty="0">
                <a:solidFill>
                  <a:srgbClr val="FFFFFF"/>
                </a:solidFill>
                <a:latin typeface="Courier New"/>
              </a:rPr>
              <a:t>~16K</a:t>
            </a:r>
          </a:p>
        </p:txBody>
      </p:sp>
      <p:sp>
        <p:nvSpPr>
          <p:cNvPr id="150" name="RightHeader"/>
          <p:cNvSpPr/>
          <p:nvPr/>
        </p:nvSpPr>
        <p:spPr>
          <a:xfrm>
            <a:off x="6477000" y="2057400"/>
            <a:ext cx="4876800" cy="279400"/>
          </a:xfrm>
          <a:prstGeom prst="rect">
            <a:avLst/>
          </a:prstGeom>
          <a:noFill/>
          <a:ln>
            <a:noFill/>
          </a:ln>
        </p:spPr>
        <p:txBody>
          <a:bodyPr wrap="square" lIns="0" tIns="0" rIns="0" bIns="0"/>
          <a:lstStyle/>
          <a:p>
            <a:r>
              <a:rPr lang="en-US" sz="1600" b="1" dirty="0">
                <a:solidFill>
                  <a:srgbClr val="333333"/>
                </a:solidFill>
                <a:latin typeface="Poppins"/>
              </a:rPr>
              <a:t>Why Context Matters</a:t>
            </a:r>
          </a:p>
        </p:txBody>
      </p:sp>
      <p:sp>
        <p:nvSpPr>
          <p:cNvPr id="160" name="WhyCircle0"/>
          <p:cNvSpPr/>
          <p:nvPr/>
        </p:nvSpPr>
        <p:spPr>
          <a:xfrm>
            <a:off x="6477000" y="2438400"/>
            <a:ext cx="304800" cy="304800"/>
          </a:xfrm>
          <a:prstGeom prst="ellipse">
            <a:avLst/>
          </a:prstGeom>
          <a:solidFill>
            <a:srgbClr val="003366"/>
          </a:solidFill>
          <a:ln>
            <a:noFill/>
          </a:ln>
        </p:spPr>
        <p:txBody>
          <a:bodyPr wrap="none" lIns="0" tIns="0" rIns="0" bIns="0" anchor="ctr"/>
          <a:lstStyle/>
          <a:p>
            <a:pPr algn="ctr"/>
            <a:r>
              <a:rPr lang="en-US" sz="1067" b="1" dirty="0">
                <a:solidFill>
                  <a:srgbClr val="FFFFFF"/>
                </a:solidFill>
                <a:latin typeface="Poppins"/>
              </a:rPr>
              <a:t>1</a:t>
            </a:r>
          </a:p>
        </p:txBody>
      </p:sp>
      <p:sp>
        <p:nvSpPr>
          <p:cNvPr id="161" name="WhyTitle0"/>
          <p:cNvSpPr/>
          <p:nvPr/>
        </p:nvSpPr>
        <p:spPr>
          <a:xfrm>
            <a:off x="6858000" y="2413000"/>
            <a:ext cx="4495800" cy="203200"/>
          </a:xfrm>
          <a:prstGeom prst="rect">
            <a:avLst/>
          </a:prstGeom>
          <a:noFill/>
          <a:ln>
            <a:noFill/>
          </a:ln>
        </p:spPr>
        <p:txBody>
          <a:bodyPr wrap="square" lIns="0" tIns="0" rIns="0" bIns="0"/>
          <a:lstStyle/>
          <a:p>
            <a:r>
              <a:rPr lang="en-US" sz="1200" b="1" dirty="0">
                <a:solidFill>
                  <a:srgbClr val="003366"/>
                </a:solidFill>
                <a:latin typeface="Poppins"/>
              </a:rPr>
              <a:t>Shapes Responses</a:t>
            </a:r>
          </a:p>
        </p:txBody>
      </p:sp>
      <p:sp>
        <p:nvSpPr>
          <p:cNvPr id="162" name="WhyDesc0"/>
          <p:cNvSpPr/>
          <p:nvPr/>
        </p:nvSpPr>
        <p:spPr>
          <a:xfrm>
            <a:off x="6858000" y="2616200"/>
            <a:ext cx="4495800" cy="203200"/>
          </a:xfrm>
          <a:prstGeom prst="rect">
            <a:avLst/>
          </a:prstGeom>
          <a:noFill/>
          <a:ln>
            <a:noFill/>
          </a:ln>
        </p:spPr>
        <p:txBody>
          <a:bodyPr wrap="square" lIns="0" tIns="0" rIns="0" bIns="0"/>
          <a:lstStyle/>
          <a:p>
            <a:r>
              <a:rPr lang="en-US" sz="1067" dirty="0">
                <a:solidFill>
                  <a:srgbClr val="666666"/>
                </a:solidFill>
                <a:latin typeface="Lato"/>
              </a:rPr>
              <a:t>Determines what the model "sees" and how it interprets requests</a:t>
            </a:r>
          </a:p>
        </p:txBody>
      </p:sp>
      <p:sp>
        <p:nvSpPr>
          <p:cNvPr id="163" name="WhyCircle1"/>
          <p:cNvSpPr/>
          <p:nvPr/>
        </p:nvSpPr>
        <p:spPr>
          <a:xfrm>
            <a:off x="6477000" y="2895600"/>
            <a:ext cx="304800" cy="304800"/>
          </a:xfrm>
          <a:prstGeom prst="ellipse">
            <a:avLst/>
          </a:prstGeom>
          <a:solidFill>
            <a:srgbClr val="003366"/>
          </a:solidFill>
          <a:ln>
            <a:noFill/>
          </a:ln>
        </p:spPr>
        <p:txBody>
          <a:bodyPr wrap="none" lIns="0" tIns="0" rIns="0" bIns="0" anchor="ctr"/>
          <a:lstStyle/>
          <a:p>
            <a:pPr algn="ctr"/>
            <a:r>
              <a:rPr lang="en-US" sz="1067" b="1" dirty="0">
                <a:solidFill>
                  <a:srgbClr val="FFFFFF"/>
                </a:solidFill>
                <a:latin typeface="Poppins"/>
              </a:rPr>
              <a:t>2</a:t>
            </a:r>
          </a:p>
        </p:txBody>
      </p:sp>
      <p:sp>
        <p:nvSpPr>
          <p:cNvPr id="164" name="WhyTitle1"/>
          <p:cNvSpPr/>
          <p:nvPr/>
        </p:nvSpPr>
        <p:spPr>
          <a:xfrm>
            <a:off x="6858000" y="2870200"/>
            <a:ext cx="4495800" cy="203200"/>
          </a:xfrm>
          <a:prstGeom prst="rect">
            <a:avLst/>
          </a:prstGeom>
          <a:noFill/>
          <a:ln>
            <a:noFill/>
          </a:ln>
        </p:spPr>
        <p:txBody>
          <a:bodyPr wrap="square" lIns="0" tIns="0" rIns="0" bIns="0"/>
          <a:lstStyle/>
          <a:p>
            <a:r>
              <a:rPr lang="en-US" sz="1200" b="1" dirty="0">
                <a:solidFill>
                  <a:srgbClr val="003366"/>
                </a:solidFill>
                <a:latin typeface="Poppins"/>
              </a:rPr>
              <a:t>Enables Memory</a:t>
            </a:r>
          </a:p>
        </p:txBody>
      </p:sp>
      <p:sp>
        <p:nvSpPr>
          <p:cNvPr id="165" name="WhyDesc1"/>
          <p:cNvSpPr/>
          <p:nvPr/>
        </p:nvSpPr>
        <p:spPr>
          <a:xfrm>
            <a:off x="6858000" y="3073400"/>
            <a:ext cx="4495800" cy="203200"/>
          </a:xfrm>
          <a:prstGeom prst="rect">
            <a:avLst/>
          </a:prstGeom>
          <a:noFill/>
          <a:ln>
            <a:noFill/>
          </a:ln>
        </p:spPr>
        <p:txBody>
          <a:bodyPr wrap="square" lIns="0" tIns="0" rIns="0" bIns="0"/>
          <a:lstStyle/>
          <a:p>
            <a:r>
              <a:rPr lang="en-US" sz="1067" dirty="0">
                <a:solidFill>
                  <a:srgbClr val="666666"/>
                </a:solidFill>
                <a:latin typeface="Lato"/>
              </a:rPr>
              <a:t>Conversation history allows multi-turn interactions</a:t>
            </a:r>
          </a:p>
        </p:txBody>
      </p:sp>
      <p:sp>
        <p:nvSpPr>
          <p:cNvPr id="166" name="WhyCircle2"/>
          <p:cNvSpPr/>
          <p:nvPr/>
        </p:nvSpPr>
        <p:spPr>
          <a:xfrm>
            <a:off x="6477000" y="3352800"/>
            <a:ext cx="304800" cy="304800"/>
          </a:xfrm>
          <a:prstGeom prst="ellipse">
            <a:avLst/>
          </a:prstGeom>
          <a:solidFill>
            <a:srgbClr val="003366"/>
          </a:solidFill>
          <a:ln>
            <a:noFill/>
          </a:ln>
        </p:spPr>
        <p:txBody>
          <a:bodyPr wrap="none" lIns="0" tIns="0" rIns="0" bIns="0" anchor="ctr"/>
          <a:lstStyle/>
          <a:p>
            <a:pPr algn="ctr"/>
            <a:r>
              <a:rPr lang="en-US" sz="1067" b="1" dirty="0">
                <a:solidFill>
                  <a:srgbClr val="FFFFFF"/>
                </a:solidFill>
                <a:latin typeface="Poppins"/>
              </a:rPr>
              <a:t>3</a:t>
            </a:r>
          </a:p>
        </p:txBody>
      </p:sp>
      <p:sp>
        <p:nvSpPr>
          <p:cNvPr id="167" name="WhyTitle2"/>
          <p:cNvSpPr/>
          <p:nvPr/>
        </p:nvSpPr>
        <p:spPr>
          <a:xfrm>
            <a:off x="6858000" y="3327400"/>
            <a:ext cx="4495800" cy="203200"/>
          </a:xfrm>
          <a:prstGeom prst="rect">
            <a:avLst/>
          </a:prstGeom>
          <a:noFill/>
          <a:ln>
            <a:noFill/>
          </a:ln>
        </p:spPr>
        <p:txBody>
          <a:bodyPr wrap="square" lIns="0" tIns="0" rIns="0" bIns="0"/>
          <a:lstStyle/>
          <a:p>
            <a:r>
              <a:rPr lang="en-US" sz="1200" b="1" dirty="0">
                <a:solidFill>
                  <a:srgbClr val="003366"/>
                </a:solidFill>
                <a:latin typeface="Poppins"/>
              </a:rPr>
              <a:t>Grounds Knowledge</a:t>
            </a:r>
          </a:p>
        </p:txBody>
      </p:sp>
      <p:sp>
        <p:nvSpPr>
          <p:cNvPr id="168" name="WhyDesc2"/>
          <p:cNvSpPr/>
          <p:nvPr/>
        </p:nvSpPr>
        <p:spPr>
          <a:xfrm>
            <a:off x="6858000" y="3530600"/>
            <a:ext cx="4495800" cy="203200"/>
          </a:xfrm>
          <a:prstGeom prst="rect">
            <a:avLst/>
          </a:prstGeom>
          <a:noFill/>
          <a:ln>
            <a:noFill/>
          </a:ln>
        </p:spPr>
        <p:txBody>
          <a:bodyPr wrap="square" lIns="0" tIns="0" rIns="0" bIns="0"/>
          <a:lstStyle/>
          <a:p>
            <a:r>
              <a:rPr lang="en-US" sz="1067" dirty="0">
                <a:solidFill>
                  <a:srgbClr val="666666"/>
                </a:solidFill>
                <a:latin typeface="Lato"/>
              </a:rPr>
              <a:t>Retrieved documents reduce hallucinations</a:t>
            </a:r>
          </a:p>
        </p:txBody>
      </p:sp>
      <p:sp>
        <p:nvSpPr>
          <p:cNvPr id="169" name="WhyCircle3"/>
          <p:cNvSpPr/>
          <p:nvPr/>
        </p:nvSpPr>
        <p:spPr>
          <a:xfrm>
            <a:off x="6477000" y="3810000"/>
            <a:ext cx="304800" cy="304800"/>
          </a:xfrm>
          <a:prstGeom prst="ellipse">
            <a:avLst/>
          </a:prstGeom>
          <a:solidFill>
            <a:srgbClr val="DC3545"/>
          </a:solidFill>
          <a:ln>
            <a:noFill/>
          </a:ln>
        </p:spPr>
        <p:txBody>
          <a:bodyPr wrap="none" lIns="0" tIns="0" rIns="0" bIns="0" anchor="ctr"/>
          <a:lstStyle/>
          <a:p>
            <a:pPr algn="ctr"/>
            <a:r>
              <a:rPr lang="en-US" sz="1067" b="1" dirty="0">
                <a:solidFill>
                  <a:srgbClr val="FFFFFF"/>
                </a:solidFill>
                <a:latin typeface="Poppins"/>
              </a:rPr>
              <a:t>4</a:t>
            </a:r>
          </a:p>
        </p:txBody>
      </p:sp>
      <p:sp>
        <p:nvSpPr>
          <p:cNvPr id="170" name="WhyTitle3"/>
          <p:cNvSpPr/>
          <p:nvPr/>
        </p:nvSpPr>
        <p:spPr>
          <a:xfrm>
            <a:off x="6858000" y="3784600"/>
            <a:ext cx="4495800" cy="203200"/>
          </a:xfrm>
          <a:prstGeom prst="rect">
            <a:avLst/>
          </a:prstGeom>
          <a:noFill/>
          <a:ln>
            <a:noFill/>
          </a:ln>
        </p:spPr>
        <p:txBody>
          <a:bodyPr wrap="square" lIns="0" tIns="0" rIns="0" bIns="0"/>
          <a:lstStyle/>
          <a:p>
            <a:r>
              <a:rPr lang="en-US" sz="1200" b="1" dirty="0">
                <a:solidFill>
                  <a:srgbClr val="DC3545"/>
                </a:solidFill>
                <a:latin typeface="Poppins"/>
              </a:rPr>
              <a:t>Attack Surface</a:t>
            </a:r>
          </a:p>
        </p:txBody>
      </p:sp>
      <p:sp>
        <p:nvSpPr>
          <p:cNvPr id="171" name="WhyDesc3"/>
          <p:cNvSpPr/>
          <p:nvPr/>
        </p:nvSpPr>
        <p:spPr>
          <a:xfrm>
            <a:off x="6858000" y="3987800"/>
            <a:ext cx="4495800" cy="203200"/>
          </a:xfrm>
          <a:prstGeom prst="rect">
            <a:avLst/>
          </a:prstGeom>
          <a:noFill/>
          <a:ln>
            <a:noFill/>
          </a:ln>
        </p:spPr>
        <p:txBody>
          <a:bodyPr wrap="square" lIns="0" tIns="0" rIns="0" bIns="0"/>
          <a:lstStyle/>
          <a:p>
            <a:r>
              <a:rPr lang="en-US" sz="1067" dirty="0">
                <a:solidFill>
                  <a:srgbClr val="666666"/>
                </a:solidFill>
                <a:latin typeface="Lato"/>
              </a:rPr>
              <a:t>Everything in context is visible and can be manipulated</a:t>
            </a:r>
          </a:p>
        </p:txBody>
      </p:sp>
      <p:sp>
        <p:nvSpPr>
          <p:cNvPr id="172" name="WhyCircle4"/>
          <p:cNvSpPr/>
          <p:nvPr/>
        </p:nvSpPr>
        <p:spPr>
          <a:xfrm>
            <a:off x="6477000" y="4267200"/>
            <a:ext cx="304800" cy="304800"/>
          </a:xfrm>
          <a:prstGeom prst="ellipse">
            <a:avLst/>
          </a:prstGeom>
          <a:solidFill>
            <a:srgbClr val="003366"/>
          </a:solidFill>
          <a:ln>
            <a:noFill/>
          </a:ln>
        </p:spPr>
        <p:txBody>
          <a:bodyPr wrap="none" lIns="0" tIns="0" rIns="0" bIns="0" anchor="ctr"/>
          <a:lstStyle/>
          <a:p>
            <a:pPr algn="ctr"/>
            <a:r>
              <a:rPr lang="en-US" sz="1067" b="1" dirty="0">
                <a:solidFill>
                  <a:srgbClr val="FFFFFF"/>
                </a:solidFill>
                <a:latin typeface="Poppins"/>
              </a:rPr>
              <a:t>5</a:t>
            </a:r>
          </a:p>
        </p:txBody>
      </p:sp>
      <p:sp>
        <p:nvSpPr>
          <p:cNvPr id="173" name="WhyTitle4"/>
          <p:cNvSpPr/>
          <p:nvPr/>
        </p:nvSpPr>
        <p:spPr>
          <a:xfrm>
            <a:off x="6858000" y="4241800"/>
            <a:ext cx="4495800" cy="203200"/>
          </a:xfrm>
          <a:prstGeom prst="rect">
            <a:avLst/>
          </a:prstGeom>
          <a:noFill/>
          <a:ln>
            <a:noFill/>
          </a:ln>
        </p:spPr>
        <p:txBody>
          <a:bodyPr wrap="square" lIns="0" tIns="0" rIns="0" bIns="0"/>
          <a:lstStyle/>
          <a:p>
            <a:r>
              <a:rPr lang="en-US" sz="1200" b="1" dirty="0">
                <a:solidFill>
                  <a:srgbClr val="003366"/>
                </a:solidFill>
                <a:latin typeface="Poppins"/>
              </a:rPr>
              <a:t>Costs Money</a:t>
            </a:r>
          </a:p>
        </p:txBody>
      </p:sp>
      <p:sp>
        <p:nvSpPr>
          <p:cNvPr id="174" name="WhyDesc4"/>
          <p:cNvSpPr/>
          <p:nvPr/>
        </p:nvSpPr>
        <p:spPr>
          <a:xfrm>
            <a:off x="6858000" y="4445000"/>
            <a:ext cx="4495800" cy="203200"/>
          </a:xfrm>
          <a:prstGeom prst="rect">
            <a:avLst/>
          </a:prstGeom>
          <a:noFill/>
          <a:ln>
            <a:noFill/>
          </a:ln>
        </p:spPr>
        <p:txBody>
          <a:bodyPr wrap="square" lIns="0" tIns="0" rIns="0" bIns="0"/>
          <a:lstStyle/>
          <a:p>
            <a:r>
              <a:rPr lang="en-US" sz="1067" dirty="0">
                <a:solidFill>
                  <a:srgbClr val="666666"/>
                </a:solidFill>
                <a:latin typeface="Lato"/>
              </a:rPr>
              <a:t>You pay for every token on every API call</a:t>
            </a:r>
          </a:p>
        </p:txBody>
      </p:sp>
      <p:sp>
        <p:nvSpPr>
          <p:cNvPr id="190" name="PrinciplesHeader"/>
          <p:cNvSpPr/>
          <p:nvPr/>
        </p:nvSpPr>
        <p:spPr>
          <a:xfrm>
            <a:off x="6477000" y="4762500"/>
            <a:ext cx="4876800" cy="228600"/>
          </a:xfrm>
          <a:prstGeom prst="rect">
            <a:avLst/>
          </a:prstGeom>
          <a:noFill/>
          <a:ln>
            <a:noFill/>
          </a:ln>
        </p:spPr>
        <p:txBody>
          <a:bodyPr wrap="square" lIns="0" tIns="0" rIns="0" bIns="0"/>
          <a:lstStyle/>
          <a:p>
            <a:r>
              <a:rPr lang="en-US" sz="1333" b="1" dirty="0">
                <a:solidFill>
                  <a:srgbClr val="333333"/>
                </a:solidFill>
                <a:latin typeface="Poppins"/>
              </a:rPr>
              <a:t>Core Principles</a:t>
            </a:r>
          </a:p>
        </p:txBody>
      </p:sp>
      <p:sp>
        <p:nvSpPr>
          <p:cNvPr id="191" name="Principle0"/>
          <p:cNvSpPr/>
          <p:nvPr/>
        </p:nvSpPr>
        <p:spPr>
          <a:xfrm>
            <a:off x="6604000" y="5029200"/>
            <a:ext cx="4699000" cy="203200"/>
          </a:xfrm>
          <a:prstGeom prst="rect">
            <a:avLst/>
          </a:prstGeom>
          <a:noFill/>
          <a:ln>
            <a:noFill/>
          </a:ln>
        </p:spPr>
        <p:txBody>
          <a:bodyPr wrap="square" lIns="0" tIns="0" rIns="0" bIns="0"/>
          <a:lstStyle/>
          <a:p>
            <a:r>
              <a:rPr lang="en-US" sz="1200" dirty="0">
                <a:solidFill>
                  <a:srgbClr val="28A745"/>
                </a:solidFill>
                <a:latin typeface="Lato"/>
              </a:rPr>
              <a:t>Relevance: Include only what's necessary</a:t>
            </a:r>
          </a:p>
        </p:txBody>
      </p:sp>
      <p:sp>
        <p:nvSpPr>
          <p:cNvPr id="192" name="Principle1"/>
          <p:cNvSpPr/>
          <p:nvPr/>
        </p:nvSpPr>
        <p:spPr>
          <a:xfrm>
            <a:off x="6604000" y="5283200"/>
            <a:ext cx="4699000" cy="203200"/>
          </a:xfrm>
          <a:prstGeom prst="rect">
            <a:avLst/>
          </a:prstGeom>
          <a:noFill/>
          <a:ln>
            <a:noFill/>
          </a:ln>
        </p:spPr>
        <p:txBody>
          <a:bodyPr wrap="square" lIns="0" tIns="0" rIns="0" bIns="0"/>
          <a:lstStyle/>
          <a:p>
            <a:r>
              <a:rPr lang="en-US" sz="1200" dirty="0">
                <a:solidFill>
                  <a:srgbClr val="28A745"/>
                </a:solidFill>
                <a:latin typeface="Lato"/>
              </a:rPr>
              <a:t>Priority: Most important info first &amp; last</a:t>
            </a:r>
          </a:p>
        </p:txBody>
      </p:sp>
      <p:sp>
        <p:nvSpPr>
          <p:cNvPr id="193" name="Principle2"/>
          <p:cNvSpPr/>
          <p:nvPr/>
        </p:nvSpPr>
        <p:spPr>
          <a:xfrm>
            <a:off x="6604000" y="5537200"/>
            <a:ext cx="4699000" cy="203200"/>
          </a:xfrm>
          <a:prstGeom prst="rect">
            <a:avLst/>
          </a:prstGeom>
          <a:noFill/>
          <a:ln>
            <a:noFill/>
          </a:ln>
        </p:spPr>
        <p:txBody>
          <a:bodyPr wrap="square" lIns="0" tIns="0" rIns="0" bIns="0"/>
          <a:lstStyle/>
          <a:p>
            <a:r>
              <a:rPr lang="en-US" sz="1200" dirty="0">
                <a:solidFill>
                  <a:srgbClr val="28A745"/>
                </a:solidFill>
                <a:latin typeface="Lato"/>
              </a:rPr>
              <a:t>Structure: Clear organization and formatting</a:t>
            </a:r>
          </a:p>
        </p:txBody>
      </p:sp>
      <p:sp>
        <p:nvSpPr>
          <p:cNvPr id="200" name="Callout"/>
          <p:cNvSpPr/>
          <p:nvPr/>
        </p:nvSpPr>
        <p:spPr>
          <a:xfrm>
            <a:off x="838200" y="5778500"/>
            <a:ext cx="10515600" cy="355600"/>
          </a:xfrm>
          <a:prstGeom prst="roundRect">
            <a:avLst>
              <a:gd name="adj" fmla="val 10000"/>
            </a:avLst>
          </a:prstGeom>
          <a:solidFill>
            <a:srgbClr val="FFF3E0"/>
          </a:solidFill>
          <a:ln w="12700">
            <a:solidFill>
              <a:srgbClr val="FF6B35"/>
            </a:solidFill>
          </a:ln>
        </p:spPr>
        <p:txBody>
          <a:bodyPr wrap="square" lIns="101600" tIns="50800" rIns="101600" bIns="50800" anchor="ctr"/>
          <a:lstStyle/>
          <a:p>
            <a:pPr algn="ctr"/>
            <a:r>
              <a:rPr lang="en-US" sz="1200" b="1" dirty="0">
                <a:solidFill>
                  <a:srgbClr val="333333"/>
                </a:solidFill>
                <a:latin typeface="Lato"/>
              </a:rPr>
              <a:t>Key Insight: Context is both the model's knowledge base AND its security boundary. Managing it well is critical for performance, cost, and safety.</a:t>
            </a:r>
          </a:p>
        </p:txBody>
      </p:sp>
      <p:sp>
        <p:nvSpPr>
          <p:cNvPr id="201" name="Divider"/>
          <p:cNvSpPr/>
          <p:nvPr/>
        </p:nvSpPr>
        <p:spPr>
          <a:xfrm>
            <a:off x="977900" y="6159500"/>
            <a:ext cx="10236200" cy="12700"/>
          </a:xfrm>
          <a:prstGeom prst="rect">
            <a:avLst/>
          </a:prstGeom>
          <a:solidFill>
            <a:srgbClr val="00A79D"/>
          </a:solidFill>
          <a:ln>
            <a:noFill/>
          </a:ln>
        </p:spPr>
        <p:txBody>
          <a:bodyPr/>
          <a:lstStyle/>
          <a:p>
            <a:endParaRPr lang="en-US"/>
          </a:p>
        </p:txBody>
      </p:sp>
    </p:spTree>
    <p:extLst>
      <p:ext uri="{BB962C8B-B14F-4D97-AF65-F5344CB8AC3E}">
        <p14:creationId xmlns:p14="http://schemas.microsoft.com/office/powerpoint/2010/main" val="2022770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p:cNvSpPr/>
          <p:nvPr/>
        </p:nvSpPr>
        <p:spPr>
          <a:xfrm>
            <a:off x="872038" y="819862"/>
            <a:ext cx="10241280" cy="365760"/>
          </a:xfrm>
          <a:prstGeom prst="rect">
            <a:avLst/>
          </a:prstGeom>
          <a:noFill/>
          <a:ln/>
        </p:spPr>
        <p:txBody>
          <a:bodyPr wrap="square" rtlCol="0" anchor="ctr"/>
          <a:lstStyle/>
          <a:p>
            <a:r>
              <a:rPr lang="en-US" sz="2667" dirty="0">
                <a:solidFill>
                  <a:srgbClr val="003366"/>
                </a:solidFill>
                <a:latin typeface="Lato" pitchFamily="34" charset="0"/>
                <a:ea typeface="Lato" pitchFamily="34" charset="-122"/>
                <a:cs typeface="Lato" pitchFamily="34" charset="-120"/>
              </a:rPr>
              <a:t>When Context Windows Decay Over Time</a:t>
            </a:r>
            <a:endParaRPr lang="en-US" sz="2667" dirty="0"/>
          </a:p>
        </p:txBody>
      </p:sp>
      <p:sp>
        <p:nvSpPr>
          <p:cNvPr id="6" name="Text 4"/>
          <p:cNvSpPr/>
          <p:nvPr/>
        </p:nvSpPr>
        <p:spPr>
          <a:xfrm>
            <a:off x="1157207" y="1505662"/>
            <a:ext cx="9753600" cy="304800"/>
          </a:xfrm>
          <a:prstGeom prst="rect">
            <a:avLst/>
          </a:prstGeom>
          <a:noFill/>
          <a:ln/>
        </p:spPr>
        <p:txBody>
          <a:bodyPr wrap="square" rtlCol="0" anchor="ctr"/>
          <a:lstStyle/>
          <a:p>
            <a:r>
              <a:rPr lang="en-US" sz="2133" b="1" dirty="0">
                <a:solidFill>
                  <a:srgbClr val="333333"/>
                </a:solidFill>
                <a:latin typeface="Lato" pitchFamily="34" charset="0"/>
                <a:ea typeface="Lato" pitchFamily="34" charset="-122"/>
                <a:cs typeface="Lato" pitchFamily="34" charset="-120"/>
              </a:rPr>
              <a:t>What is Context Rot?</a:t>
            </a:r>
            <a:endParaRPr lang="en-US" sz="2133" dirty="0"/>
          </a:p>
        </p:txBody>
      </p:sp>
      <p:sp>
        <p:nvSpPr>
          <p:cNvPr id="7" name="Text 5"/>
          <p:cNvSpPr/>
          <p:nvPr/>
        </p:nvSpPr>
        <p:spPr>
          <a:xfrm>
            <a:off x="1463040" y="1993342"/>
            <a:ext cx="9265920" cy="487680"/>
          </a:xfrm>
          <a:prstGeom prst="rect">
            <a:avLst/>
          </a:prstGeom>
          <a:noFill/>
          <a:ln/>
        </p:spPr>
        <p:txBody>
          <a:bodyPr wrap="square" rtlCol="0" anchor="ctr"/>
          <a:lstStyle/>
          <a:p>
            <a:r>
              <a:rPr lang="en-US" sz="1867" i="1" dirty="0">
                <a:solidFill>
                  <a:srgbClr val="333333"/>
                </a:solidFill>
                <a:latin typeface="Lato" pitchFamily="34" charset="0"/>
                <a:ea typeface="Lato" pitchFamily="34" charset="-122"/>
                <a:cs typeface="Lato" pitchFamily="34" charset="-120"/>
              </a:rPr>
              <a:t>Progressive degradation of context quality as conversations grow longer, leading to inconsistencies, hallucinations, and reduced performance.</a:t>
            </a:r>
            <a:endParaRPr lang="en-US" sz="1867" dirty="0"/>
          </a:p>
        </p:txBody>
      </p:sp>
      <p:sp>
        <p:nvSpPr>
          <p:cNvPr id="8" name="Text 6"/>
          <p:cNvSpPr/>
          <p:nvPr/>
        </p:nvSpPr>
        <p:spPr>
          <a:xfrm>
            <a:off x="1219200" y="2740102"/>
            <a:ext cx="9753600" cy="243840"/>
          </a:xfrm>
          <a:prstGeom prst="rect">
            <a:avLst/>
          </a:prstGeom>
          <a:noFill/>
          <a:ln/>
        </p:spPr>
        <p:txBody>
          <a:bodyPr wrap="square" rtlCol="0" anchor="ctr"/>
          <a:lstStyle/>
          <a:p>
            <a:r>
              <a:rPr lang="en-US" sz="1867" b="1" dirty="0">
                <a:solidFill>
                  <a:srgbClr val="333333"/>
                </a:solidFill>
                <a:latin typeface="Lato" pitchFamily="34" charset="0"/>
                <a:ea typeface="Lato" pitchFamily="34" charset="-122"/>
                <a:cs typeface="Lato" pitchFamily="34" charset="-120"/>
              </a:rPr>
              <a:t>The Decay Process:</a:t>
            </a:r>
            <a:endParaRPr lang="en-US" sz="1867" dirty="0"/>
          </a:p>
        </p:txBody>
      </p:sp>
      <p:sp>
        <p:nvSpPr>
          <p:cNvPr id="9" name="Shape 7"/>
          <p:cNvSpPr/>
          <p:nvPr/>
        </p:nvSpPr>
        <p:spPr>
          <a:xfrm>
            <a:off x="1219200" y="3105862"/>
            <a:ext cx="3048000" cy="975360"/>
          </a:xfrm>
          <a:prstGeom prst="rect">
            <a:avLst/>
          </a:prstGeom>
          <a:solidFill>
            <a:srgbClr val="28A745">
              <a:alpha val="80000"/>
            </a:srgbClr>
          </a:solidFill>
          <a:ln w="25400">
            <a:solidFill>
              <a:srgbClr val="28A745"/>
            </a:solidFill>
            <a:prstDash val="solid"/>
          </a:ln>
        </p:spPr>
        <p:txBody>
          <a:bodyPr/>
          <a:lstStyle/>
          <a:p>
            <a:endParaRPr lang="en-US" sz="1867"/>
          </a:p>
        </p:txBody>
      </p:sp>
      <p:sp>
        <p:nvSpPr>
          <p:cNvPr id="10" name="Text 8"/>
          <p:cNvSpPr/>
          <p:nvPr/>
        </p:nvSpPr>
        <p:spPr>
          <a:xfrm>
            <a:off x="1341120" y="3166822"/>
            <a:ext cx="2804160" cy="853440"/>
          </a:xfrm>
          <a:prstGeom prst="rect">
            <a:avLst/>
          </a:prstGeom>
          <a:noFill/>
          <a:ln/>
        </p:spPr>
        <p:txBody>
          <a:bodyPr wrap="square" rtlCol="0" anchor="ctr"/>
          <a:lstStyle/>
          <a:p>
            <a:pPr algn="ctr"/>
            <a:r>
              <a:rPr lang="en-US" sz="1333" dirty="0">
                <a:solidFill>
                  <a:srgbClr val="333333"/>
                </a:solidFill>
                <a:latin typeface="Lato" pitchFamily="34" charset="0"/>
                <a:ea typeface="Lato" pitchFamily="34" charset="-122"/>
                <a:cs typeface="Lato" pitchFamily="34" charset="-120"/>
              </a:rPr>
              <a:t>Turn 1-5</a:t>
            </a:r>
            <a:endParaRPr lang="en-US" sz="1333" dirty="0"/>
          </a:p>
          <a:p>
            <a:pPr algn="ctr"/>
            <a:r>
              <a:rPr lang="en-US" sz="1333" dirty="0">
                <a:solidFill>
                  <a:srgbClr val="333333"/>
                </a:solidFill>
                <a:latin typeface="Lato" pitchFamily="34" charset="0"/>
                <a:ea typeface="Lato" pitchFamily="34" charset="-122"/>
                <a:cs typeface="Lato" pitchFamily="34" charset="-120"/>
              </a:rPr>
              <a:t>✓ Clean Context</a:t>
            </a:r>
            <a:endParaRPr lang="en-US" sz="1333" dirty="0"/>
          </a:p>
          <a:p>
            <a:pPr algn="ctr"/>
            <a:r>
              <a:rPr lang="en-US" sz="1333" dirty="0">
                <a:solidFill>
                  <a:srgbClr val="333333"/>
                </a:solidFill>
                <a:latin typeface="Lato" pitchFamily="34" charset="0"/>
                <a:ea typeface="Lato" pitchFamily="34" charset="-122"/>
                <a:cs typeface="Lato" pitchFamily="34" charset="-120"/>
              </a:rPr>
              <a:t>✓ High Accuracy</a:t>
            </a:r>
            <a:endParaRPr lang="en-US" sz="1333" dirty="0"/>
          </a:p>
        </p:txBody>
      </p:sp>
      <p:sp>
        <p:nvSpPr>
          <p:cNvPr id="11" name="Shape 9"/>
          <p:cNvSpPr/>
          <p:nvPr/>
        </p:nvSpPr>
        <p:spPr>
          <a:xfrm>
            <a:off x="4572000" y="3105862"/>
            <a:ext cx="3048000" cy="975360"/>
          </a:xfrm>
          <a:prstGeom prst="rect">
            <a:avLst/>
          </a:prstGeom>
          <a:solidFill>
            <a:srgbClr val="F7B801">
              <a:alpha val="80000"/>
            </a:srgbClr>
          </a:solidFill>
          <a:ln w="25400">
            <a:solidFill>
              <a:srgbClr val="F7B801"/>
            </a:solidFill>
            <a:prstDash val="solid"/>
          </a:ln>
        </p:spPr>
        <p:txBody>
          <a:bodyPr/>
          <a:lstStyle/>
          <a:p>
            <a:endParaRPr lang="en-US" sz="1867"/>
          </a:p>
        </p:txBody>
      </p:sp>
      <p:sp>
        <p:nvSpPr>
          <p:cNvPr id="12" name="Text 10"/>
          <p:cNvSpPr/>
          <p:nvPr/>
        </p:nvSpPr>
        <p:spPr>
          <a:xfrm>
            <a:off x="4693920" y="3166822"/>
            <a:ext cx="2804160" cy="853440"/>
          </a:xfrm>
          <a:prstGeom prst="rect">
            <a:avLst/>
          </a:prstGeom>
          <a:noFill/>
          <a:ln/>
        </p:spPr>
        <p:txBody>
          <a:bodyPr wrap="square" rtlCol="0" anchor="ctr"/>
          <a:lstStyle/>
          <a:p>
            <a:pPr algn="ctr"/>
            <a:r>
              <a:rPr lang="en-US" sz="1333" dirty="0">
                <a:solidFill>
                  <a:srgbClr val="333333"/>
                </a:solidFill>
                <a:latin typeface="Lato" pitchFamily="34" charset="0"/>
                <a:ea typeface="Lato" pitchFamily="34" charset="-122"/>
                <a:cs typeface="Lato" pitchFamily="34" charset="-120"/>
              </a:rPr>
              <a:t>Turn 10-20</a:t>
            </a:r>
            <a:endParaRPr lang="en-US" sz="1333" dirty="0"/>
          </a:p>
          <a:p>
            <a:pPr algn="ctr"/>
            <a:r>
              <a:rPr lang="en-US" sz="1333" dirty="0">
                <a:solidFill>
                  <a:srgbClr val="333333"/>
                </a:solidFill>
                <a:latin typeface="Lato" pitchFamily="34" charset="0"/>
                <a:ea typeface="Lato" pitchFamily="34" charset="-122"/>
                <a:cs typeface="Lato" pitchFamily="34" charset="-120"/>
              </a:rPr>
              <a:t>⚠ Noise Building</a:t>
            </a:r>
            <a:endParaRPr lang="en-US" sz="1333" dirty="0"/>
          </a:p>
          <a:p>
            <a:pPr algn="ctr"/>
            <a:r>
              <a:rPr lang="en-US" sz="1333" dirty="0">
                <a:solidFill>
                  <a:srgbClr val="333333"/>
                </a:solidFill>
                <a:latin typeface="Lato" pitchFamily="34" charset="0"/>
                <a:ea typeface="Lato" pitchFamily="34" charset="-122"/>
                <a:cs typeface="Lato" pitchFamily="34" charset="-120"/>
              </a:rPr>
              <a:t>⚠ Some Drift</a:t>
            </a:r>
            <a:endParaRPr lang="en-US" sz="1333" dirty="0"/>
          </a:p>
        </p:txBody>
      </p:sp>
      <p:sp>
        <p:nvSpPr>
          <p:cNvPr id="13" name="Shape 11"/>
          <p:cNvSpPr/>
          <p:nvPr/>
        </p:nvSpPr>
        <p:spPr>
          <a:xfrm>
            <a:off x="7924800" y="3105862"/>
            <a:ext cx="3048000" cy="975360"/>
          </a:xfrm>
          <a:prstGeom prst="rect">
            <a:avLst/>
          </a:prstGeom>
          <a:solidFill>
            <a:srgbClr val="DC3545">
              <a:alpha val="80000"/>
            </a:srgbClr>
          </a:solidFill>
          <a:ln w="25400">
            <a:solidFill>
              <a:srgbClr val="DC3545"/>
            </a:solidFill>
            <a:prstDash val="solid"/>
          </a:ln>
        </p:spPr>
        <p:txBody>
          <a:bodyPr/>
          <a:lstStyle/>
          <a:p>
            <a:endParaRPr lang="en-US" sz="1867"/>
          </a:p>
        </p:txBody>
      </p:sp>
      <p:sp>
        <p:nvSpPr>
          <p:cNvPr id="14" name="Text 12"/>
          <p:cNvSpPr/>
          <p:nvPr/>
        </p:nvSpPr>
        <p:spPr>
          <a:xfrm>
            <a:off x="8046720" y="3166822"/>
            <a:ext cx="2804160" cy="853440"/>
          </a:xfrm>
          <a:prstGeom prst="rect">
            <a:avLst/>
          </a:prstGeom>
          <a:noFill/>
          <a:ln/>
        </p:spPr>
        <p:txBody>
          <a:bodyPr wrap="square" rtlCol="0" anchor="ctr"/>
          <a:lstStyle/>
          <a:p>
            <a:pPr algn="ctr"/>
            <a:r>
              <a:rPr lang="en-US" sz="1333" dirty="0">
                <a:solidFill>
                  <a:srgbClr val="333333"/>
                </a:solidFill>
                <a:latin typeface="Lato" pitchFamily="34" charset="0"/>
                <a:ea typeface="Lato" pitchFamily="34" charset="-122"/>
                <a:cs typeface="Lato" pitchFamily="34" charset="-120"/>
              </a:rPr>
              <a:t>Turn 30+</a:t>
            </a:r>
            <a:endParaRPr lang="en-US" sz="1333" dirty="0"/>
          </a:p>
          <a:p>
            <a:pPr algn="ctr"/>
            <a:r>
              <a:rPr lang="en-US" sz="1333" dirty="0">
                <a:solidFill>
                  <a:srgbClr val="333333"/>
                </a:solidFill>
                <a:latin typeface="Lato" pitchFamily="34" charset="0"/>
                <a:ea typeface="Lato" pitchFamily="34" charset="-122"/>
                <a:cs typeface="Lato" pitchFamily="34" charset="-120"/>
              </a:rPr>
              <a:t>✗ Context Rot</a:t>
            </a:r>
            <a:endParaRPr lang="en-US" sz="1333" dirty="0"/>
          </a:p>
          <a:p>
            <a:pPr algn="ctr"/>
            <a:r>
              <a:rPr lang="en-US" sz="1333" dirty="0">
                <a:solidFill>
                  <a:srgbClr val="333333"/>
                </a:solidFill>
                <a:latin typeface="Lato" pitchFamily="34" charset="0"/>
                <a:ea typeface="Lato" pitchFamily="34" charset="-122"/>
                <a:cs typeface="Lato" pitchFamily="34" charset="-120"/>
              </a:rPr>
              <a:t>✗ Hallucinations</a:t>
            </a:r>
            <a:endParaRPr lang="en-US" sz="1333" dirty="0"/>
          </a:p>
        </p:txBody>
      </p:sp>
      <p:sp>
        <p:nvSpPr>
          <p:cNvPr id="15" name="Text 13"/>
          <p:cNvSpPr/>
          <p:nvPr/>
        </p:nvSpPr>
        <p:spPr>
          <a:xfrm>
            <a:off x="1219200" y="4325062"/>
            <a:ext cx="4876800" cy="304800"/>
          </a:xfrm>
          <a:prstGeom prst="rect">
            <a:avLst/>
          </a:prstGeom>
          <a:noFill/>
          <a:ln/>
        </p:spPr>
        <p:txBody>
          <a:bodyPr wrap="square" rtlCol="0" anchor="ctr"/>
          <a:lstStyle/>
          <a:p>
            <a:r>
              <a:rPr lang="en-US" sz="1867" b="1" dirty="0">
                <a:solidFill>
                  <a:srgbClr val="333333"/>
                </a:solidFill>
                <a:latin typeface="Lato" pitchFamily="34" charset="0"/>
                <a:ea typeface="Lato" pitchFamily="34" charset="-122"/>
                <a:cs typeface="Lato" pitchFamily="34" charset="-120"/>
              </a:rPr>
              <a:t>Root Causes:</a:t>
            </a:r>
            <a:endParaRPr lang="en-US" sz="1867" dirty="0"/>
          </a:p>
        </p:txBody>
      </p:sp>
      <p:sp>
        <p:nvSpPr>
          <p:cNvPr id="17" name="Text 15"/>
          <p:cNvSpPr/>
          <p:nvPr/>
        </p:nvSpPr>
        <p:spPr>
          <a:xfrm>
            <a:off x="1950720" y="4690822"/>
            <a:ext cx="3048000" cy="182880"/>
          </a:xfrm>
          <a:prstGeom prst="rect">
            <a:avLst/>
          </a:prstGeom>
          <a:noFill/>
          <a:ln/>
        </p:spPr>
        <p:txBody>
          <a:bodyPr wrap="square" rtlCol="0" anchor="ctr"/>
          <a:lstStyle/>
          <a:p>
            <a:r>
              <a:rPr lang="en-US" sz="1467" b="1" dirty="0">
                <a:solidFill>
                  <a:srgbClr val="003366"/>
                </a:solidFill>
                <a:latin typeface="Poppins" pitchFamily="34" charset="0"/>
                <a:ea typeface="Poppins" pitchFamily="34" charset="-122"/>
                <a:cs typeface="Poppins" pitchFamily="34" charset="-120"/>
              </a:rPr>
              <a:t>Information Overload</a:t>
            </a:r>
            <a:endParaRPr lang="en-US" sz="1467" dirty="0"/>
          </a:p>
        </p:txBody>
      </p:sp>
      <p:sp>
        <p:nvSpPr>
          <p:cNvPr id="18" name="Text 16"/>
          <p:cNvSpPr/>
          <p:nvPr/>
        </p:nvSpPr>
        <p:spPr>
          <a:xfrm>
            <a:off x="1950720" y="4873702"/>
            <a:ext cx="3048000" cy="182880"/>
          </a:xfrm>
          <a:prstGeom prst="rect">
            <a:avLst/>
          </a:prstGeom>
          <a:noFill/>
          <a:ln/>
        </p:spPr>
        <p:txBody>
          <a:bodyPr wrap="square" rtlCol="0" anchor="ctr"/>
          <a:lstStyle/>
          <a:p>
            <a:r>
              <a:rPr lang="en-US" sz="1200" dirty="0">
                <a:solidFill>
                  <a:srgbClr val="333333"/>
                </a:solidFill>
                <a:latin typeface="Lato" pitchFamily="34" charset="0"/>
                <a:ea typeface="Lato" pitchFamily="34" charset="-122"/>
                <a:cs typeface="Lato" pitchFamily="34" charset="-120"/>
              </a:rPr>
              <a:t>Too much history dilutes relevance</a:t>
            </a:r>
            <a:endParaRPr lang="en-US" sz="1200" dirty="0"/>
          </a:p>
        </p:txBody>
      </p:sp>
      <p:sp>
        <p:nvSpPr>
          <p:cNvPr id="19" name="Text 17"/>
          <p:cNvSpPr/>
          <p:nvPr/>
        </p:nvSpPr>
        <p:spPr>
          <a:xfrm>
            <a:off x="1463040" y="5117542"/>
            <a:ext cx="365760" cy="365760"/>
          </a:xfrm>
          <a:prstGeom prst="rect">
            <a:avLst/>
          </a:prstGeom>
          <a:noFill/>
          <a:ln/>
        </p:spPr>
        <p:txBody>
          <a:bodyPr wrap="square" rtlCol="0" anchor="ctr"/>
          <a:lstStyle/>
          <a:p>
            <a:pPr algn="ctr"/>
            <a:endParaRPr lang="en-US" sz="2133" dirty="0"/>
          </a:p>
        </p:txBody>
      </p:sp>
      <p:sp>
        <p:nvSpPr>
          <p:cNvPr id="20" name="Text 18"/>
          <p:cNvSpPr/>
          <p:nvPr/>
        </p:nvSpPr>
        <p:spPr>
          <a:xfrm>
            <a:off x="1950720" y="5117542"/>
            <a:ext cx="3048000" cy="182880"/>
          </a:xfrm>
          <a:prstGeom prst="rect">
            <a:avLst/>
          </a:prstGeom>
          <a:noFill/>
          <a:ln/>
        </p:spPr>
        <p:txBody>
          <a:bodyPr wrap="square" rtlCol="0" anchor="ctr"/>
          <a:lstStyle/>
          <a:p>
            <a:r>
              <a:rPr lang="en-US" sz="1467" b="1" dirty="0">
                <a:solidFill>
                  <a:srgbClr val="003366"/>
                </a:solidFill>
                <a:latin typeface="Poppins" pitchFamily="34" charset="0"/>
                <a:ea typeface="Poppins" pitchFamily="34" charset="-122"/>
                <a:cs typeface="Poppins" pitchFamily="34" charset="-120"/>
              </a:rPr>
              <a:t>Contradictions</a:t>
            </a:r>
            <a:endParaRPr lang="en-US" sz="1467" dirty="0"/>
          </a:p>
        </p:txBody>
      </p:sp>
      <p:sp>
        <p:nvSpPr>
          <p:cNvPr id="21" name="Text 19"/>
          <p:cNvSpPr/>
          <p:nvPr/>
        </p:nvSpPr>
        <p:spPr>
          <a:xfrm>
            <a:off x="1950720" y="5300422"/>
            <a:ext cx="3048000" cy="182880"/>
          </a:xfrm>
          <a:prstGeom prst="rect">
            <a:avLst/>
          </a:prstGeom>
          <a:noFill/>
          <a:ln/>
        </p:spPr>
        <p:txBody>
          <a:bodyPr wrap="square" rtlCol="0" anchor="ctr"/>
          <a:lstStyle/>
          <a:p>
            <a:r>
              <a:rPr lang="en-US" sz="1200" dirty="0">
                <a:solidFill>
                  <a:srgbClr val="333333"/>
                </a:solidFill>
                <a:latin typeface="Lato" pitchFamily="34" charset="0"/>
                <a:ea typeface="Lato" pitchFamily="34" charset="-122"/>
                <a:cs typeface="Lato" pitchFamily="34" charset="-120"/>
              </a:rPr>
              <a:t>Old info conflicts with new context</a:t>
            </a:r>
            <a:endParaRPr lang="en-US" sz="1200" dirty="0"/>
          </a:p>
        </p:txBody>
      </p:sp>
      <p:sp>
        <p:nvSpPr>
          <p:cNvPr id="22" name="Text 20"/>
          <p:cNvSpPr/>
          <p:nvPr/>
        </p:nvSpPr>
        <p:spPr>
          <a:xfrm>
            <a:off x="1463040" y="5544262"/>
            <a:ext cx="365760" cy="365760"/>
          </a:xfrm>
          <a:prstGeom prst="rect">
            <a:avLst/>
          </a:prstGeom>
          <a:noFill/>
          <a:ln/>
        </p:spPr>
        <p:txBody>
          <a:bodyPr wrap="square" rtlCol="0" anchor="ctr"/>
          <a:lstStyle/>
          <a:p>
            <a:pPr algn="ctr"/>
            <a:endParaRPr lang="en-US" sz="2133" dirty="0"/>
          </a:p>
        </p:txBody>
      </p:sp>
      <p:sp>
        <p:nvSpPr>
          <p:cNvPr id="23" name="Text 21"/>
          <p:cNvSpPr/>
          <p:nvPr/>
        </p:nvSpPr>
        <p:spPr>
          <a:xfrm>
            <a:off x="1950720" y="5544262"/>
            <a:ext cx="3048000" cy="182880"/>
          </a:xfrm>
          <a:prstGeom prst="rect">
            <a:avLst/>
          </a:prstGeom>
          <a:noFill/>
          <a:ln/>
        </p:spPr>
        <p:txBody>
          <a:bodyPr wrap="square" rtlCol="0" anchor="ctr"/>
          <a:lstStyle/>
          <a:p>
            <a:r>
              <a:rPr lang="en-US" sz="1467" b="1" dirty="0">
                <a:solidFill>
                  <a:srgbClr val="003366"/>
                </a:solidFill>
                <a:latin typeface="Poppins" pitchFamily="34" charset="0"/>
                <a:ea typeface="Poppins" pitchFamily="34" charset="-122"/>
                <a:cs typeface="Poppins" pitchFamily="34" charset="-120"/>
              </a:rPr>
              <a:t>Stale References</a:t>
            </a:r>
            <a:endParaRPr lang="en-US" sz="1467" dirty="0"/>
          </a:p>
        </p:txBody>
      </p:sp>
      <p:sp>
        <p:nvSpPr>
          <p:cNvPr id="24" name="Text 22"/>
          <p:cNvSpPr/>
          <p:nvPr/>
        </p:nvSpPr>
        <p:spPr>
          <a:xfrm>
            <a:off x="1950720" y="5727142"/>
            <a:ext cx="3048000" cy="182880"/>
          </a:xfrm>
          <a:prstGeom prst="rect">
            <a:avLst/>
          </a:prstGeom>
          <a:noFill/>
          <a:ln/>
        </p:spPr>
        <p:txBody>
          <a:bodyPr wrap="square" rtlCol="0" anchor="ctr"/>
          <a:lstStyle/>
          <a:p>
            <a:r>
              <a:rPr lang="en-US" sz="1200" dirty="0">
                <a:solidFill>
                  <a:srgbClr val="333333"/>
                </a:solidFill>
                <a:latin typeface="Lato" pitchFamily="34" charset="0"/>
                <a:ea typeface="Lato" pitchFamily="34" charset="-122"/>
                <a:cs typeface="Lato" pitchFamily="34" charset="-120"/>
              </a:rPr>
              <a:t>Outdated data treated as current</a:t>
            </a:r>
            <a:endParaRPr lang="en-US" sz="1200" dirty="0"/>
          </a:p>
        </p:txBody>
      </p:sp>
      <p:sp>
        <p:nvSpPr>
          <p:cNvPr id="26" name="Text 24"/>
          <p:cNvSpPr/>
          <p:nvPr/>
        </p:nvSpPr>
        <p:spPr>
          <a:xfrm>
            <a:off x="1950720" y="5970982"/>
            <a:ext cx="3048000" cy="182880"/>
          </a:xfrm>
          <a:prstGeom prst="rect">
            <a:avLst/>
          </a:prstGeom>
          <a:noFill/>
          <a:ln/>
        </p:spPr>
        <p:txBody>
          <a:bodyPr wrap="square" rtlCol="0" anchor="ctr"/>
          <a:lstStyle/>
          <a:p>
            <a:r>
              <a:rPr lang="en-US" sz="1467" b="1" dirty="0">
                <a:solidFill>
                  <a:srgbClr val="003366"/>
                </a:solidFill>
                <a:latin typeface="Poppins" pitchFamily="34" charset="0"/>
                <a:ea typeface="Poppins" pitchFamily="34" charset="-122"/>
                <a:cs typeface="Poppins" pitchFamily="34" charset="-120"/>
              </a:rPr>
              <a:t>Lost Focus</a:t>
            </a:r>
            <a:endParaRPr lang="en-US" sz="1467" dirty="0"/>
          </a:p>
        </p:txBody>
      </p:sp>
      <p:sp>
        <p:nvSpPr>
          <p:cNvPr id="27" name="Text 25"/>
          <p:cNvSpPr/>
          <p:nvPr/>
        </p:nvSpPr>
        <p:spPr>
          <a:xfrm>
            <a:off x="1950720" y="6153862"/>
            <a:ext cx="3048000" cy="182880"/>
          </a:xfrm>
          <a:prstGeom prst="rect">
            <a:avLst/>
          </a:prstGeom>
          <a:noFill/>
          <a:ln/>
        </p:spPr>
        <p:txBody>
          <a:bodyPr wrap="square" rtlCol="0" anchor="ctr"/>
          <a:lstStyle/>
          <a:p>
            <a:r>
              <a:rPr lang="en-US" sz="1200" dirty="0">
                <a:solidFill>
                  <a:srgbClr val="333333"/>
                </a:solidFill>
                <a:latin typeface="Lato" pitchFamily="34" charset="0"/>
                <a:ea typeface="Lato" pitchFamily="34" charset="-122"/>
                <a:cs typeface="Lato" pitchFamily="34" charset="-120"/>
              </a:rPr>
              <a:t>Original intent buried in noise</a:t>
            </a:r>
            <a:endParaRPr lang="en-US" sz="1200" dirty="0"/>
          </a:p>
        </p:txBody>
      </p:sp>
      <p:sp>
        <p:nvSpPr>
          <p:cNvPr id="28" name="Text 26"/>
          <p:cNvSpPr/>
          <p:nvPr/>
        </p:nvSpPr>
        <p:spPr>
          <a:xfrm>
            <a:off x="6096000" y="4325062"/>
            <a:ext cx="4876800" cy="304800"/>
          </a:xfrm>
          <a:prstGeom prst="rect">
            <a:avLst/>
          </a:prstGeom>
          <a:noFill/>
          <a:ln/>
        </p:spPr>
        <p:txBody>
          <a:bodyPr wrap="square" rtlCol="0" anchor="ctr"/>
          <a:lstStyle/>
          <a:p>
            <a:r>
              <a:rPr lang="en-US" sz="1867" b="1" dirty="0">
                <a:solidFill>
                  <a:srgbClr val="28A745"/>
                </a:solidFill>
                <a:latin typeface="Lato" pitchFamily="34" charset="0"/>
                <a:ea typeface="Lato" pitchFamily="34" charset="-122"/>
                <a:cs typeface="Lato" pitchFamily="34" charset="-120"/>
              </a:rPr>
              <a:t>Mitigation Strategies:</a:t>
            </a:r>
            <a:endParaRPr lang="en-US" sz="1867" dirty="0"/>
          </a:p>
        </p:txBody>
      </p:sp>
      <p:sp>
        <p:nvSpPr>
          <p:cNvPr id="29" name="Text 27"/>
          <p:cNvSpPr/>
          <p:nvPr/>
        </p:nvSpPr>
        <p:spPr>
          <a:xfrm>
            <a:off x="6339840" y="4690822"/>
            <a:ext cx="4389120" cy="365760"/>
          </a:xfrm>
          <a:prstGeom prst="rect">
            <a:avLst/>
          </a:prstGeom>
          <a:noFill/>
          <a:ln/>
        </p:spPr>
        <p:txBody>
          <a:bodyPr wrap="square" rtlCol="0" anchor="ctr"/>
          <a:lstStyle/>
          <a:p>
            <a:r>
              <a:rPr lang="en-US" sz="1333" dirty="0">
                <a:solidFill>
                  <a:srgbClr val="333333"/>
                </a:solidFill>
                <a:latin typeface="Lato" pitchFamily="34" charset="0"/>
                <a:ea typeface="Lato" pitchFamily="34" charset="-122"/>
                <a:cs typeface="Lato" pitchFamily="34" charset="-120"/>
              </a:rPr>
              <a:t>→ Context Pruning: Remove old/irrelevant messages</a:t>
            </a:r>
            <a:endParaRPr lang="en-US" sz="1333" dirty="0"/>
          </a:p>
        </p:txBody>
      </p:sp>
      <p:sp>
        <p:nvSpPr>
          <p:cNvPr id="30" name="Text 28"/>
          <p:cNvSpPr/>
          <p:nvPr/>
        </p:nvSpPr>
        <p:spPr>
          <a:xfrm>
            <a:off x="6339840" y="5117542"/>
            <a:ext cx="4389120" cy="365760"/>
          </a:xfrm>
          <a:prstGeom prst="rect">
            <a:avLst/>
          </a:prstGeom>
          <a:noFill/>
          <a:ln/>
        </p:spPr>
        <p:txBody>
          <a:bodyPr wrap="square" rtlCol="0" anchor="ctr"/>
          <a:lstStyle/>
          <a:p>
            <a:r>
              <a:rPr lang="en-US" sz="1333" dirty="0">
                <a:solidFill>
                  <a:srgbClr val="333333"/>
                </a:solidFill>
                <a:latin typeface="Lato" pitchFamily="34" charset="0"/>
                <a:ea typeface="Lato" pitchFamily="34" charset="-122"/>
                <a:cs typeface="Lato" pitchFamily="34" charset="-120"/>
              </a:rPr>
              <a:t>→ Summarization: Compress history into summaries</a:t>
            </a:r>
            <a:endParaRPr lang="en-US" sz="1333" dirty="0"/>
          </a:p>
        </p:txBody>
      </p:sp>
      <p:sp>
        <p:nvSpPr>
          <p:cNvPr id="31" name="Text 29"/>
          <p:cNvSpPr/>
          <p:nvPr/>
        </p:nvSpPr>
        <p:spPr>
          <a:xfrm>
            <a:off x="6339840" y="5544262"/>
            <a:ext cx="4389120" cy="365760"/>
          </a:xfrm>
          <a:prstGeom prst="rect">
            <a:avLst/>
          </a:prstGeom>
          <a:noFill/>
          <a:ln/>
        </p:spPr>
        <p:txBody>
          <a:bodyPr wrap="square" rtlCol="0" anchor="ctr"/>
          <a:lstStyle/>
          <a:p>
            <a:r>
              <a:rPr lang="en-US" sz="1333" dirty="0">
                <a:solidFill>
                  <a:srgbClr val="333333"/>
                </a:solidFill>
                <a:latin typeface="Lato" pitchFamily="34" charset="0"/>
                <a:ea typeface="Lato" pitchFamily="34" charset="-122"/>
                <a:cs typeface="Lato" pitchFamily="34" charset="-120"/>
              </a:rPr>
              <a:t>→ Session Reset: Start fresh after N turns</a:t>
            </a:r>
            <a:endParaRPr lang="en-US" sz="1333" dirty="0"/>
          </a:p>
        </p:txBody>
      </p:sp>
      <p:sp>
        <p:nvSpPr>
          <p:cNvPr id="32" name="Text 30"/>
          <p:cNvSpPr/>
          <p:nvPr/>
        </p:nvSpPr>
        <p:spPr>
          <a:xfrm>
            <a:off x="6339840" y="5970982"/>
            <a:ext cx="4389120" cy="365760"/>
          </a:xfrm>
          <a:prstGeom prst="rect">
            <a:avLst/>
          </a:prstGeom>
          <a:noFill/>
          <a:ln/>
        </p:spPr>
        <p:txBody>
          <a:bodyPr wrap="square" rtlCol="0" anchor="ctr"/>
          <a:lstStyle/>
          <a:p>
            <a:r>
              <a:rPr lang="en-US" sz="1333" dirty="0">
                <a:solidFill>
                  <a:srgbClr val="333333"/>
                </a:solidFill>
                <a:latin typeface="Lato" pitchFamily="34" charset="0"/>
                <a:ea typeface="Lato" pitchFamily="34" charset="-122"/>
                <a:cs typeface="Lato" pitchFamily="34" charset="-120"/>
              </a:rPr>
              <a:t>→ Sliding Window: Keep only recent context</a:t>
            </a:r>
            <a:endParaRPr lang="en-US" sz="1333" dirty="0"/>
          </a:p>
        </p:txBody>
      </p:sp>
      <p:sp>
        <p:nvSpPr>
          <p:cNvPr id="2" name="Title 1">
            <a:extLst>
              <a:ext uri="{FF2B5EF4-FFF2-40B4-BE49-F238E27FC236}">
                <a16:creationId xmlns:a16="http://schemas.microsoft.com/office/drawing/2014/main" id="{8890FDD6-D812-86B3-96F7-33E77900D7DF}"/>
              </a:ext>
            </a:extLst>
          </p:cNvPr>
          <p:cNvSpPr>
            <a:spLocks noGrp="1"/>
          </p:cNvSpPr>
          <p:nvPr>
            <p:ph type="title"/>
          </p:nvPr>
        </p:nvSpPr>
        <p:spPr/>
        <p:txBody>
          <a:bodyPr/>
          <a:lstStyle/>
          <a:p>
            <a:r>
              <a:rPr lang="en-US" dirty="0"/>
              <a:t>Context Rot</a:t>
            </a:r>
          </a:p>
        </p:txBody>
      </p:sp>
    </p:spTree>
    <p:extLst>
      <p:ext uri="{BB962C8B-B14F-4D97-AF65-F5344CB8AC3E}">
        <p14:creationId xmlns:p14="http://schemas.microsoft.com/office/powerpoint/2010/main" val="465377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2361-C4A1-96DE-0654-C00791A39951}"/>
              </a:ext>
            </a:extLst>
          </p:cNvPr>
          <p:cNvSpPr>
            <a:spLocks noGrp="1"/>
          </p:cNvSpPr>
          <p:nvPr>
            <p:ph type="title"/>
          </p:nvPr>
        </p:nvSpPr>
        <p:spPr/>
        <p:txBody>
          <a:bodyPr/>
          <a:lstStyle/>
          <a:p>
            <a:r>
              <a:rPr lang="en-US" dirty="0"/>
              <a:t>Context Risk &amp; Defenses</a:t>
            </a:r>
          </a:p>
        </p:txBody>
      </p:sp>
      <p:sp>
        <p:nvSpPr>
          <p:cNvPr id="100" name="Subtitle"/>
          <p:cNvSpPr/>
          <p:nvPr/>
        </p:nvSpPr>
        <p:spPr>
          <a:xfrm>
            <a:off x="838200" y="850900"/>
            <a:ext cx="10515600" cy="304800"/>
          </a:xfrm>
          <a:prstGeom prst="rect">
            <a:avLst/>
          </a:prstGeom>
          <a:noFill/>
          <a:ln>
            <a:noFill/>
          </a:ln>
        </p:spPr>
        <p:txBody>
          <a:bodyPr wrap="square" lIns="0" tIns="0" rIns="0" bIns="0"/>
          <a:lstStyle/>
          <a:p>
            <a:r>
              <a:rPr lang="en-US" sz="2133" dirty="0">
                <a:solidFill>
                  <a:srgbClr val="003366"/>
                </a:solidFill>
                <a:latin typeface="Lato"/>
              </a:rPr>
              <a:t>Security &amp; Operational Risks + Defense in Depth</a:t>
            </a:r>
          </a:p>
        </p:txBody>
      </p:sp>
      <p:sp>
        <p:nvSpPr>
          <p:cNvPr id="110" name="RiskCard0"/>
          <p:cNvSpPr/>
          <p:nvPr/>
        </p:nvSpPr>
        <p:spPr>
          <a:xfrm>
            <a:off x="838200" y="1270000"/>
            <a:ext cx="3352800" cy="1841500"/>
          </a:xfrm>
          <a:prstGeom prst="roundRect">
            <a:avLst>
              <a:gd name="adj" fmla="val 5000"/>
            </a:avLst>
          </a:prstGeom>
          <a:solidFill>
            <a:srgbClr val="FFFFFF"/>
          </a:solidFill>
          <a:ln w="19050">
            <a:solidFill>
              <a:srgbClr val="DC3545"/>
            </a:solidFill>
          </a:ln>
        </p:spPr>
        <p:txBody>
          <a:bodyPr/>
          <a:lstStyle/>
          <a:p>
            <a:endParaRPr lang="en-US"/>
          </a:p>
        </p:txBody>
      </p:sp>
      <p:sp>
        <p:nvSpPr>
          <p:cNvPr id="111" name="RiskHeader0"/>
          <p:cNvSpPr/>
          <p:nvPr/>
        </p:nvSpPr>
        <p:spPr>
          <a:xfrm>
            <a:off x="838200" y="1270000"/>
            <a:ext cx="3352800" cy="381000"/>
          </a:xfrm>
          <a:prstGeom prst="roundRect">
            <a:avLst>
              <a:gd name="adj" fmla="val 8000"/>
            </a:avLst>
          </a:prstGeom>
          <a:solidFill>
            <a:srgbClr val="DC3545"/>
          </a:solidFill>
          <a:ln>
            <a:noFill/>
          </a:ln>
        </p:spPr>
        <p:txBody>
          <a:bodyPr wrap="square" lIns="101600" tIns="25400" rIns="101600" bIns="25400" anchor="ctr"/>
          <a:lstStyle/>
          <a:p>
            <a:pPr algn="ctr"/>
            <a:r>
              <a:rPr lang="en-US" sz="1467" b="1" dirty="0">
                <a:solidFill>
                  <a:srgbClr val="FFFFFF"/>
                </a:solidFill>
                <a:latin typeface="Poppins"/>
              </a:rPr>
              <a:t>1. Information Leakage</a:t>
            </a:r>
          </a:p>
        </p:txBody>
      </p:sp>
      <p:sp>
        <p:nvSpPr>
          <p:cNvPr id="112" name="RiskBullet0_0"/>
          <p:cNvSpPr/>
          <p:nvPr/>
        </p:nvSpPr>
        <p:spPr>
          <a:xfrm>
            <a:off x="965200" y="1752600"/>
            <a:ext cx="3098800" cy="406400"/>
          </a:xfrm>
          <a:prstGeom prst="rect">
            <a:avLst/>
          </a:prstGeom>
          <a:noFill/>
          <a:ln>
            <a:noFill/>
          </a:ln>
        </p:spPr>
        <p:txBody>
          <a:bodyPr wrap="square" lIns="0" tIns="0" rIns="0" bIns="0"/>
          <a:lstStyle/>
          <a:p>
            <a:r>
              <a:rPr lang="en-US" sz="1067" dirty="0">
                <a:solidFill>
                  <a:srgbClr val="444444"/>
                </a:solidFill>
                <a:latin typeface="Lato"/>
              </a:rPr>
              <a:t>• Sensitive data exposed via prompt injection</a:t>
            </a:r>
          </a:p>
        </p:txBody>
      </p:sp>
      <p:sp>
        <p:nvSpPr>
          <p:cNvPr id="113" name="RiskBullet0_1"/>
          <p:cNvSpPr/>
          <p:nvPr/>
        </p:nvSpPr>
        <p:spPr>
          <a:xfrm>
            <a:off x="965200" y="2171700"/>
            <a:ext cx="3098800" cy="406400"/>
          </a:xfrm>
          <a:prstGeom prst="rect">
            <a:avLst/>
          </a:prstGeom>
          <a:noFill/>
          <a:ln>
            <a:noFill/>
          </a:ln>
        </p:spPr>
        <p:txBody>
          <a:bodyPr wrap="square" lIns="0" tIns="0" rIns="0" bIns="0"/>
          <a:lstStyle/>
          <a:p>
            <a:r>
              <a:rPr lang="en-US" sz="1067" dirty="0">
                <a:solidFill>
                  <a:srgbClr val="444444"/>
                </a:solidFill>
                <a:latin typeface="Lato"/>
              </a:rPr>
              <a:t>• Cross-user context bleeding in shared systems</a:t>
            </a:r>
          </a:p>
        </p:txBody>
      </p:sp>
      <p:sp>
        <p:nvSpPr>
          <p:cNvPr id="114" name="RiskBullet0_2"/>
          <p:cNvSpPr/>
          <p:nvPr/>
        </p:nvSpPr>
        <p:spPr>
          <a:xfrm>
            <a:off x="965200" y="2590800"/>
            <a:ext cx="3098800" cy="406400"/>
          </a:xfrm>
          <a:prstGeom prst="rect">
            <a:avLst/>
          </a:prstGeom>
          <a:noFill/>
          <a:ln>
            <a:noFill/>
          </a:ln>
        </p:spPr>
        <p:txBody>
          <a:bodyPr wrap="square" lIns="0" tIns="0" rIns="0" bIns="0"/>
          <a:lstStyle/>
          <a:p>
            <a:r>
              <a:rPr lang="en-US" sz="1067" dirty="0">
                <a:solidFill>
                  <a:srgbClr val="444444"/>
                </a:solidFill>
                <a:latin typeface="Lato"/>
              </a:rPr>
              <a:t>• System prompts leaked via adversarial queries</a:t>
            </a:r>
          </a:p>
        </p:txBody>
      </p:sp>
      <p:sp>
        <p:nvSpPr>
          <p:cNvPr id="115" name="RiskCard1"/>
          <p:cNvSpPr/>
          <p:nvPr/>
        </p:nvSpPr>
        <p:spPr>
          <a:xfrm>
            <a:off x="4419600" y="1270000"/>
            <a:ext cx="3352800" cy="1841500"/>
          </a:xfrm>
          <a:prstGeom prst="roundRect">
            <a:avLst>
              <a:gd name="adj" fmla="val 5000"/>
            </a:avLst>
          </a:prstGeom>
          <a:solidFill>
            <a:srgbClr val="FFFFFF"/>
          </a:solidFill>
          <a:ln w="19050">
            <a:solidFill>
              <a:srgbClr val="FF6B35"/>
            </a:solidFill>
          </a:ln>
        </p:spPr>
        <p:txBody>
          <a:bodyPr/>
          <a:lstStyle/>
          <a:p>
            <a:endParaRPr lang="en-US"/>
          </a:p>
        </p:txBody>
      </p:sp>
      <p:sp>
        <p:nvSpPr>
          <p:cNvPr id="116" name="RiskHeader1"/>
          <p:cNvSpPr/>
          <p:nvPr/>
        </p:nvSpPr>
        <p:spPr>
          <a:xfrm>
            <a:off x="4419600" y="1270000"/>
            <a:ext cx="3352800" cy="381000"/>
          </a:xfrm>
          <a:prstGeom prst="roundRect">
            <a:avLst>
              <a:gd name="adj" fmla="val 8000"/>
            </a:avLst>
          </a:prstGeom>
          <a:solidFill>
            <a:srgbClr val="FF6B35"/>
          </a:solidFill>
          <a:ln>
            <a:noFill/>
          </a:ln>
        </p:spPr>
        <p:txBody>
          <a:bodyPr wrap="square" lIns="101600" tIns="25400" rIns="101600" bIns="25400" anchor="ctr"/>
          <a:lstStyle/>
          <a:p>
            <a:pPr algn="ctr"/>
            <a:r>
              <a:rPr lang="en-US" sz="1467" b="1" dirty="0">
                <a:solidFill>
                  <a:srgbClr val="FFFFFF"/>
                </a:solidFill>
                <a:latin typeface="Poppins"/>
              </a:rPr>
              <a:t>2. Context Injection</a:t>
            </a:r>
          </a:p>
        </p:txBody>
      </p:sp>
      <p:sp>
        <p:nvSpPr>
          <p:cNvPr id="117" name="RiskBullet1_0"/>
          <p:cNvSpPr/>
          <p:nvPr/>
        </p:nvSpPr>
        <p:spPr>
          <a:xfrm>
            <a:off x="4546600" y="1752600"/>
            <a:ext cx="3098800" cy="406400"/>
          </a:xfrm>
          <a:prstGeom prst="rect">
            <a:avLst/>
          </a:prstGeom>
          <a:noFill/>
          <a:ln>
            <a:noFill/>
          </a:ln>
        </p:spPr>
        <p:txBody>
          <a:bodyPr wrap="square" lIns="0" tIns="0" rIns="0" bIns="0"/>
          <a:lstStyle/>
          <a:p>
            <a:r>
              <a:rPr lang="en-US" sz="1067" dirty="0">
                <a:solidFill>
                  <a:srgbClr val="444444"/>
                </a:solidFill>
                <a:latin typeface="Lato"/>
              </a:rPr>
              <a:t>• Malicious instructions embedded in RAG docs</a:t>
            </a:r>
          </a:p>
        </p:txBody>
      </p:sp>
      <p:sp>
        <p:nvSpPr>
          <p:cNvPr id="118" name="RiskBullet1_1"/>
          <p:cNvSpPr/>
          <p:nvPr/>
        </p:nvSpPr>
        <p:spPr>
          <a:xfrm>
            <a:off x="4546600" y="2171700"/>
            <a:ext cx="3098800" cy="406400"/>
          </a:xfrm>
          <a:prstGeom prst="rect">
            <a:avLst/>
          </a:prstGeom>
          <a:noFill/>
          <a:ln>
            <a:noFill/>
          </a:ln>
        </p:spPr>
        <p:txBody>
          <a:bodyPr wrap="square" lIns="0" tIns="0" rIns="0" bIns="0"/>
          <a:lstStyle/>
          <a:p>
            <a:r>
              <a:rPr lang="en-US" sz="1067" dirty="0">
                <a:solidFill>
                  <a:srgbClr val="444444"/>
                </a:solidFill>
                <a:latin typeface="Lato"/>
              </a:rPr>
              <a:t>• Goal hijacking via manipulated history</a:t>
            </a:r>
          </a:p>
        </p:txBody>
      </p:sp>
      <p:sp>
        <p:nvSpPr>
          <p:cNvPr id="119" name="RiskBullet1_2"/>
          <p:cNvSpPr/>
          <p:nvPr/>
        </p:nvSpPr>
        <p:spPr>
          <a:xfrm>
            <a:off x="4546600" y="2590800"/>
            <a:ext cx="3098800" cy="406400"/>
          </a:xfrm>
          <a:prstGeom prst="rect">
            <a:avLst/>
          </a:prstGeom>
          <a:noFill/>
          <a:ln>
            <a:noFill/>
          </a:ln>
        </p:spPr>
        <p:txBody>
          <a:bodyPr wrap="square" lIns="0" tIns="0" rIns="0" bIns="0"/>
          <a:lstStyle/>
          <a:p>
            <a:r>
              <a:rPr lang="en-US" sz="1067" dirty="0">
                <a:solidFill>
                  <a:srgbClr val="444444"/>
                </a:solidFill>
                <a:latin typeface="Lato"/>
              </a:rPr>
              <a:t>• Adversarial context poisoning in multi-turn</a:t>
            </a:r>
          </a:p>
        </p:txBody>
      </p:sp>
      <p:sp>
        <p:nvSpPr>
          <p:cNvPr id="120" name="RiskCard2"/>
          <p:cNvSpPr/>
          <p:nvPr/>
        </p:nvSpPr>
        <p:spPr>
          <a:xfrm>
            <a:off x="8001000" y="1270000"/>
            <a:ext cx="3352800" cy="1841500"/>
          </a:xfrm>
          <a:prstGeom prst="roundRect">
            <a:avLst>
              <a:gd name="adj" fmla="val 5000"/>
            </a:avLst>
          </a:prstGeom>
          <a:solidFill>
            <a:srgbClr val="FFFFFF"/>
          </a:solidFill>
          <a:ln w="19050">
            <a:solidFill>
              <a:srgbClr val="F7B801"/>
            </a:solidFill>
          </a:ln>
        </p:spPr>
        <p:txBody>
          <a:bodyPr/>
          <a:lstStyle/>
          <a:p>
            <a:endParaRPr lang="en-US"/>
          </a:p>
        </p:txBody>
      </p:sp>
      <p:sp>
        <p:nvSpPr>
          <p:cNvPr id="121" name="RiskHeader2"/>
          <p:cNvSpPr/>
          <p:nvPr/>
        </p:nvSpPr>
        <p:spPr>
          <a:xfrm>
            <a:off x="8001000" y="1270000"/>
            <a:ext cx="3352800" cy="381000"/>
          </a:xfrm>
          <a:prstGeom prst="roundRect">
            <a:avLst>
              <a:gd name="adj" fmla="val 8000"/>
            </a:avLst>
          </a:prstGeom>
          <a:solidFill>
            <a:srgbClr val="F7B801"/>
          </a:solidFill>
          <a:ln>
            <a:noFill/>
          </a:ln>
        </p:spPr>
        <p:txBody>
          <a:bodyPr wrap="square" lIns="101600" tIns="25400" rIns="101600" bIns="25400" anchor="ctr"/>
          <a:lstStyle/>
          <a:p>
            <a:pPr algn="ctr"/>
            <a:r>
              <a:rPr lang="en-US" sz="1467" b="1" dirty="0">
                <a:solidFill>
                  <a:srgbClr val="FFFFFF"/>
                </a:solidFill>
                <a:latin typeface="Poppins"/>
              </a:rPr>
              <a:t>3. Context Overflow</a:t>
            </a:r>
          </a:p>
        </p:txBody>
      </p:sp>
      <p:sp>
        <p:nvSpPr>
          <p:cNvPr id="122" name="RiskBullet2_0"/>
          <p:cNvSpPr/>
          <p:nvPr/>
        </p:nvSpPr>
        <p:spPr>
          <a:xfrm>
            <a:off x="8128000" y="1752600"/>
            <a:ext cx="3098800" cy="406400"/>
          </a:xfrm>
          <a:prstGeom prst="rect">
            <a:avLst/>
          </a:prstGeom>
          <a:noFill/>
          <a:ln>
            <a:noFill/>
          </a:ln>
        </p:spPr>
        <p:txBody>
          <a:bodyPr wrap="square" lIns="0" tIns="0" rIns="0" bIns="0"/>
          <a:lstStyle/>
          <a:p>
            <a:r>
              <a:rPr lang="en-US" sz="1067" dirty="0">
                <a:solidFill>
                  <a:srgbClr val="444444"/>
                </a:solidFill>
                <a:latin typeface="Lato"/>
              </a:rPr>
              <a:t>• Important instructions dropped at token limits</a:t>
            </a:r>
          </a:p>
        </p:txBody>
      </p:sp>
      <p:sp>
        <p:nvSpPr>
          <p:cNvPr id="123" name="RiskBullet2_1"/>
          <p:cNvSpPr/>
          <p:nvPr/>
        </p:nvSpPr>
        <p:spPr>
          <a:xfrm>
            <a:off x="8128000" y="2171700"/>
            <a:ext cx="3098800" cy="406400"/>
          </a:xfrm>
          <a:prstGeom prst="rect">
            <a:avLst/>
          </a:prstGeom>
          <a:noFill/>
          <a:ln>
            <a:noFill/>
          </a:ln>
        </p:spPr>
        <p:txBody>
          <a:bodyPr wrap="square" lIns="0" tIns="0" rIns="0" bIns="0"/>
          <a:lstStyle/>
          <a:p>
            <a:r>
              <a:rPr lang="en-US" sz="1067" dirty="0">
                <a:solidFill>
                  <a:srgbClr val="444444"/>
                </a:solidFill>
                <a:latin typeface="Lato"/>
              </a:rPr>
              <a:t>• Safety guardrails evicted from context</a:t>
            </a:r>
          </a:p>
        </p:txBody>
      </p:sp>
      <p:sp>
        <p:nvSpPr>
          <p:cNvPr id="124" name="RiskBullet2_2"/>
          <p:cNvSpPr/>
          <p:nvPr/>
        </p:nvSpPr>
        <p:spPr>
          <a:xfrm>
            <a:off x="8128000" y="2590800"/>
            <a:ext cx="3098800" cy="406400"/>
          </a:xfrm>
          <a:prstGeom prst="rect">
            <a:avLst/>
          </a:prstGeom>
          <a:noFill/>
          <a:ln>
            <a:noFill/>
          </a:ln>
        </p:spPr>
        <p:txBody>
          <a:bodyPr wrap="square" lIns="0" tIns="0" rIns="0" bIns="0"/>
          <a:lstStyle/>
          <a:p>
            <a:r>
              <a:rPr lang="en-US" sz="1067" dirty="0">
                <a:solidFill>
                  <a:srgbClr val="444444"/>
                </a:solidFill>
                <a:latin typeface="Lato"/>
              </a:rPr>
              <a:t>• Unpredictable behavior when limits exceeded</a:t>
            </a:r>
          </a:p>
        </p:txBody>
      </p:sp>
      <p:sp>
        <p:nvSpPr>
          <p:cNvPr id="150" name="DefHeader"/>
          <p:cNvSpPr/>
          <p:nvPr/>
        </p:nvSpPr>
        <p:spPr>
          <a:xfrm>
            <a:off x="838200" y="3238500"/>
            <a:ext cx="10515600" cy="304800"/>
          </a:xfrm>
          <a:prstGeom prst="rect">
            <a:avLst/>
          </a:prstGeom>
          <a:solidFill>
            <a:srgbClr val="28A745"/>
          </a:solidFill>
          <a:ln>
            <a:noFill/>
          </a:ln>
        </p:spPr>
        <p:txBody>
          <a:bodyPr wrap="square" lIns="101600" tIns="25400" rIns="101600" bIns="25400" anchor="ctr"/>
          <a:lstStyle/>
          <a:p>
            <a:pPr algn="ctr"/>
            <a:r>
              <a:rPr lang="en-US" sz="1467" b="1" dirty="0">
                <a:solidFill>
                  <a:srgbClr val="FFFFFF"/>
                </a:solidFill>
                <a:latin typeface="Poppins"/>
              </a:rPr>
              <a:t>Defense in Depth for Context Security</a:t>
            </a:r>
          </a:p>
        </p:txBody>
      </p:sp>
      <p:sp>
        <p:nvSpPr>
          <p:cNvPr id="160" name="DefBox0"/>
          <p:cNvSpPr/>
          <p:nvPr/>
        </p:nvSpPr>
        <p:spPr>
          <a:xfrm>
            <a:off x="838200" y="3632200"/>
            <a:ext cx="2006600" cy="914400"/>
          </a:xfrm>
          <a:prstGeom prst="roundRect">
            <a:avLst>
              <a:gd name="adj" fmla="val 6000"/>
            </a:avLst>
          </a:prstGeom>
          <a:solidFill>
            <a:srgbClr val="E8F5E9"/>
          </a:solidFill>
          <a:ln w="12700">
            <a:solidFill>
              <a:srgbClr val="28A745"/>
            </a:solidFill>
          </a:ln>
        </p:spPr>
        <p:txBody>
          <a:bodyPr/>
          <a:lstStyle/>
          <a:p>
            <a:endParaRPr lang="en-US"/>
          </a:p>
        </p:txBody>
      </p:sp>
      <p:sp>
        <p:nvSpPr>
          <p:cNvPr id="161" name="DefCircle0"/>
          <p:cNvSpPr/>
          <p:nvPr/>
        </p:nvSpPr>
        <p:spPr>
          <a:xfrm>
            <a:off x="1689100" y="3695700"/>
            <a:ext cx="304800" cy="304800"/>
          </a:xfrm>
          <a:prstGeom prst="ellipse">
            <a:avLst/>
          </a:prstGeom>
          <a:solidFill>
            <a:srgbClr val="28A745"/>
          </a:solidFill>
          <a:ln>
            <a:noFill/>
          </a:ln>
        </p:spPr>
        <p:txBody>
          <a:bodyPr wrap="none" lIns="0" tIns="0" rIns="0" bIns="0" anchor="ctr"/>
          <a:lstStyle/>
          <a:p>
            <a:pPr algn="ctr"/>
            <a:r>
              <a:rPr lang="en-US" sz="1067" b="1" dirty="0">
                <a:solidFill>
                  <a:srgbClr val="FFFFFF"/>
                </a:solidFill>
                <a:latin typeface="Poppins"/>
              </a:rPr>
              <a:t>1</a:t>
            </a:r>
          </a:p>
        </p:txBody>
      </p:sp>
      <p:sp>
        <p:nvSpPr>
          <p:cNvPr id="162" name="DefTitle0"/>
          <p:cNvSpPr/>
          <p:nvPr/>
        </p:nvSpPr>
        <p:spPr>
          <a:xfrm>
            <a:off x="889000" y="4038600"/>
            <a:ext cx="1905000" cy="203200"/>
          </a:xfrm>
          <a:prstGeom prst="rect">
            <a:avLst/>
          </a:prstGeom>
          <a:noFill/>
          <a:ln>
            <a:noFill/>
          </a:ln>
        </p:spPr>
        <p:txBody>
          <a:bodyPr wrap="square" lIns="0" tIns="0" rIns="0" bIns="0"/>
          <a:lstStyle/>
          <a:p>
            <a:pPr algn="ctr"/>
            <a:r>
              <a:rPr lang="en-US" sz="1200" b="1" dirty="0">
                <a:solidFill>
                  <a:srgbClr val="003366"/>
                </a:solidFill>
                <a:latin typeface="Poppins"/>
              </a:rPr>
              <a:t>Input Sanitization</a:t>
            </a:r>
          </a:p>
        </p:txBody>
      </p:sp>
      <p:sp>
        <p:nvSpPr>
          <p:cNvPr id="163" name="DefDesc0"/>
          <p:cNvSpPr/>
          <p:nvPr/>
        </p:nvSpPr>
        <p:spPr>
          <a:xfrm>
            <a:off x="889000" y="4241800"/>
            <a:ext cx="1905000" cy="254000"/>
          </a:xfrm>
          <a:prstGeom prst="rect">
            <a:avLst/>
          </a:prstGeom>
          <a:noFill/>
          <a:ln>
            <a:noFill/>
          </a:ln>
        </p:spPr>
        <p:txBody>
          <a:bodyPr wrap="square" lIns="0" tIns="0" rIns="0" bIns="0"/>
          <a:lstStyle/>
          <a:p>
            <a:pPr algn="ctr"/>
            <a:r>
              <a:rPr lang="en-US" sz="1067" dirty="0">
                <a:solidFill>
                  <a:srgbClr val="444444"/>
                </a:solidFill>
                <a:latin typeface="Lato"/>
              </a:rPr>
              <a:t>Scan and validate all context inputs</a:t>
            </a:r>
          </a:p>
        </p:txBody>
      </p:sp>
      <p:sp>
        <p:nvSpPr>
          <p:cNvPr id="164" name="DefBox1"/>
          <p:cNvSpPr/>
          <p:nvPr/>
        </p:nvSpPr>
        <p:spPr>
          <a:xfrm>
            <a:off x="2946400" y="3632200"/>
            <a:ext cx="2006600" cy="914400"/>
          </a:xfrm>
          <a:prstGeom prst="roundRect">
            <a:avLst>
              <a:gd name="adj" fmla="val 6000"/>
            </a:avLst>
          </a:prstGeom>
          <a:solidFill>
            <a:srgbClr val="E8F5E9"/>
          </a:solidFill>
          <a:ln w="12700">
            <a:solidFill>
              <a:srgbClr val="28A745"/>
            </a:solidFill>
          </a:ln>
        </p:spPr>
        <p:txBody>
          <a:bodyPr/>
          <a:lstStyle/>
          <a:p>
            <a:endParaRPr lang="en-US"/>
          </a:p>
        </p:txBody>
      </p:sp>
      <p:sp>
        <p:nvSpPr>
          <p:cNvPr id="165" name="DefCircle1"/>
          <p:cNvSpPr/>
          <p:nvPr/>
        </p:nvSpPr>
        <p:spPr>
          <a:xfrm>
            <a:off x="3797300" y="3695700"/>
            <a:ext cx="304800" cy="304800"/>
          </a:xfrm>
          <a:prstGeom prst="ellipse">
            <a:avLst/>
          </a:prstGeom>
          <a:solidFill>
            <a:srgbClr val="28A745"/>
          </a:solidFill>
          <a:ln>
            <a:noFill/>
          </a:ln>
        </p:spPr>
        <p:txBody>
          <a:bodyPr wrap="none" lIns="0" tIns="0" rIns="0" bIns="0" anchor="ctr"/>
          <a:lstStyle/>
          <a:p>
            <a:pPr algn="ctr"/>
            <a:r>
              <a:rPr lang="en-US" sz="1067" b="1" dirty="0">
                <a:solidFill>
                  <a:srgbClr val="FFFFFF"/>
                </a:solidFill>
                <a:latin typeface="Poppins"/>
              </a:rPr>
              <a:t>2</a:t>
            </a:r>
          </a:p>
        </p:txBody>
      </p:sp>
      <p:sp>
        <p:nvSpPr>
          <p:cNvPr id="166" name="DefTitle1"/>
          <p:cNvSpPr/>
          <p:nvPr/>
        </p:nvSpPr>
        <p:spPr>
          <a:xfrm>
            <a:off x="2997200" y="4038600"/>
            <a:ext cx="1905000" cy="203200"/>
          </a:xfrm>
          <a:prstGeom prst="rect">
            <a:avLst/>
          </a:prstGeom>
          <a:noFill/>
          <a:ln>
            <a:noFill/>
          </a:ln>
        </p:spPr>
        <p:txBody>
          <a:bodyPr wrap="square" lIns="0" tIns="0" rIns="0" bIns="0"/>
          <a:lstStyle/>
          <a:p>
            <a:pPr algn="ctr"/>
            <a:r>
              <a:rPr lang="en-US" sz="1200" b="1" dirty="0">
                <a:solidFill>
                  <a:srgbClr val="003366"/>
                </a:solidFill>
                <a:latin typeface="Poppins"/>
              </a:rPr>
              <a:t>Context Isolation</a:t>
            </a:r>
          </a:p>
        </p:txBody>
      </p:sp>
      <p:sp>
        <p:nvSpPr>
          <p:cNvPr id="167" name="DefDesc1"/>
          <p:cNvSpPr/>
          <p:nvPr/>
        </p:nvSpPr>
        <p:spPr>
          <a:xfrm>
            <a:off x="2997200" y="4241800"/>
            <a:ext cx="1905000" cy="254000"/>
          </a:xfrm>
          <a:prstGeom prst="rect">
            <a:avLst/>
          </a:prstGeom>
          <a:noFill/>
          <a:ln>
            <a:noFill/>
          </a:ln>
        </p:spPr>
        <p:txBody>
          <a:bodyPr wrap="square" lIns="0" tIns="0" rIns="0" bIns="0"/>
          <a:lstStyle/>
          <a:p>
            <a:pPr algn="ctr"/>
            <a:r>
              <a:rPr lang="en-US" sz="1067" dirty="0">
                <a:solidFill>
                  <a:srgbClr val="444444"/>
                </a:solidFill>
                <a:latin typeface="Lato"/>
              </a:rPr>
              <a:t>Separate user contexts; no cross-contamination</a:t>
            </a:r>
          </a:p>
        </p:txBody>
      </p:sp>
      <p:sp>
        <p:nvSpPr>
          <p:cNvPr id="168" name="DefBox2"/>
          <p:cNvSpPr/>
          <p:nvPr/>
        </p:nvSpPr>
        <p:spPr>
          <a:xfrm>
            <a:off x="5054600" y="3632200"/>
            <a:ext cx="2006600" cy="914400"/>
          </a:xfrm>
          <a:prstGeom prst="roundRect">
            <a:avLst>
              <a:gd name="adj" fmla="val 6000"/>
            </a:avLst>
          </a:prstGeom>
          <a:solidFill>
            <a:srgbClr val="E8F5E9"/>
          </a:solidFill>
          <a:ln w="12700">
            <a:solidFill>
              <a:srgbClr val="28A745"/>
            </a:solidFill>
          </a:ln>
        </p:spPr>
        <p:txBody>
          <a:bodyPr/>
          <a:lstStyle/>
          <a:p>
            <a:endParaRPr lang="en-US"/>
          </a:p>
        </p:txBody>
      </p:sp>
      <p:sp>
        <p:nvSpPr>
          <p:cNvPr id="169" name="DefCircle2"/>
          <p:cNvSpPr/>
          <p:nvPr/>
        </p:nvSpPr>
        <p:spPr>
          <a:xfrm>
            <a:off x="5905500" y="3695700"/>
            <a:ext cx="304800" cy="304800"/>
          </a:xfrm>
          <a:prstGeom prst="ellipse">
            <a:avLst/>
          </a:prstGeom>
          <a:solidFill>
            <a:srgbClr val="28A745"/>
          </a:solidFill>
          <a:ln>
            <a:noFill/>
          </a:ln>
        </p:spPr>
        <p:txBody>
          <a:bodyPr wrap="none" lIns="0" tIns="0" rIns="0" bIns="0" anchor="ctr"/>
          <a:lstStyle/>
          <a:p>
            <a:pPr algn="ctr"/>
            <a:r>
              <a:rPr lang="en-US" sz="1067" b="1" dirty="0">
                <a:solidFill>
                  <a:srgbClr val="FFFFFF"/>
                </a:solidFill>
                <a:latin typeface="Poppins"/>
              </a:rPr>
              <a:t>3</a:t>
            </a:r>
          </a:p>
        </p:txBody>
      </p:sp>
      <p:sp>
        <p:nvSpPr>
          <p:cNvPr id="170" name="DefTitle2"/>
          <p:cNvSpPr/>
          <p:nvPr/>
        </p:nvSpPr>
        <p:spPr>
          <a:xfrm>
            <a:off x="5105400" y="4038600"/>
            <a:ext cx="1905000" cy="203200"/>
          </a:xfrm>
          <a:prstGeom prst="rect">
            <a:avLst/>
          </a:prstGeom>
          <a:noFill/>
          <a:ln>
            <a:noFill/>
          </a:ln>
        </p:spPr>
        <p:txBody>
          <a:bodyPr wrap="square" lIns="0" tIns="0" rIns="0" bIns="0"/>
          <a:lstStyle/>
          <a:p>
            <a:pPr algn="ctr"/>
            <a:r>
              <a:rPr lang="en-US" sz="1200" b="1" dirty="0">
                <a:solidFill>
                  <a:srgbClr val="003366"/>
                </a:solidFill>
                <a:latin typeface="Poppins"/>
              </a:rPr>
              <a:t>Token Budget Mgmt</a:t>
            </a:r>
          </a:p>
        </p:txBody>
      </p:sp>
      <p:sp>
        <p:nvSpPr>
          <p:cNvPr id="171" name="DefDesc2"/>
          <p:cNvSpPr/>
          <p:nvPr/>
        </p:nvSpPr>
        <p:spPr>
          <a:xfrm>
            <a:off x="5105400" y="4241800"/>
            <a:ext cx="1905000" cy="254000"/>
          </a:xfrm>
          <a:prstGeom prst="rect">
            <a:avLst/>
          </a:prstGeom>
          <a:noFill/>
          <a:ln>
            <a:noFill/>
          </a:ln>
        </p:spPr>
        <p:txBody>
          <a:bodyPr wrap="square" lIns="0" tIns="0" rIns="0" bIns="0"/>
          <a:lstStyle/>
          <a:p>
            <a:pPr algn="ctr"/>
            <a:r>
              <a:rPr lang="en-US" sz="1067" dirty="0">
                <a:solidFill>
                  <a:srgbClr val="444444"/>
                </a:solidFill>
                <a:latin typeface="Lato"/>
              </a:rPr>
              <a:t>Reserve space for critical instructions</a:t>
            </a:r>
          </a:p>
        </p:txBody>
      </p:sp>
      <p:sp>
        <p:nvSpPr>
          <p:cNvPr id="172" name="DefBox3"/>
          <p:cNvSpPr/>
          <p:nvPr/>
        </p:nvSpPr>
        <p:spPr>
          <a:xfrm>
            <a:off x="7162800" y="3632200"/>
            <a:ext cx="2006600" cy="914400"/>
          </a:xfrm>
          <a:prstGeom prst="roundRect">
            <a:avLst>
              <a:gd name="adj" fmla="val 6000"/>
            </a:avLst>
          </a:prstGeom>
          <a:solidFill>
            <a:srgbClr val="E8F5E9"/>
          </a:solidFill>
          <a:ln w="12700">
            <a:solidFill>
              <a:srgbClr val="28A745"/>
            </a:solidFill>
          </a:ln>
        </p:spPr>
        <p:txBody>
          <a:bodyPr/>
          <a:lstStyle/>
          <a:p>
            <a:endParaRPr lang="en-US"/>
          </a:p>
        </p:txBody>
      </p:sp>
      <p:sp>
        <p:nvSpPr>
          <p:cNvPr id="173" name="DefCircle3"/>
          <p:cNvSpPr/>
          <p:nvPr/>
        </p:nvSpPr>
        <p:spPr>
          <a:xfrm>
            <a:off x="8013700" y="3695700"/>
            <a:ext cx="304800" cy="304800"/>
          </a:xfrm>
          <a:prstGeom prst="ellipse">
            <a:avLst/>
          </a:prstGeom>
          <a:solidFill>
            <a:srgbClr val="28A745"/>
          </a:solidFill>
          <a:ln>
            <a:noFill/>
          </a:ln>
        </p:spPr>
        <p:txBody>
          <a:bodyPr wrap="none" lIns="0" tIns="0" rIns="0" bIns="0" anchor="ctr"/>
          <a:lstStyle/>
          <a:p>
            <a:pPr algn="ctr"/>
            <a:r>
              <a:rPr lang="en-US" sz="1067" b="1" dirty="0">
                <a:solidFill>
                  <a:srgbClr val="FFFFFF"/>
                </a:solidFill>
                <a:latin typeface="Poppins"/>
              </a:rPr>
              <a:t>4</a:t>
            </a:r>
          </a:p>
        </p:txBody>
      </p:sp>
      <p:sp>
        <p:nvSpPr>
          <p:cNvPr id="174" name="DefTitle3"/>
          <p:cNvSpPr/>
          <p:nvPr/>
        </p:nvSpPr>
        <p:spPr>
          <a:xfrm>
            <a:off x="7213600" y="4038600"/>
            <a:ext cx="1905000" cy="203200"/>
          </a:xfrm>
          <a:prstGeom prst="rect">
            <a:avLst/>
          </a:prstGeom>
          <a:noFill/>
          <a:ln>
            <a:noFill/>
          </a:ln>
        </p:spPr>
        <p:txBody>
          <a:bodyPr wrap="square" lIns="0" tIns="0" rIns="0" bIns="0"/>
          <a:lstStyle/>
          <a:p>
            <a:pPr algn="ctr"/>
            <a:r>
              <a:rPr lang="en-US" sz="1200" b="1" dirty="0">
                <a:solidFill>
                  <a:srgbClr val="003366"/>
                </a:solidFill>
                <a:latin typeface="Poppins"/>
              </a:rPr>
              <a:t>Output Filtering</a:t>
            </a:r>
          </a:p>
        </p:txBody>
      </p:sp>
      <p:sp>
        <p:nvSpPr>
          <p:cNvPr id="175" name="DefDesc3"/>
          <p:cNvSpPr/>
          <p:nvPr/>
        </p:nvSpPr>
        <p:spPr>
          <a:xfrm>
            <a:off x="7213600" y="4241800"/>
            <a:ext cx="1905000" cy="254000"/>
          </a:xfrm>
          <a:prstGeom prst="rect">
            <a:avLst/>
          </a:prstGeom>
          <a:noFill/>
          <a:ln>
            <a:noFill/>
          </a:ln>
        </p:spPr>
        <p:txBody>
          <a:bodyPr wrap="square" lIns="0" tIns="0" rIns="0" bIns="0"/>
          <a:lstStyle/>
          <a:p>
            <a:pPr algn="ctr"/>
            <a:r>
              <a:rPr lang="en-US" sz="1067" dirty="0">
                <a:solidFill>
                  <a:srgbClr val="444444"/>
                </a:solidFill>
                <a:latin typeface="Lato"/>
              </a:rPr>
              <a:t>Redact sensitive data before responses</a:t>
            </a:r>
          </a:p>
        </p:txBody>
      </p:sp>
      <p:sp>
        <p:nvSpPr>
          <p:cNvPr id="176" name="DefBox4"/>
          <p:cNvSpPr/>
          <p:nvPr/>
        </p:nvSpPr>
        <p:spPr>
          <a:xfrm>
            <a:off x="9271000" y="3632200"/>
            <a:ext cx="2006600" cy="914400"/>
          </a:xfrm>
          <a:prstGeom prst="roundRect">
            <a:avLst>
              <a:gd name="adj" fmla="val 6000"/>
            </a:avLst>
          </a:prstGeom>
          <a:solidFill>
            <a:srgbClr val="E8F5E9"/>
          </a:solidFill>
          <a:ln w="12700">
            <a:solidFill>
              <a:srgbClr val="28A745"/>
            </a:solidFill>
          </a:ln>
        </p:spPr>
        <p:txBody>
          <a:bodyPr/>
          <a:lstStyle/>
          <a:p>
            <a:endParaRPr lang="en-US"/>
          </a:p>
        </p:txBody>
      </p:sp>
      <p:sp>
        <p:nvSpPr>
          <p:cNvPr id="177" name="DefCircle4"/>
          <p:cNvSpPr/>
          <p:nvPr/>
        </p:nvSpPr>
        <p:spPr>
          <a:xfrm>
            <a:off x="10121900" y="3695700"/>
            <a:ext cx="304800" cy="304800"/>
          </a:xfrm>
          <a:prstGeom prst="ellipse">
            <a:avLst/>
          </a:prstGeom>
          <a:solidFill>
            <a:srgbClr val="28A745"/>
          </a:solidFill>
          <a:ln>
            <a:noFill/>
          </a:ln>
        </p:spPr>
        <p:txBody>
          <a:bodyPr wrap="none" lIns="0" tIns="0" rIns="0" bIns="0" anchor="ctr"/>
          <a:lstStyle/>
          <a:p>
            <a:pPr algn="ctr"/>
            <a:r>
              <a:rPr lang="en-US" sz="1067" b="1" dirty="0">
                <a:solidFill>
                  <a:srgbClr val="FFFFFF"/>
                </a:solidFill>
                <a:latin typeface="Poppins"/>
              </a:rPr>
              <a:t>5</a:t>
            </a:r>
          </a:p>
        </p:txBody>
      </p:sp>
      <p:sp>
        <p:nvSpPr>
          <p:cNvPr id="178" name="DefTitle4"/>
          <p:cNvSpPr/>
          <p:nvPr/>
        </p:nvSpPr>
        <p:spPr>
          <a:xfrm>
            <a:off x="9321800" y="4038600"/>
            <a:ext cx="1905000" cy="203200"/>
          </a:xfrm>
          <a:prstGeom prst="rect">
            <a:avLst/>
          </a:prstGeom>
          <a:noFill/>
          <a:ln>
            <a:noFill/>
          </a:ln>
        </p:spPr>
        <p:txBody>
          <a:bodyPr wrap="square" lIns="0" tIns="0" rIns="0" bIns="0"/>
          <a:lstStyle/>
          <a:p>
            <a:pPr algn="ctr"/>
            <a:r>
              <a:rPr lang="en-US" sz="1200" b="1" dirty="0">
                <a:solidFill>
                  <a:srgbClr val="003366"/>
                </a:solidFill>
                <a:latin typeface="Poppins"/>
              </a:rPr>
              <a:t>Audit Logging</a:t>
            </a:r>
          </a:p>
        </p:txBody>
      </p:sp>
      <p:sp>
        <p:nvSpPr>
          <p:cNvPr id="179" name="DefDesc4"/>
          <p:cNvSpPr/>
          <p:nvPr/>
        </p:nvSpPr>
        <p:spPr>
          <a:xfrm>
            <a:off x="9321800" y="4241800"/>
            <a:ext cx="1905000" cy="254000"/>
          </a:xfrm>
          <a:prstGeom prst="rect">
            <a:avLst/>
          </a:prstGeom>
          <a:noFill/>
          <a:ln>
            <a:noFill/>
          </a:ln>
        </p:spPr>
        <p:txBody>
          <a:bodyPr wrap="square" lIns="0" tIns="0" rIns="0" bIns="0"/>
          <a:lstStyle/>
          <a:p>
            <a:pPr algn="ctr"/>
            <a:r>
              <a:rPr lang="en-US" sz="1067" dirty="0">
                <a:solidFill>
                  <a:srgbClr val="444444"/>
                </a:solidFill>
                <a:latin typeface="Lato"/>
              </a:rPr>
              <a:t>Track context changes for forensics</a:t>
            </a:r>
          </a:p>
        </p:txBody>
      </p:sp>
      <p:sp>
        <p:nvSpPr>
          <p:cNvPr id="200" name="BestPractices"/>
          <p:cNvSpPr/>
          <p:nvPr/>
        </p:nvSpPr>
        <p:spPr>
          <a:xfrm>
            <a:off x="838200" y="4699000"/>
            <a:ext cx="10515600" cy="279400"/>
          </a:xfrm>
          <a:prstGeom prst="rect">
            <a:avLst/>
          </a:prstGeom>
          <a:noFill/>
          <a:ln>
            <a:noFill/>
          </a:ln>
        </p:spPr>
        <p:txBody>
          <a:bodyPr wrap="square" lIns="0" tIns="0" rIns="0" bIns="0"/>
          <a:lstStyle/>
          <a:p>
            <a:r>
              <a:rPr lang="en-US" sz="1333" b="1" dirty="0">
                <a:solidFill>
                  <a:srgbClr val="333333"/>
                </a:solidFill>
                <a:latin typeface="Poppins"/>
              </a:rPr>
              <a:t>Best Practices</a:t>
            </a:r>
          </a:p>
        </p:txBody>
      </p:sp>
      <p:sp>
        <p:nvSpPr>
          <p:cNvPr id="210" name="BPBox0"/>
          <p:cNvSpPr/>
          <p:nvPr/>
        </p:nvSpPr>
        <p:spPr>
          <a:xfrm>
            <a:off x="838200" y="5029200"/>
            <a:ext cx="3403600" cy="736600"/>
          </a:xfrm>
          <a:prstGeom prst="roundRect">
            <a:avLst>
              <a:gd name="adj" fmla="val 6000"/>
            </a:avLst>
          </a:prstGeom>
          <a:solidFill>
            <a:srgbClr val="F5F5F5"/>
          </a:solidFill>
          <a:ln w="12700">
            <a:solidFill>
              <a:srgbClr val="CCCCCC"/>
            </a:solidFill>
          </a:ln>
        </p:spPr>
        <p:txBody>
          <a:bodyPr/>
          <a:lstStyle/>
          <a:p>
            <a:endParaRPr lang="en-US"/>
          </a:p>
        </p:txBody>
      </p:sp>
      <p:sp>
        <p:nvSpPr>
          <p:cNvPr id="211" name="BPTitle0"/>
          <p:cNvSpPr/>
          <p:nvPr/>
        </p:nvSpPr>
        <p:spPr>
          <a:xfrm>
            <a:off x="965200" y="5105400"/>
            <a:ext cx="3149600" cy="228600"/>
          </a:xfrm>
          <a:prstGeom prst="rect">
            <a:avLst/>
          </a:prstGeom>
          <a:noFill/>
          <a:ln>
            <a:noFill/>
          </a:ln>
        </p:spPr>
        <p:txBody>
          <a:bodyPr wrap="square" lIns="0" tIns="0" rIns="0" bIns="0"/>
          <a:lstStyle/>
          <a:p>
            <a:r>
              <a:rPr lang="en-US" sz="1200" b="1" dirty="0">
                <a:solidFill>
                  <a:srgbClr val="003366"/>
                </a:solidFill>
                <a:latin typeface="Poppins"/>
              </a:rPr>
              <a:t>🔒 Least Privilege Context</a:t>
            </a:r>
          </a:p>
        </p:txBody>
      </p:sp>
      <p:sp>
        <p:nvSpPr>
          <p:cNvPr id="212" name="BPDesc0"/>
          <p:cNvSpPr/>
          <p:nvPr/>
        </p:nvSpPr>
        <p:spPr>
          <a:xfrm>
            <a:off x="965200" y="5384800"/>
            <a:ext cx="3149600" cy="304800"/>
          </a:xfrm>
          <a:prstGeom prst="rect">
            <a:avLst/>
          </a:prstGeom>
          <a:noFill/>
          <a:ln>
            <a:noFill/>
          </a:ln>
        </p:spPr>
        <p:txBody>
          <a:bodyPr wrap="square" lIns="0" tIns="0" rIns="0" bIns="0"/>
          <a:lstStyle/>
          <a:p>
            <a:r>
              <a:rPr lang="en-US" sz="1067" dirty="0">
                <a:solidFill>
                  <a:srgbClr val="666666"/>
                </a:solidFill>
                <a:latin typeface="Lato"/>
              </a:rPr>
              <a:t>Only include data the model needs to complete its task</a:t>
            </a:r>
          </a:p>
        </p:txBody>
      </p:sp>
      <p:sp>
        <p:nvSpPr>
          <p:cNvPr id="213" name="BPBox1"/>
          <p:cNvSpPr/>
          <p:nvPr/>
        </p:nvSpPr>
        <p:spPr>
          <a:xfrm>
            <a:off x="4394200" y="5029200"/>
            <a:ext cx="3403600" cy="736600"/>
          </a:xfrm>
          <a:prstGeom prst="roundRect">
            <a:avLst>
              <a:gd name="adj" fmla="val 6000"/>
            </a:avLst>
          </a:prstGeom>
          <a:solidFill>
            <a:srgbClr val="F5F5F5"/>
          </a:solidFill>
          <a:ln w="12700">
            <a:solidFill>
              <a:srgbClr val="CCCCCC"/>
            </a:solidFill>
          </a:ln>
        </p:spPr>
        <p:txBody>
          <a:bodyPr/>
          <a:lstStyle/>
          <a:p>
            <a:endParaRPr lang="en-US"/>
          </a:p>
        </p:txBody>
      </p:sp>
      <p:sp>
        <p:nvSpPr>
          <p:cNvPr id="214" name="BPTitle1"/>
          <p:cNvSpPr/>
          <p:nvPr/>
        </p:nvSpPr>
        <p:spPr>
          <a:xfrm>
            <a:off x="4521200" y="5105400"/>
            <a:ext cx="3149600" cy="228600"/>
          </a:xfrm>
          <a:prstGeom prst="rect">
            <a:avLst/>
          </a:prstGeom>
          <a:noFill/>
          <a:ln>
            <a:noFill/>
          </a:ln>
        </p:spPr>
        <p:txBody>
          <a:bodyPr wrap="square" lIns="0" tIns="0" rIns="0" bIns="0"/>
          <a:lstStyle/>
          <a:p>
            <a:r>
              <a:rPr lang="en-US" sz="1200" b="1" dirty="0">
                <a:solidFill>
                  <a:srgbClr val="003366"/>
                </a:solidFill>
                <a:latin typeface="Poppins"/>
              </a:rPr>
              <a:t>🔐 Context Encryption</a:t>
            </a:r>
          </a:p>
        </p:txBody>
      </p:sp>
      <p:sp>
        <p:nvSpPr>
          <p:cNvPr id="215" name="BPDesc1"/>
          <p:cNvSpPr/>
          <p:nvPr/>
        </p:nvSpPr>
        <p:spPr>
          <a:xfrm>
            <a:off x="4521200" y="5384800"/>
            <a:ext cx="3149600" cy="304800"/>
          </a:xfrm>
          <a:prstGeom prst="rect">
            <a:avLst/>
          </a:prstGeom>
          <a:noFill/>
          <a:ln>
            <a:noFill/>
          </a:ln>
        </p:spPr>
        <p:txBody>
          <a:bodyPr wrap="square" lIns="0" tIns="0" rIns="0" bIns="0"/>
          <a:lstStyle/>
          <a:p>
            <a:r>
              <a:rPr lang="en-US" sz="1067" dirty="0">
                <a:solidFill>
                  <a:srgbClr val="666666"/>
                </a:solidFill>
                <a:latin typeface="Lato"/>
              </a:rPr>
              <a:t>Encrypt sensitive context data at rest and in transit</a:t>
            </a:r>
          </a:p>
        </p:txBody>
      </p:sp>
      <p:sp>
        <p:nvSpPr>
          <p:cNvPr id="216" name="BPBox2"/>
          <p:cNvSpPr/>
          <p:nvPr/>
        </p:nvSpPr>
        <p:spPr>
          <a:xfrm>
            <a:off x="7950200" y="5029200"/>
            <a:ext cx="3403600" cy="736600"/>
          </a:xfrm>
          <a:prstGeom prst="roundRect">
            <a:avLst>
              <a:gd name="adj" fmla="val 6000"/>
            </a:avLst>
          </a:prstGeom>
          <a:solidFill>
            <a:srgbClr val="F5F5F5"/>
          </a:solidFill>
          <a:ln w="12700">
            <a:solidFill>
              <a:srgbClr val="CCCCCC"/>
            </a:solidFill>
          </a:ln>
        </p:spPr>
        <p:txBody>
          <a:bodyPr/>
          <a:lstStyle/>
          <a:p>
            <a:endParaRPr lang="en-US"/>
          </a:p>
        </p:txBody>
      </p:sp>
      <p:sp>
        <p:nvSpPr>
          <p:cNvPr id="217" name="BPTitle2"/>
          <p:cNvSpPr/>
          <p:nvPr/>
        </p:nvSpPr>
        <p:spPr>
          <a:xfrm>
            <a:off x="8077200" y="5105400"/>
            <a:ext cx="3149600" cy="228600"/>
          </a:xfrm>
          <a:prstGeom prst="rect">
            <a:avLst/>
          </a:prstGeom>
          <a:noFill/>
          <a:ln>
            <a:noFill/>
          </a:ln>
        </p:spPr>
        <p:txBody>
          <a:bodyPr wrap="square" lIns="0" tIns="0" rIns="0" bIns="0"/>
          <a:lstStyle/>
          <a:p>
            <a:r>
              <a:rPr lang="en-US" sz="1200" b="1" dirty="0">
                <a:solidFill>
                  <a:srgbClr val="003366"/>
                </a:solidFill>
                <a:latin typeface="Poppins"/>
              </a:rPr>
              <a:t>📋 Regular Context Audits</a:t>
            </a:r>
          </a:p>
        </p:txBody>
      </p:sp>
      <p:sp>
        <p:nvSpPr>
          <p:cNvPr id="218" name="BPDesc2"/>
          <p:cNvSpPr/>
          <p:nvPr/>
        </p:nvSpPr>
        <p:spPr>
          <a:xfrm>
            <a:off x="8077200" y="5384800"/>
            <a:ext cx="3149600" cy="304800"/>
          </a:xfrm>
          <a:prstGeom prst="rect">
            <a:avLst/>
          </a:prstGeom>
          <a:noFill/>
          <a:ln>
            <a:noFill/>
          </a:ln>
        </p:spPr>
        <p:txBody>
          <a:bodyPr wrap="square" lIns="0" tIns="0" rIns="0" bIns="0"/>
          <a:lstStyle/>
          <a:p>
            <a:r>
              <a:rPr lang="en-US" sz="1067" dirty="0">
                <a:solidFill>
                  <a:srgbClr val="666666"/>
                </a:solidFill>
                <a:latin typeface="Lato"/>
              </a:rPr>
              <a:t>Review what's being stored and for how long</a:t>
            </a:r>
          </a:p>
        </p:txBody>
      </p:sp>
      <p:sp>
        <p:nvSpPr>
          <p:cNvPr id="250" name="Divider"/>
          <p:cNvSpPr/>
          <p:nvPr/>
        </p:nvSpPr>
        <p:spPr>
          <a:xfrm>
            <a:off x="977900" y="6159500"/>
            <a:ext cx="10236200" cy="12700"/>
          </a:xfrm>
          <a:prstGeom prst="rect">
            <a:avLst/>
          </a:prstGeom>
          <a:solidFill>
            <a:srgbClr val="00A79D"/>
          </a:solidFill>
          <a:ln>
            <a:noFill/>
          </a:ln>
        </p:spPr>
        <p:txBody>
          <a:bodyPr/>
          <a:lstStyle/>
          <a:p>
            <a:endParaRPr lang="en-US"/>
          </a:p>
        </p:txBody>
      </p:sp>
    </p:spTree>
    <p:extLst>
      <p:ext uri="{BB962C8B-B14F-4D97-AF65-F5344CB8AC3E}">
        <p14:creationId xmlns:p14="http://schemas.microsoft.com/office/powerpoint/2010/main" val="1441168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858</Words>
  <Application>Microsoft Macintosh PowerPoint</Application>
  <PresentationFormat>Widescreen</PresentationFormat>
  <Paragraphs>130</Paragraphs>
  <Slides>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Aptos</vt:lpstr>
      <vt:lpstr>Aptos Display</vt:lpstr>
      <vt:lpstr>Arial</vt:lpstr>
      <vt:lpstr>Courier New</vt:lpstr>
      <vt:lpstr>Lato</vt:lpstr>
      <vt:lpstr>Poppins</vt:lpstr>
      <vt:lpstr>Wingdings</vt:lpstr>
      <vt:lpstr>Office Theme</vt:lpstr>
      <vt:lpstr>PowerPoint Presentation</vt:lpstr>
      <vt:lpstr>"This isn't funny."</vt:lpstr>
      <vt:lpstr>"This isn't funny."</vt:lpstr>
      <vt:lpstr>What the post claimed – and what the follow-ups clarified</vt:lpstr>
      <vt:lpstr>What the post claimed – and what the follow-ups clarified</vt:lpstr>
      <vt:lpstr>Context &amp; Context Engineering</vt:lpstr>
      <vt:lpstr>Context Rot</vt:lpstr>
      <vt:lpstr>Context Risk &amp; Defenses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Brent Laster</dc:creator>
  <cp:lastModifiedBy>Brent Laster</cp:lastModifiedBy>
  <cp:revision>1</cp:revision>
  <dcterms:created xsi:type="dcterms:W3CDTF">2026-04-08T17:41:14Z</dcterms:created>
  <dcterms:modified xsi:type="dcterms:W3CDTF">2026-04-08T17:46:06Z</dcterms:modified>
</cp:coreProperties>
</file>