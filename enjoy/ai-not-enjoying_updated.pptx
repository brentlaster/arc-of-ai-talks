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app0.xml" ContentType="application/vnd.openxmlformats-officedocument.extended-properties+xml"/>
</Types>
</file>

<file path=_rels/.rels><?xml version="1.0" encoding="utf-8"?>
<Relationships xmlns="http://schemas.openxmlformats.org/package/2006/relationships">
  <Relationship Id="rId3" Type="http://schemas.openxmlformats.org/package/2006/relationships/metadata/core-properties" Target="docProps/core.xml"/>
  <Relationship Id="rId2" Type="http://schemas.openxmlformats.org/officeDocument/2006/relationships/officeDocument" Target="ppt/presentation.xml"/>
  <Relationship Id="rId1" Type="http://schemas.microsoft.com/office/2011/relationships/webextensiontaskpanes" Target="ppt/webextensions/taskpanes.xml"/>
  <Relationship Id="rId5" Type="http://schemas.openxmlformats.org/package/2006/relationships/metadata/extended-properties" Target="docProps/app0.xml"/>
  <Relationship Id="rId4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4052" r:id="rId1"/>
  </p:sldMasterIdLst>
  <p:notesMasterIdLst>
    <p:notesMasterId r:id="rId46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301" r:id="rId52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</p:sldIdLst>
  <p:sldSz cx="12192000" cy="6858000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400" kern="1200">
        <a:solidFill>
          <a:srgbClr val="292929"/>
        </a:solidFill>
        <a:latin typeface="Arial" pitchFamily="34" charset="0"/>
        <a:ea typeface="ＭＳ Ｐゴシック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400" kern="1200">
        <a:solidFill>
          <a:srgbClr val="292929"/>
        </a:solidFill>
        <a:latin typeface="Arial" pitchFamily="34" charset="0"/>
        <a:ea typeface="ＭＳ Ｐゴシック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400" kern="1200">
        <a:solidFill>
          <a:srgbClr val="292929"/>
        </a:solidFill>
        <a:latin typeface="Arial" pitchFamily="34" charset="0"/>
        <a:ea typeface="ＭＳ Ｐゴシック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400" kern="1200">
        <a:solidFill>
          <a:srgbClr val="292929"/>
        </a:solidFill>
        <a:latin typeface="Arial" pitchFamily="34" charset="0"/>
        <a:ea typeface="ＭＳ Ｐゴシック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400" kern="1200">
        <a:solidFill>
          <a:srgbClr val="292929"/>
        </a:solidFill>
        <a:latin typeface="Arial" pitchFamily="34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sz="1400" kern="1200">
        <a:solidFill>
          <a:srgbClr val="292929"/>
        </a:solidFill>
        <a:latin typeface="Arial" pitchFamily="34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sz="1400" kern="1200">
        <a:solidFill>
          <a:srgbClr val="292929"/>
        </a:solidFill>
        <a:latin typeface="Arial" pitchFamily="34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sz="1400" kern="1200">
        <a:solidFill>
          <a:srgbClr val="292929"/>
        </a:solidFill>
        <a:latin typeface="Arial" pitchFamily="34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sz="1400" kern="1200">
        <a:solidFill>
          <a:srgbClr val="292929"/>
        </a:solidFill>
        <a:latin typeface="Arial" pitchFamily="34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104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 userDrawn="1">
          <p15:clr>
            <a:srgbClr val="A4A3A4"/>
          </p15:clr>
        </p15:guide>
        <p15:guide id="2" pos="220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E9A"/>
    <a:srgbClr val="0053C3"/>
    <a:srgbClr val="000B19"/>
    <a:srgbClr val="FF6565"/>
    <a:srgbClr val="FF8F8F"/>
    <a:srgbClr val="EBE3D0"/>
    <a:srgbClr val="FF8817"/>
    <a:srgbClr val="D9D9D9"/>
    <a:srgbClr val="9FA7B3"/>
    <a:srgbClr val="FEFE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6B9CBC-CB6E-9441-A18E-A5C855210DAA}" v="3" dt="2026-04-03T13:15:50.19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0193" autoAdjust="0"/>
    <p:restoredTop sz="77825" autoAdjust="0"/>
  </p:normalViewPr>
  <p:slideViewPr>
    <p:cSldViewPr snapToGrid="0">
      <p:cViewPr varScale="1">
        <p:scale>
          <a:sx n="73" d="100"/>
          <a:sy n="73" d="100"/>
        </p:scale>
        <p:origin x="208" y="616"/>
      </p:cViewPr>
      <p:guideLst>
        <p:guide orient="horz" pos="2160"/>
        <p:guide pos="104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93" d="100"/>
          <a:sy n="93" d="100"/>
        </p:scale>
        <p:origin x="3168" y="224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?>
<Relationships xmlns="http://schemas.openxmlformats.org/package/2006/relationships">
  <Relationship Id="rId13" Type="http://schemas.openxmlformats.org/officeDocument/2006/relationships/slide" Target="slides/slide12.xml"/>
  <Relationship Id="rId18" Type="http://schemas.openxmlformats.org/officeDocument/2006/relationships/slide" Target="slides/slide17.xml"/>
  <Relationship Id="rId26" Type="http://schemas.openxmlformats.org/officeDocument/2006/relationships/slide" Target="slides/slide25.xml"/>
  <Relationship Id="rId39" Type="http://schemas.openxmlformats.org/officeDocument/2006/relationships/slide" Target="slides/slide38.xml"/>
  <Relationship Id="rId21" Type="http://schemas.openxmlformats.org/officeDocument/2006/relationships/slide" Target="slides/slide20.xml"/>
  <Relationship Id="rId34" Type="http://schemas.openxmlformats.org/officeDocument/2006/relationships/slide" Target="slides/slide33.xml"/>
  <Relationship Id="rId42" Type="http://schemas.openxmlformats.org/officeDocument/2006/relationships/slide" Target="slides/slide41.xml"/>
  <Relationship Id="rId47" Type="http://schemas.openxmlformats.org/officeDocument/2006/relationships/presProps" Target="presProps.xml"/>
  <Relationship Id="rId50" Type="http://schemas.openxmlformats.org/officeDocument/2006/relationships/tableStyles" Target="tableStyles.xml"/>
  <Relationship Id="rId7" Type="http://schemas.openxmlformats.org/officeDocument/2006/relationships/slide" Target="slides/slide6.xml"/>
  <Relationship Id="rId2" Type="http://schemas.openxmlformats.org/officeDocument/2006/relationships/slide" Target="slides/slide1.xml"/>
  <Relationship Id="rId16" Type="http://schemas.openxmlformats.org/officeDocument/2006/relationships/slide" Target="slides/slide15.xml"/>
  <Relationship Id="rId29" Type="http://schemas.openxmlformats.org/officeDocument/2006/relationships/slide" Target="slides/slide28.xml"/>
  <Relationship Id="rId11" Type="http://schemas.openxmlformats.org/officeDocument/2006/relationships/slide" Target="slides/slide10.xml"/>
  <Relationship Id="rId24" Type="http://schemas.openxmlformats.org/officeDocument/2006/relationships/slide" Target="slides/slide23.xml"/>
  <Relationship Id="rId32" Type="http://schemas.openxmlformats.org/officeDocument/2006/relationships/slide" Target="slides/slide31.xml"/>
  <Relationship Id="rId37" Type="http://schemas.openxmlformats.org/officeDocument/2006/relationships/slide" Target="slides/slide36.xml"/>
  <Relationship Id="rId40" Type="http://schemas.openxmlformats.org/officeDocument/2006/relationships/slide" Target="slides/slide39.xml"/>
  <Relationship Id="rId45" Type="http://schemas.openxmlformats.org/officeDocument/2006/relationships/slide" Target="slides/slide44.xml"/>
  <Relationship Id="rId5" Type="http://schemas.openxmlformats.org/officeDocument/2006/relationships/slide" Target="slides/slide4.xml"/>
  <Relationship Id="rId15" Type="http://schemas.openxmlformats.org/officeDocument/2006/relationships/slide" Target="slides/slide14.xml"/>
  <Relationship Id="rId23" Type="http://schemas.openxmlformats.org/officeDocument/2006/relationships/slide" Target="slides/slide22.xml"/>
  <Relationship Id="rId28" Type="http://schemas.openxmlformats.org/officeDocument/2006/relationships/slide" Target="slides/slide27.xml"/>
  <Relationship Id="rId36" Type="http://schemas.openxmlformats.org/officeDocument/2006/relationships/slide" Target="slides/slide35.xml"/>
  <Relationship Id="rId49" Type="http://schemas.openxmlformats.org/officeDocument/2006/relationships/theme" Target="theme/theme1.xml"/>
  <Relationship Id="rId10" Type="http://schemas.openxmlformats.org/officeDocument/2006/relationships/slide" Target="slides/slide9.xml"/>
  <Relationship Id="rId19" Type="http://schemas.openxmlformats.org/officeDocument/2006/relationships/slide" Target="slides/slide18.xml"/>
  <Relationship Id="rId31" Type="http://schemas.openxmlformats.org/officeDocument/2006/relationships/slide" Target="slides/slide30.xml"/>
  <Relationship Id="rId44" Type="http://schemas.openxmlformats.org/officeDocument/2006/relationships/slide" Target="slides/slide43.xml"/>
  <Relationship Id="rId4" Type="http://schemas.openxmlformats.org/officeDocument/2006/relationships/slide" Target="slides/slide3.xml"/>
  <Relationship Id="rId9" Type="http://schemas.openxmlformats.org/officeDocument/2006/relationships/slide" Target="slides/slide8.xml"/>
  <Relationship Id="rId14" Type="http://schemas.openxmlformats.org/officeDocument/2006/relationships/slide" Target="slides/slide13.xml"/>
  <Relationship Id="rId22" Type="http://schemas.openxmlformats.org/officeDocument/2006/relationships/slide" Target="slides/slide21.xml"/>
  <Relationship Id="rId27" Type="http://schemas.openxmlformats.org/officeDocument/2006/relationships/slide" Target="slides/slide26.xml"/>
  <Relationship Id="rId30" Type="http://schemas.openxmlformats.org/officeDocument/2006/relationships/slide" Target="slides/slide29.xml"/>
  <Relationship Id="rId35" Type="http://schemas.openxmlformats.org/officeDocument/2006/relationships/slide" Target="slides/slide34.xml"/>
  <Relationship Id="rId43" Type="http://schemas.openxmlformats.org/officeDocument/2006/relationships/slide" Target="slides/slide42.xml"/>
  <Relationship Id="rId48" Type="http://schemas.openxmlformats.org/officeDocument/2006/relationships/viewProps" Target="viewProps.xml"/>
  <Relationship Id="rId8" Type="http://schemas.openxmlformats.org/officeDocument/2006/relationships/slide" Target="slides/slide7.xml"/>
  <Relationship Id="rId51" Type="http://schemas.microsoft.com/office/2015/10/relationships/revisionInfo" Target="revisionInfo.xml"/>
  <Relationship Id="rId52" Type="http://schemas.openxmlformats.org/officeDocument/2006/relationships/slide" Target="slides/slide45.xml"/>
  <Relationship Id="rId3" Type="http://schemas.openxmlformats.org/officeDocument/2006/relationships/slide" Target="slides/slide2.xml"/>
  <Relationship Id="rId12" Type="http://schemas.openxmlformats.org/officeDocument/2006/relationships/slide" Target="slides/slide11.xml"/>
  <Relationship Id="rId17" Type="http://schemas.openxmlformats.org/officeDocument/2006/relationships/slide" Target="slides/slide16.xml"/>
  <Relationship Id="rId25" Type="http://schemas.openxmlformats.org/officeDocument/2006/relationships/slide" Target="slides/slide24.xml"/>
  <Relationship Id="rId33" Type="http://schemas.openxmlformats.org/officeDocument/2006/relationships/slide" Target="slides/slide32.xml"/>
  <Relationship Id="rId38" Type="http://schemas.openxmlformats.org/officeDocument/2006/relationships/slide" Target="slides/slide37.xml"/>
  <Relationship Id="rId46" Type="http://schemas.openxmlformats.org/officeDocument/2006/relationships/notesMaster" Target="notesMasters/notesMaster1.xml"/>
  <Relationship Id="rId20" Type="http://schemas.openxmlformats.org/officeDocument/2006/relationships/slide" Target="slides/slide19.xml"/>
  <Relationship Id="rId41" Type="http://schemas.openxmlformats.org/officeDocument/2006/relationships/slide" Target="slides/slide40.xml"/>
  <Relationship Id="rId1" Type="http://schemas.openxmlformats.org/officeDocument/2006/relationships/slideMaster" Target="slideMasters/slideMaster1.xml"/>
  <Relationship Id="rId6" Type="http://schemas.openxmlformats.org/officeDocument/2006/relationships/slide" Target="slides/slide5.xml"/>
</Relationships>

</file>

<file path=ppt/charts/_rels/chart1.xml.rels><?xml version="1.0" encoding="utf-8"?>
<Relationships xmlns="http://schemas.openxmlformats.org/package/2006/relationships">
  <Relationship Id="rId1" Type="http://schemas.openxmlformats.org/officeDocument/2006/relationships/package" Target="../embeddings/Microsoft_Excel_Worksheet.xlsx"/>
</Relationships>
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Efficiency</c:v>
                </c:pt>
              </c:strCache>
            </c:strRef>
          </c:tx>
          <c:spPr>
            <a:solidFill>
              <a:srgbClr val="16A08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D1D1D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 tool</c:v>
                </c:pt>
                <c:pt idx="1">
                  <c:v>2 tools</c:v>
                </c:pt>
                <c:pt idx="2">
                  <c:v>3 tools</c:v>
                </c:pt>
                <c:pt idx="3">
                  <c:v>4 tools</c:v>
                </c:pt>
                <c:pt idx="4">
                  <c:v>5+ tools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</c:v>
                </c:pt>
                <c:pt idx="1">
                  <c:v>65</c:v>
                </c:pt>
                <c:pt idx="2">
                  <c:v>80</c:v>
                </c:pt>
                <c:pt idx="3">
                  <c:v>55</c:v>
                </c:pt>
                <c:pt idx="4">
                  <c:v>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A73-1143-9E91-632C5A8484E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43A4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43A4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?>
<Relationships xmlns="http://schemas.openxmlformats.org/package/2006/relationships">
  <Relationship Id="rId1" Type="http://schemas.openxmlformats.org/officeDocument/2006/relationships/theme" Target="../theme/theme2.xml"/>
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373227-AD61-824B-8F5F-ACBBE6D7DBFF}" type="datetimeFigureOut">
              <a:rPr lang="en-US" smtClean="0"/>
              <a:t>4/3/26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AA33A7-505C-B745-B4F4-A30D48402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7705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
<Relationships xmlns="http://schemas.openxmlformats.org/package/2006/relationships">
  <Relationship Id="rId2" Type="http://schemas.openxmlformats.org/officeDocument/2006/relationships/slide" Target="../slides/slide3.xml"/>
  <Relationship Id="rId1" Type="http://schemas.openxmlformats.org/officeDocument/2006/relationships/notesMaster" Target="../notesMasters/notesMaster1.xml"/>
</Relationships>

</file>

<file path=ppt/notesSlides/_rels/notesSlide2.xml.rels><?xml version="1.0" encoding="utf-8"?>
<Relationships xmlns="http://schemas.openxmlformats.org/package/2006/relationships">
  <Relationship Id="rId2" Type="http://schemas.openxmlformats.org/officeDocument/2006/relationships/slide" Target="../slides/slide44.xml"/>
  <Relationship Id="rId1" Type="http://schemas.openxmlformats.org/officeDocument/2006/relationships/notesMaster" Target="../notesMasters/notesMaster1.xml"/>
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Copyright © 2010, SAS Institute Inc. All rights reserved.</a:t>
            </a:r>
            <a:endParaRPr lang="en-US" sz="1200" dirty="0">
              <a:latin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3AC1AB-A7A8-4DFF-B258-11ED19841263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29197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F98C1-F26A-168C-B069-C96AD83B1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02F2D3-0209-27B6-7198-7F033371D3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3908C5-ECCF-0FCB-D4CF-577D122DA1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D863F9-E647-B675-1B4F-8815B8C071E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 2010, SAS Institute Inc. All rights reserved.</a:t>
            </a:r>
            <a:endParaRPr lang="en-US" sz="1200" dirty="0">
              <a:latin typeface="Times New Roman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FDAA76-A55D-8D43-01C6-559B407195B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F3AC1AB-A7A8-4DFF-B258-11ED19841263}" type="slidenum">
              <a:rPr lang="en-US" smtClean="0"/>
              <a:pPr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3280285"/>
      </p:ext>
    </p:extLst>
  </p:cSld>
  <p:clrMapOvr>
    <a:masterClrMapping/>
  </p:clrMapOvr>
</p:notes>
</file>

<file path=ppt/slideLayouts/_rels/slideLayout1.xml.rels><?xml version="1.0" encoding="utf-8"?>
<Relationships xmlns="http://schemas.openxmlformats.org/package/2006/relationships">
  <Relationship Id="rId3" Type="http://schemas.openxmlformats.org/officeDocument/2006/relationships/image" Target="../media/image3.tiff"/>
  <Relationship Id="rId2" Type="http://schemas.openxmlformats.org/officeDocument/2006/relationships/image" Target="../media/image2.tiff"/>
  <Relationship Id="rId1" Type="http://schemas.openxmlformats.org/officeDocument/2006/relationships/slideMaster" Target="../slideMasters/slideMaster1.xml"/>
</Relationships>

</file>

<file path=ppt/slideLayouts/_rels/slideLayout2.xml.rels><?xml version="1.0" encoding="utf-8"?>
<Relationships xmlns="http://schemas.openxmlformats.org/package/2006/relationships">
  <Relationship Id="rId2" Type="http://schemas.openxmlformats.org/officeDocument/2006/relationships/image" Target="../media/image1.png"/>
  <Relationship Id="rId1" Type="http://schemas.openxmlformats.org/officeDocument/2006/relationships/slideMaster" Target="../slideMasters/slideMaster1.xml"/>
</Relationships>

</file>

<file path=ppt/slideLayouts/_rels/slideLayout3.xml.rels><?xml version="1.0" encoding="utf-8"?>
<Relationships xmlns="http://schemas.openxmlformats.org/package/2006/relationships">
  <Relationship Id="rId2" Type="http://schemas.openxmlformats.org/officeDocument/2006/relationships/image" Target="../media/image1.png"/>
  <Relationship Id="rId1" Type="http://schemas.openxmlformats.org/officeDocument/2006/relationships/slideMaster" Target="../slideMasters/slideMaster1.xml"/>
</Relationships>

</file>

<file path=ppt/slideLayouts/_rels/slideLayout4.xml.rels><?xml version="1.0" encoding="utf-8"?>
<Relationships xmlns="http://schemas.openxmlformats.org/package/2006/relationships">
  <Relationship Id="rId2" Type="http://schemas.openxmlformats.org/officeDocument/2006/relationships/image" Target="../media/image1.png"/>
  <Relationship Id="rId1" Type="http://schemas.openxmlformats.org/officeDocument/2006/relationships/slideMaster" Target="../slideMasters/slideMaster1.xml"/>
</Relationships>

</file>

<file path=ppt/slideLayouts/_rels/slideLayout5.xml.rels><?xml version="1.0" encoding="utf-8"?>
<Relationships xmlns="http://schemas.openxmlformats.org/package/2006/relationships">
  <Relationship Id="rId2" Type="http://schemas.openxmlformats.org/officeDocument/2006/relationships/image" Target="../media/image1.png"/>
  <Relationship Id="rId1" Type="http://schemas.openxmlformats.org/officeDocument/2006/relationships/slideMaster" Target="../slideMasters/slideMaster1.xml"/>
</Relationships>

</file>

<file path=ppt/slideLayouts/_rels/slideLayout6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7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8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9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10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11.xml.rels><?xml version="1.0" encoding="utf-8"?>
<Relationships xmlns="http://schemas.openxmlformats.org/package/2006/relationships">
  <Relationship Id="rId2" Type="http://schemas.openxmlformats.org/officeDocument/2006/relationships/image" Target="../media/image1.png"/>
  <Relationship Id="rId1" Type="http://schemas.openxmlformats.org/officeDocument/2006/relationships/slideMaster" Target="../slideMasters/slideMaster1.xml"/>
</Relationships>

</file>

<file path=ppt/slideLayouts/_rels/slideLayout12.xml.rels><?xml version="1.0" encoding="utf-8"?>
<Relationships xmlns="http://schemas.openxmlformats.org/package/2006/relationships">
  <Relationship Id="rId2" Type="http://schemas.openxmlformats.org/officeDocument/2006/relationships/image" Target="../media/image1.png"/>
  <Relationship Id="rId1" Type="http://schemas.openxmlformats.org/officeDocument/2006/relationships/slideMaster" Target="../slideMasters/slideMaster1.xml"/>
</Relationships>

</file>

<file path=ppt/slideLayouts/_rels/slideLayout13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0AC595-E459-F640-9EB6-554CC8FFDF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82390"/>
            <a:ext cx="12170710" cy="6821364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B8CF5-562F-8B46-AA59-F6B50BAA1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33452" y="144395"/>
            <a:ext cx="2743200" cy="365125"/>
          </a:xfrm>
          <a:prstGeom prst="rect">
            <a:avLst/>
          </a:prstGeom>
        </p:spPr>
        <p:txBody>
          <a:bodyPr/>
          <a:lstStyle/>
          <a:p>
            <a:fld id="{2C1C5425-CD80-DD45-9D5A-EE50496BC72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4E146CA-BD7B-0049-AE5C-CC91A0FEF68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011936"/>
              </a:clrFrom>
              <a:clrTo>
                <a:srgbClr val="01193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" y="119824"/>
            <a:ext cx="805396" cy="608841"/>
          </a:xfrm>
          <a:prstGeom prst="rect">
            <a:avLst/>
          </a:prstGeom>
        </p:spPr>
      </p:pic>
      <p:sp>
        <p:nvSpPr>
          <p:cNvPr id="4" name="Google Shape;139;p18">
            <a:extLst>
              <a:ext uri="{FF2B5EF4-FFF2-40B4-BE49-F238E27FC236}">
                <a16:creationId xmlns:a16="http://schemas.microsoft.com/office/drawing/2014/main" id="{090FAD85-3E0A-290C-9FAC-0370870B3253}"/>
              </a:ext>
            </a:extLst>
          </p:cNvPr>
          <p:cNvSpPr txBox="1"/>
          <p:nvPr userDrawn="1"/>
        </p:nvSpPr>
        <p:spPr>
          <a:xfrm>
            <a:off x="1500425" y="3043237"/>
            <a:ext cx="9191148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 dirty="0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Master Title Style</a:t>
            </a:r>
            <a:endParaRPr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5C59D9A-75F1-CDD6-2DDB-569708CB6B7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51235" y="6447269"/>
            <a:ext cx="3140765" cy="336355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2E6F9FE-4C14-E54A-6987-7D3CD5D6CDE4}"/>
              </a:ext>
            </a:extLst>
          </p:cNvPr>
          <p:cNvCxnSpPr/>
          <p:nvPr userDrawn="1"/>
        </p:nvCxnSpPr>
        <p:spPr>
          <a:xfrm>
            <a:off x="261257" y="6422324"/>
            <a:ext cx="1159291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ate Placeholder 3">
            <a:extLst>
              <a:ext uri="{FF2B5EF4-FFF2-40B4-BE49-F238E27FC236}">
                <a16:creationId xmlns:a16="http://schemas.microsoft.com/office/drawing/2014/main" id="{712BCEDC-B79C-C4F2-D6FC-DED19C6303AA}"/>
              </a:ext>
            </a:extLst>
          </p:cNvPr>
          <p:cNvSpPr txBox="1">
            <a:spLocks/>
          </p:cNvSpPr>
          <p:nvPr userDrawn="1"/>
        </p:nvSpPr>
        <p:spPr>
          <a:xfrm>
            <a:off x="503583" y="6551446"/>
            <a:ext cx="2743200" cy="17269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292929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292929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292929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292929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rgbClr val="292929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rgbClr val="292929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rgbClr val="292929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rgbClr val="292929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r>
              <a:rPr lang="en-US" sz="1200" i="1" baseline="0" dirty="0">
                <a:solidFill>
                  <a:schemeClr val="tx1"/>
                </a:solidFill>
                <a:latin typeface="Arial Rounded MT Bold" panose="020F0704030504030204" pitchFamily="34" charset="77"/>
              </a:rPr>
              <a:t>@techupskills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201FCCD-D237-2C5F-6A32-D449E1DCC96C}"/>
              </a:ext>
            </a:extLst>
          </p:cNvPr>
          <p:cNvSpPr txBox="1"/>
          <p:nvPr userDrawn="1"/>
        </p:nvSpPr>
        <p:spPr>
          <a:xfrm>
            <a:off x="9731928" y="6422324"/>
            <a:ext cx="225286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aseline="0" dirty="0">
                <a:solidFill>
                  <a:schemeClr val="tx1"/>
                </a:solidFill>
              </a:rPr>
              <a:t xml:space="preserve">© 2026 Brent C. Laster &amp; 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620404B-B0B1-8B94-9964-E6D607DC0AF8}"/>
              </a:ext>
            </a:extLst>
          </p:cNvPr>
          <p:cNvSpPr/>
          <p:nvPr userDrawn="1"/>
        </p:nvSpPr>
        <p:spPr>
          <a:xfrm>
            <a:off x="-215348" y="6472213"/>
            <a:ext cx="12192000" cy="3363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aseline="0" dirty="0">
              <a:solidFill>
                <a:schemeClr val="accent4">
                  <a:lumMod val="20000"/>
                  <a:lumOff val="80000"/>
                </a:schemeClr>
              </a:solidFill>
              <a:latin typeface="Consolas" panose="020B0609020204030204" pitchFamily="49" charset="0"/>
            </a:endParaRPr>
          </a:p>
          <a:p>
            <a:pPr algn="ctr"/>
            <a:r>
              <a:rPr lang="en-US" sz="1200" b="1" baseline="0" dirty="0" err="1">
                <a:solidFill>
                  <a:srgbClr val="0070C0"/>
                </a:solidFill>
                <a:latin typeface="Consolas" panose="020B0609020204030204" pitchFamily="49" charset="0"/>
              </a:rPr>
              <a:t>getskillsnow.com</a:t>
            </a:r>
            <a:r>
              <a:rPr lang="en-US" sz="1200" b="1" baseline="0" dirty="0">
                <a:solidFill>
                  <a:srgbClr val="0070C0"/>
                </a:solidFill>
                <a:latin typeface="Consolas" panose="020B0609020204030204" pitchFamily="49" charset="0"/>
              </a:rPr>
              <a:t xml:space="preserve"> | techskillstransformations.com</a:t>
            </a:r>
          </a:p>
          <a:p>
            <a:pPr algn="ctr"/>
            <a:endParaRPr lang="en-US" sz="1200" baseline="0" dirty="0">
              <a:solidFill>
                <a:schemeClr val="accent4">
                  <a:lumMod val="20000"/>
                  <a:lumOff val="80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92392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0F0AB-BC6D-CC40-AEF8-70D316B7B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568154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000" b="1">
                <a:solidFill>
                  <a:srgbClr val="002060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C4DF0-0146-B74D-9222-FBEF6BA336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18931" y="1825625"/>
            <a:ext cx="5156200" cy="4351338"/>
          </a:xfrm>
          <a:noFill/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5FFE8E-FC7C-CC4F-A247-AF75D48AB0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  <a:noFill/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8145C3-7C23-EC4D-B234-5827A338F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6FDA42-F902-364A-8D64-66C31B925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09044" y="20276"/>
            <a:ext cx="2743200" cy="365125"/>
          </a:xfrm>
          <a:prstGeom prst="rect">
            <a:avLst/>
          </a:prstGeom>
        </p:spPr>
        <p:txBody>
          <a:bodyPr/>
          <a:lstStyle/>
          <a:p>
            <a:fld id="{2C1C5425-CD80-DD45-9D5A-EE50496BC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8634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59E9B-56CD-3146-88A8-2A1303E68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4576"/>
            <a:ext cx="10515600" cy="66833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 b="1">
                <a:solidFill>
                  <a:srgbClr val="002060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8B06EF-645D-364D-98C9-DD935B464F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1486" y="1185864"/>
            <a:ext cx="5158316" cy="823912"/>
          </a:xfrm>
          <a:noFill/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155C4B-C359-6B42-963D-B36222B47C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89091" y="2107510"/>
            <a:ext cx="5158316" cy="3684588"/>
          </a:xfrm>
          <a:noFill/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B6E1E1-D1C9-494A-8102-B2561FD3C6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185864"/>
            <a:ext cx="5183717" cy="823912"/>
          </a:xfrm>
          <a:noFill/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6E2A4D-6BB8-DE43-B06E-4776B27CD4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087632"/>
            <a:ext cx="5183717" cy="3684588"/>
          </a:xfrm>
          <a:noFill/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083022-C0DE-FD46-A3ED-D38C325C7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A21222-DCD8-F44B-8336-4590BAF3B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09044" y="20276"/>
            <a:ext cx="2743200" cy="365125"/>
          </a:xfrm>
          <a:prstGeom prst="rect">
            <a:avLst/>
          </a:prstGeom>
        </p:spPr>
        <p:txBody>
          <a:bodyPr/>
          <a:lstStyle/>
          <a:p>
            <a:fld id="{2C1C5425-CD80-DD45-9D5A-EE50496BC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825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584C8-8F53-B442-939B-EAC93548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60628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000" b="1">
                <a:solidFill>
                  <a:srgbClr val="002060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0069DA-3FBF-FE4E-9F53-EE77D1BE9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990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A53722-DC75-6449-B529-02CFB5AF9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EC14E8-D3E8-8F40-9BB7-74E9A8861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09044" y="20276"/>
            <a:ext cx="2743200" cy="365125"/>
          </a:xfrm>
          <a:prstGeom prst="rect">
            <a:avLst/>
          </a:prstGeom>
        </p:spPr>
        <p:txBody>
          <a:bodyPr/>
          <a:lstStyle/>
          <a:p>
            <a:fld id="{2C1C5425-CD80-DD45-9D5A-EE50496BC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741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C7CA5-056D-A745-A0C8-79519B875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CEF582-6216-9240-B0ED-2C3FB4E495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8218AF-60A7-CB45-B4CB-5F2BFDF624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03D00C-F7FA-7B4E-8D30-608A37BD3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921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0716F-99C1-FC48-B4CF-69C87928E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FF5B8A-6F26-E14F-81E4-855148E11A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7144D1-36DB-F04A-B0D0-27079FE6CE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0800D6-FD0C-B74C-B661-D32A47390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257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DDD3D-6BFD-5C43-A0D2-7BEF30DFE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6"/>
            <a:ext cx="10515600" cy="588359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6AEB4C-AAE1-8541-8D22-5756735F30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665528"/>
            <a:ext cx="10515600" cy="43513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81394D-8DBF-ED42-ADBD-30B792393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E7043F-1A07-A34F-B820-529719AFD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09044" y="20276"/>
            <a:ext cx="2743200" cy="365125"/>
          </a:xfrm>
          <a:prstGeom prst="rect">
            <a:avLst/>
          </a:prstGeom>
        </p:spPr>
        <p:txBody>
          <a:bodyPr/>
          <a:lstStyle/>
          <a:p>
            <a:fld id="{2C1C5425-CD80-DD45-9D5A-EE50496BC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404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01A88A-5C78-4E41-9CC8-D19263AEA5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C6FBC8-490D-B74B-88EC-9FF75D58E7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41401" y="362502"/>
            <a:ext cx="76835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8ACCBE-FD68-3F43-856D-1D1EBBCBB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010833-7DBB-9C45-8EF3-7C8A37BC2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09044" y="20276"/>
            <a:ext cx="2743200" cy="365125"/>
          </a:xfrm>
          <a:prstGeom prst="rect">
            <a:avLst/>
          </a:prstGeom>
        </p:spPr>
        <p:txBody>
          <a:bodyPr/>
          <a:lstStyle/>
          <a:p>
            <a:fld id="{2C1C5425-CD80-DD45-9D5A-EE50496BC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148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2000" y="2335696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9EE827D8-5331-364E-8DCF-17560456D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6"/>
            <a:ext cx="10515600" cy="58477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9241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899" y="128017"/>
            <a:ext cx="10694925" cy="74995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000" b="1" baseline="0">
                <a:solidFill>
                  <a:srgbClr val="002060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850899" y="1143001"/>
            <a:ext cx="10934700" cy="2084316"/>
          </a:xfrm>
          <a:noFill/>
        </p:spPr>
        <p:txBody>
          <a:bodyPr/>
          <a:lstStyle>
            <a:lvl1pPr>
              <a:buClr>
                <a:schemeClr val="accent2"/>
              </a:buClr>
              <a:defRPr/>
            </a:lvl1pPr>
            <a:lvl2pPr>
              <a:buClr>
                <a:schemeClr val="accent2"/>
              </a:buClr>
              <a:buFont typeface="Wingdings" pitchFamily="2" charset="2"/>
              <a:buChar char="§"/>
              <a:defRPr/>
            </a:lvl2pPr>
            <a:lvl3pPr>
              <a:buClr>
                <a:schemeClr val="accent2"/>
              </a:buClr>
              <a:buFont typeface="Arial" pitchFamily="34" charset="0"/>
              <a:buChar char="»"/>
              <a:defRPr/>
            </a:lvl3pPr>
            <a:lvl4pPr>
              <a:buClr>
                <a:schemeClr val="accent2"/>
              </a:buClr>
              <a:buFont typeface="Arial" pitchFamily="34" charset="0"/>
              <a:buChar char="»"/>
              <a:defRPr/>
            </a:lvl4pPr>
            <a:lvl5pPr>
              <a:buClr>
                <a:schemeClr val="accent2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72545918"/>
      </p:ext>
    </p:extLst>
  </p:cSld>
  <p:clrMapOvr>
    <a:masterClrMapping/>
  </p:clrMapOvr>
  <p:hf sldNum="0"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B5C0C-1C63-E140-B432-5F70B92D6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217" y="149088"/>
            <a:ext cx="10515600" cy="598383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 sz="3000" b="1">
                <a:solidFill>
                  <a:srgbClr val="002060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9148C-B165-A644-829D-E97C13335D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4217" y="936313"/>
            <a:ext cx="10515600" cy="4351338"/>
          </a:xfrm>
          <a:prstGeom prst="rect">
            <a:avLst/>
          </a:prstGeom>
          <a:noFill/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076208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6749170"/>
      </p:ext>
    </p:extLst>
  </p:cSld>
  <p:clrMapOvr>
    <a:masterClrMapping/>
  </p:clrMapOvr>
</p:sldLayout>
</file>

<file path=ppt/slideMasters/_rels/slideMaster1.xml.rels><?xml version="1.0" encoding="utf-8"?>
<Relationships xmlns="http://schemas.openxmlformats.org/package/2006/relationships">
  <Relationship Id="rId8" Type="http://schemas.openxmlformats.org/officeDocument/2006/relationships/slideLayout" Target="../slideLayouts/slideLayout8.xml"/>
  <Relationship Id="rId13" Type="http://schemas.openxmlformats.org/officeDocument/2006/relationships/slideLayout" Target="../slideLayouts/slideLayout13.xml"/>
  <Relationship Id="rId3" Type="http://schemas.openxmlformats.org/officeDocument/2006/relationships/slideLayout" Target="../slideLayouts/slideLayout3.xml"/>
  <Relationship Id="rId7" Type="http://schemas.openxmlformats.org/officeDocument/2006/relationships/slideLayout" Target="../slideLayouts/slideLayout7.xml"/>
  <Relationship Id="rId12" Type="http://schemas.openxmlformats.org/officeDocument/2006/relationships/slideLayout" Target="../slideLayouts/slideLayout12.xml"/>
  <Relationship Id="rId17" Type="http://schemas.openxmlformats.org/officeDocument/2006/relationships/image" Target="../media/image3.tiff"/>
  <Relationship Id="rId2" Type="http://schemas.openxmlformats.org/officeDocument/2006/relationships/slideLayout" Target="../slideLayouts/slideLayout2.xml"/>
  <Relationship Id="rId16" Type="http://schemas.openxmlformats.org/officeDocument/2006/relationships/image" Target="../media/image2.tiff"/>
  <Relationship Id="rId1" Type="http://schemas.openxmlformats.org/officeDocument/2006/relationships/slideLayout" Target="../slideLayouts/slideLayout1.xml"/>
  <Relationship Id="rId6" Type="http://schemas.openxmlformats.org/officeDocument/2006/relationships/slideLayout" Target="../slideLayouts/slideLayout6.xml"/>
  <Relationship Id="rId11" Type="http://schemas.openxmlformats.org/officeDocument/2006/relationships/slideLayout" Target="../slideLayouts/slideLayout11.xml"/>
  <Relationship Id="rId5" Type="http://schemas.openxmlformats.org/officeDocument/2006/relationships/slideLayout" Target="../slideLayouts/slideLayout5.xml"/>
  <Relationship Id="rId15" Type="http://schemas.openxmlformats.org/officeDocument/2006/relationships/image" Target="../media/image1.png"/>
  <Relationship Id="rId10" Type="http://schemas.openxmlformats.org/officeDocument/2006/relationships/slideLayout" Target="../slideLayouts/slideLayout10.xml"/>
  <Relationship Id="rId4" Type="http://schemas.openxmlformats.org/officeDocument/2006/relationships/slideLayout" Target="../slideLayouts/slideLayout4.xml"/>
  <Relationship Id="rId9" Type="http://schemas.openxmlformats.org/officeDocument/2006/relationships/slideLayout" Target="../slideLayouts/slideLayout9.xml"/>
  <Relationship Id="rId14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6A157A-951D-6241-BA46-26919E0382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90762"/>
            <a:ext cx="12192000" cy="6767238"/>
          </a:xfrm>
          <a:prstGeom prst="rect">
            <a:avLst/>
          </a:prstGeom>
          <a:blipFill>
            <a:blip r:embed="rId15"/>
            <a:stretch>
              <a:fillRect/>
            </a:stretch>
          </a:blipFill>
        </p:spPr>
        <p:txBody>
          <a:bodyPr vert="horz" lIns="91440" tIns="45720" rIns="91440" bIns="45720" rtlCol="0">
            <a:normAutofit/>
          </a:bodyPr>
          <a:lstStyle/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84F870-C1E6-D440-AFA8-3F48B28AF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396" y="49431"/>
            <a:ext cx="11346848" cy="6876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Slide Title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F4FDA5E-04CE-6B42-A3C1-3304024872A6}"/>
              </a:ext>
            </a:extLst>
          </p:cNvPr>
          <p:cNvSpPr/>
          <p:nvPr userDrawn="1"/>
        </p:nvSpPr>
        <p:spPr>
          <a:xfrm>
            <a:off x="-38288" y="6452187"/>
            <a:ext cx="12192000" cy="3363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aseline="0" dirty="0">
              <a:solidFill>
                <a:schemeClr val="accent4">
                  <a:lumMod val="20000"/>
                  <a:lumOff val="80000"/>
                </a:schemeClr>
              </a:solidFill>
              <a:latin typeface="Consolas" panose="020B0609020204030204" pitchFamily="49" charset="0"/>
            </a:endParaRPr>
          </a:p>
          <a:p>
            <a:pPr algn="ctr"/>
            <a:r>
              <a:rPr lang="en-US" sz="1200" b="1" baseline="0" dirty="0" err="1">
                <a:solidFill>
                  <a:srgbClr val="0070C0"/>
                </a:solidFill>
                <a:latin typeface="Consolas" panose="020B0609020204030204" pitchFamily="49" charset="0"/>
              </a:rPr>
              <a:t>getskillsnow.com</a:t>
            </a:r>
            <a:r>
              <a:rPr lang="en-US" sz="1200" b="1" baseline="0" dirty="0">
                <a:solidFill>
                  <a:srgbClr val="0070C0"/>
                </a:solidFill>
                <a:latin typeface="Consolas" panose="020B0609020204030204" pitchFamily="49" charset="0"/>
              </a:rPr>
              <a:t xml:space="preserve"> | techskillstransformations.com</a:t>
            </a:r>
          </a:p>
          <a:p>
            <a:pPr algn="ctr"/>
            <a:endParaRPr lang="en-US" sz="1200" baseline="0" dirty="0">
              <a:solidFill>
                <a:schemeClr val="accent4">
                  <a:lumMod val="20000"/>
                  <a:lumOff val="8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85E45D-7B95-F34C-922E-CD512986D553}"/>
              </a:ext>
            </a:extLst>
          </p:cNvPr>
          <p:cNvSpPr txBox="1"/>
          <p:nvPr userDrawn="1"/>
        </p:nvSpPr>
        <p:spPr>
          <a:xfrm>
            <a:off x="9731928" y="6422324"/>
            <a:ext cx="225286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aseline="0" dirty="0">
                <a:solidFill>
                  <a:schemeClr val="tx1"/>
                </a:solidFill>
              </a:rPr>
              <a:t xml:space="preserve">© 2026 Brent C. Laster &amp; 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075F918A-108F-8345-B3C6-704523C1A92D}"/>
              </a:ext>
            </a:extLst>
          </p:cNvPr>
          <p:cNvSpPr txBox="1">
            <a:spLocks/>
          </p:cNvSpPr>
          <p:nvPr userDrawn="1"/>
        </p:nvSpPr>
        <p:spPr>
          <a:xfrm>
            <a:off x="503583" y="6551446"/>
            <a:ext cx="2743200" cy="17269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292929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292929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292929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292929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rgbClr val="292929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rgbClr val="292929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rgbClr val="292929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rgbClr val="292929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r>
              <a:rPr lang="en-US" sz="1200" i="1" baseline="0" dirty="0">
                <a:solidFill>
                  <a:schemeClr val="tx1"/>
                </a:solidFill>
                <a:latin typeface="Arial Rounded MT Bold" panose="020F0704030504030204" pitchFamily="34" charset="77"/>
              </a:rPr>
              <a:t>@techupskills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BDE2AB4-6E56-F34C-B480-2C330D43EA1C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clrChange>
              <a:clrFrom>
                <a:srgbClr val="011936"/>
              </a:clrFrom>
              <a:clrTo>
                <a:srgbClr val="01193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" y="118270"/>
            <a:ext cx="805396" cy="608841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FC3BA2D-0AF4-4244-B4E5-52AD6249F917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8945219" y="6452187"/>
            <a:ext cx="3140765" cy="336355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8AD2E128-FED2-5B4B-B513-E85C03C1BB85}"/>
              </a:ext>
            </a:extLst>
          </p:cNvPr>
          <p:cNvSpPr/>
          <p:nvPr userDrawn="1"/>
        </p:nvSpPr>
        <p:spPr>
          <a:xfrm>
            <a:off x="11356916" y="50475"/>
            <a:ext cx="49725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41284E9-94DB-4DD1-A409-7E35AAE7ECDF}" type="slidenum"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ＭＳ Ｐゴシック" pitchFamily="34" charset="-128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ＭＳ Ｐゴシック" pitchFamily="34" charset="-128"/>
              <a:cs typeface="+mn-cs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596A077-1177-F8B5-F75F-71B1A4F06E07}"/>
              </a:ext>
            </a:extLst>
          </p:cNvPr>
          <p:cNvCxnSpPr/>
          <p:nvPr userDrawn="1"/>
        </p:nvCxnSpPr>
        <p:spPr>
          <a:xfrm>
            <a:off x="261257" y="6422324"/>
            <a:ext cx="11592911" cy="0"/>
          </a:xfrm>
          <a:prstGeom prst="line">
            <a:avLst/>
          </a:prstGeom>
          <a:ln w="25400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7165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53" r:id="rId1"/>
    <p:sldLayoutId id="2147484054" r:id="rId2"/>
    <p:sldLayoutId id="2147484055" r:id="rId3"/>
    <p:sldLayoutId id="2147484056" r:id="rId4"/>
    <p:sldLayoutId id="2147484057" r:id="rId5"/>
    <p:sldLayoutId id="2147484058" r:id="rId6"/>
    <p:sldLayoutId id="2147484059" r:id="rId7"/>
    <p:sldLayoutId id="2147484060" r:id="rId8"/>
    <p:sldLayoutId id="2147484061" r:id="rId9"/>
    <p:sldLayoutId id="2147484062" r:id="rId10"/>
    <p:sldLayoutId id="2147484063" r:id="rId11"/>
    <p:sldLayoutId id="2147484064" r:id="rId12"/>
    <p:sldLayoutId id="2147484065" r:id="rId13"/>
  </p:sldLayoutIdLst>
  <p:txStyles>
    <p:titleStyle>
      <a:lvl1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None/>
        <a:defRPr sz="3200" kern="1200" baseline="0">
          <a:solidFill>
            <a:srgbClr val="0053C3"/>
          </a:solidFill>
          <a:latin typeface="Avenir Next" panose="020B0503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5.xml"/>
</Relationships>

</file>

<file path=ppt/slides/_rels/slide2.xml.rels><?xml version="1.0" encoding="utf-8"?>
<Relationships xmlns="http://schemas.openxmlformats.org/package/2006/relationships">
  <Relationship Id="rId3" Type="http://schemas.openxmlformats.org/officeDocument/2006/relationships/image" Target="../media/image5.png"/>
  <Relationship Id="rId2" Type="http://schemas.openxmlformats.org/officeDocument/2006/relationships/image" Target="../media/image4.png"/>
  <Relationship Id="rId1" Type="http://schemas.openxmlformats.org/officeDocument/2006/relationships/slideLayout" Target="../slideLayouts/slideLayout1.xml"/>
  <Relationship Id="rId5" Type="http://schemas.openxmlformats.org/officeDocument/2006/relationships/image" Target="../media/image6.png"/>
  <Relationship Id="rId4" Type="http://schemas.openxmlformats.org/officeDocument/2006/relationships/image" Target="../media/image2.tiff"/>
</Relationships>

</file>

<file path=ppt/slides/_rels/slide3.xml.rels><?xml version="1.0" encoding="utf-8"?>
<Relationships xmlns="http://schemas.openxmlformats.org/package/2006/relationships">
  <Relationship Id="rId8" Type="http://schemas.openxmlformats.org/officeDocument/2006/relationships/image" Target="../media/image11.jpeg"/>
  <Relationship Id="rId13" Type="http://schemas.openxmlformats.org/officeDocument/2006/relationships/image" Target="../media/image16.png"/>
  <Relationship Id="rId18" Type="http://schemas.microsoft.com/office/2007/relationships/hdphoto" Target="../media/hdphoto1.wdp"/>
  <Relationship Id="rId3" Type="http://schemas.openxmlformats.org/officeDocument/2006/relationships/image" Target="../media/image7.png"/>
  <Relationship Id="rId21" Type="http://schemas.openxmlformats.org/officeDocument/2006/relationships/image" Target="../media/image22.png"/>
  <Relationship Id="rId7" Type="http://schemas.openxmlformats.org/officeDocument/2006/relationships/image" Target="../media/image10.jpeg"/>
  <Relationship Id="rId12" Type="http://schemas.openxmlformats.org/officeDocument/2006/relationships/image" Target="../media/image15.png"/>
  <Relationship Id="rId17" Type="http://schemas.openxmlformats.org/officeDocument/2006/relationships/image" Target="../media/image20.png"/>
  <Relationship Id="rId2" Type="http://schemas.openxmlformats.org/officeDocument/2006/relationships/notesSlide" Target="../notesSlides/notesSlide1.xml"/>
  <Relationship Id="rId16" Type="http://schemas.openxmlformats.org/officeDocument/2006/relationships/image" Target="../media/image19.png"/>
  <Relationship Id="rId20" Type="http://schemas.microsoft.com/office/2007/relationships/hdphoto" Target="../media/hdphoto2.wdp"/>
  <Relationship Id="rId1" Type="http://schemas.openxmlformats.org/officeDocument/2006/relationships/slideLayout" Target="../slideLayouts/slideLayout11.xml"/>
  <Relationship Id="rId6" Type="http://schemas.openxmlformats.org/officeDocument/2006/relationships/image" Target="../media/image9.png"/>
  <Relationship Id="rId11" Type="http://schemas.openxmlformats.org/officeDocument/2006/relationships/image" Target="../media/image14.png"/>
  <Relationship Id="rId5" Type="http://schemas.openxmlformats.org/officeDocument/2006/relationships/image" Target="../media/image8.png"/>
  <Relationship Id="rId15" Type="http://schemas.openxmlformats.org/officeDocument/2006/relationships/image" Target="../media/image18.png"/>
  <Relationship Id="rId10" Type="http://schemas.openxmlformats.org/officeDocument/2006/relationships/image" Target="../media/image13.jpeg"/>
  <Relationship Id="rId19" Type="http://schemas.openxmlformats.org/officeDocument/2006/relationships/image" Target="../media/image21.png"/>
  <Relationship Id="rId4" Type="http://schemas.openxmlformats.org/officeDocument/2006/relationships/hyperlink" Target="mailto:info@getskillsnow.com" TargetMode="External"/>
  <Relationship Id="rId9" Type="http://schemas.openxmlformats.org/officeDocument/2006/relationships/image" Target="../media/image12.png"/>
  <Relationship Id="rId14" Type="http://schemas.openxmlformats.org/officeDocument/2006/relationships/image" Target="../media/image17.png"/>
</Relationships>

</file>

<file path=ppt/slides/_rels/slide4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5.xml"/>
</Relationships>

</file>

<file path=ppt/slides/_rels/slide5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5.xml"/>
</Relationships>

</file>

<file path=ppt/slides/_rels/slide6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5.xml"/>
</Relationships>

</file>

<file path=ppt/slides/_rels/slide7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5.xml"/>
</Relationships>

</file>

<file path=ppt/slides/_rels/slide8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5.xml"/>
</Relationships>

</file>

<file path=ppt/slides/_rels/slide9.xml.rels><?xml version="1.0" encoding="utf-8"?>
<Relationships xmlns="http://schemas.openxmlformats.org/package/2006/relationships">
  <Relationship Id="rId3" Type="http://schemas.openxmlformats.org/officeDocument/2006/relationships/image" Target="../media/image24.png"/>
  <Relationship Id="rId2" Type="http://schemas.openxmlformats.org/officeDocument/2006/relationships/image" Target="../media/image23.png"/>
  <Relationship Id="rId1" Type="http://schemas.openxmlformats.org/officeDocument/2006/relationships/slideLayout" Target="../slideLayouts/slideLayout5.xml"/>
  <Relationship Id="rId6" Type="http://schemas.openxmlformats.org/officeDocument/2006/relationships/image" Target="../media/image27.png"/>
  <Relationship Id="rId5" Type="http://schemas.openxmlformats.org/officeDocument/2006/relationships/image" Target="../media/image26.png"/>
  <Relationship Id="rId4" Type="http://schemas.openxmlformats.org/officeDocument/2006/relationships/image" Target="../media/image25.png"/>
</Relationships>

</file>

<file path=ppt/slides/_rels/slide10.xml.rels><?xml version="1.0" encoding="utf-8"?>
<Relationships xmlns="http://schemas.openxmlformats.org/package/2006/relationships">
  <Relationship Id="rId2" Type="http://schemas.openxmlformats.org/officeDocument/2006/relationships/image" Target="../media/image23.png"/>
  <Relationship Id="rId1" Type="http://schemas.openxmlformats.org/officeDocument/2006/relationships/slideLayout" Target="../slideLayouts/slideLayout5.xml"/>
</Relationships>

</file>

<file path=ppt/slides/_rels/slide11.xml.rels><?xml version="1.0" encoding="utf-8"?>
<Relationships xmlns="http://schemas.openxmlformats.org/package/2006/relationships">
  <Relationship Id="rId2" Type="http://schemas.openxmlformats.org/officeDocument/2006/relationships/chart" Target="../charts/chart1.xml"/>
  <Relationship Id="rId1" Type="http://schemas.openxmlformats.org/officeDocument/2006/relationships/slideLayout" Target="../slideLayouts/slideLayout5.xml"/>
</Relationships>

</file>

<file path=ppt/slides/_rels/slide12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5.xml"/>
</Relationships>

</file>

<file path=ppt/slides/_rels/slide13.xml.rels><?xml version="1.0" encoding="utf-8"?>
<Relationships xmlns="http://schemas.openxmlformats.org/package/2006/relationships">
  <Relationship Id="rId2" Type="http://schemas.openxmlformats.org/officeDocument/2006/relationships/image" Target="../media/image24.png"/>
  <Relationship Id="rId1" Type="http://schemas.openxmlformats.org/officeDocument/2006/relationships/slideLayout" Target="../slideLayouts/slideLayout5.xml"/>
</Relationships>

</file>

<file path=ppt/slides/_rels/slide14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5.xml"/>
</Relationships>

</file>

<file path=ppt/slides/_rels/slide15.xml.rels><?xml version="1.0" encoding="utf-8"?>
<Relationships xmlns="http://schemas.openxmlformats.org/package/2006/relationships">
  <Relationship Id="rId2" Type="http://schemas.openxmlformats.org/officeDocument/2006/relationships/image" Target="../media/image25.png"/>
  <Relationship Id="rId1" Type="http://schemas.openxmlformats.org/officeDocument/2006/relationships/slideLayout" Target="../slideLayouts/slideLayout5.xml"/>
</Relationships>

</file>

<file path=ppt/slides/_rels/slide16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5.xml"/>
</Relationships>

</file>

<file path=ppt/slides/_rels/slide17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5.xml"/>
</Relationships>

</file>

<file path=ppt/slides/_rels/slide18.xml.rels><?xml version="1.0" encoding="utf-8"?>
<Relationships xmlns="http://schemas.openxmlformats.org/package/2006/relationships">
  <Relationship Id="rId2" Type="http://schemas.openxmlformats.org/officeDocument/2006/relationships/image" Target="../media/image26.png"/>
  <Relationship Id="rId1" Type="http://schemas.openxmlformats.org/officeDocument/2006/relationships/slideLayout" Target="../slideLayouts/slideLayout5.xml"/>
</Relationships>

</file>

<file path=ppt/slides/_rels/slide19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5.xml"/>
</Relationships>

</file>

<file path=ppt/slides/_rels/slide20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5.xml"/>
</Relationships>

</file>

<file path=ppt/slides/_rels/slide21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5.xml"/>
</Relationships>

</file>

<file path=ppt/slides/_rels/slide22.xml.rels><?xml version="1.0" encoding="utf-8"?>
<Relationships xmlns="http://schemas.openxmlformats.org/package/2006/relationships">
  <Relationship Id="rId2" Type="http://schemas.openxmlformats.org/officeDocument/2006/relationships/image" Target="../media/image27.png"/>
  <Relationship Id="rId1" Type="http://schemas.openxmlformats.org/officeDocument/2006/relationships/slideLayout" Target="../slideLayouts/slideLayout5.xml"/>
</Relationships>

</file>

<file path=ppt/slides/_rels/slide23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5.xml"/>
</Relationships>

</file>

<file path=ppt/slides/_rels/slide24.xml.rels><?xml version="1.0" encoding="utf-8"?>
<Relationships xmlns="http://schemas.openxmlformats.org/package/2006/relationships">
  <Relationship Id="rId3" Type="http://schemas.openxmlformats.org/officeDocument/2006/relationships/image" Target="../media/image29.png"/>
  <Relationship Id="rId2" Type="http://schemas.openxmlformats.org/officeDocument/2006/relationships/image" Target="../media/image28.png"/>
  <Relationship Id="rId1" Type="http://schemas.openxmlformats.org/officeDocument/2006/relationships/slideLayout" Target="../slideLayouts/slideLayout5.xml"/>
  <Relationship Id="rId6" Type="http://schemas.openxmlformats.org/officeDocument/2006/relationships/image" Target="../media/image32.png"/>
  <Relationship Id="rId5" Type="http://schemas.openxmlformats.org/officeDocument/2006/relationships/image" Target="../media/image31.png"/>
  <Relationship Id="rId4" Type="http://schemas.openxmlformats.org/officeDocument/2006/relationships/image" Target="../media/image30.png"/>
</Relationships>

</file>

<file path=ppt/slides/_rels/slide25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5.xml"/>
</Relationships>

</file>

<file path=ppt/slides/_rels/slide26.xml.rels><?xml version="1.0" encoding="utf-8"?>
<Relationships xmlns="http://schemas.openxmlformats.org/package/2006/relationships">
  <Relationship Id="rId2" Type="http://schemas.openxmlformats.org/officeDocument/2006/relationships/image" Target="../media/image28.png"/>
  <Relationship Id="rId1" Type="http://schemas.openxmlformats.org/officeDocument/2006/relationships/slideLayout" Target="../slideLayouts/slideLayout5.xml"/>
</Relationships>

</file>

<file path=ppt/slides/_rels/slide27.xml.rels><?xml version="1.0" encoding="utf-8"?>
<Relationships xmlns="http://schemas.openxmlformats.org/package/2006/relationships">
  <Relationship Id="rId2" Type="http://schemas.openxmlformats.org/officeDocument/2006/relationships/image" Target="../media/image33.png"/>
  <Relationship Id="rId1" Type="http://schemas.openxmlformats.org/officeDocument/2006/relationships/slideLayout" Target="../slideLayouts/slideLayout5.xml"/>
</Relationships>

</file>

<file path=ppt/slides/_rels/slide28.xml.rels><?xml version="1.0" encoding="utf-8"?>
<Relationships xmlns="http://schemas.openxmlformats.org/package/2006/relationships">
  <Relationship Id="rId3" Type="http://schemas.openxmlformats.org/officeDocument/2006/relationships/image" Target="../media/image24.png"/>
  <Relationship Id="rId2" Type="http://schemas.openxmlformats.org/officeDocument/2006/relationships/image" Target="../media/image34.png"/>
  <Relationship Id="rId1" Type="http://schemas.openxmlformats.org/officeDocument/2006/relationships/slideLayout" Target="../slideLayouts/slideLayout5.xml"/>
  <Relationship Id="rId6" Type="http://schemas.openxmlformats.org/officeDocument/2006/relationships/image" Target="../media/image36.png"/>
  <Relationship Id="rId5" Type="http://schemas.openxmlformats.org/officeDocument/2006/relationships/image" Target="../media/image35.png"/>
  <Relationship Id="rId4" Type="http://schemas.openxmlformats.org/officeDocument/2006/relationships/image" Target="../media/image28.png"/>
</Relationships>

</file>

<file path=ppt/slides/_rels/slide29.xml.rels><?xml version="1.0" encoding="utf-8"?>
<Relationships xmlns="http://schemas.openxmlformats.org/package/2006/relationships">
  <Relationship Id="rId2" Type="http://schemas.openxmlformats.org/officeDocument/2006/relationships/image" Target="../media/image29.png"/>
  <Relationship Id="rId1" Type="http://schemas.openxmlformats.org/officeDocument/2006/relationships/slideLayout" Target="../slideLayouts/slideLayout5.xml"/>
</Relationships>

</file>

<file path=ppt/slides/_rels/slide30.xml.rels><?xml version="1.0" encoding="utf-8"?>
<Relationships xmlns="http://schemas.openxmlformats.org/package/2006/relationships">
  <Relationship Id="rId2" Type="http://schemas.openxmlformats.org/officeDocument/2006/relationships/image" Target="../media/image37.png"/>
  <Relationship Id="rId1" Type="http://schemas.openxmlformats.org/officeDocument/2006/relationships/slideLayout" Target="../slideLayouts/slideLayout5.xml"/>
</Relationships>

</file>

<file path=ppt/slides/_rels/slide31.xml.rels><?xml version="1.0" encoding="utf-8"?>
<Relationships xmlns="http://schemas.openxmlformats.org/package/2006/relationships">
  <Relationship Id="rId2" Type="http://schemas.openxmlformats.org/officeDocument/2006/relationships/image" Target="../media/image30.png"/>
  <Relationship Id="rId1" Type="http://schemas.openxmlformats.org/officeDocument/2006/relationships/slideLayout" Target="../slideLayouts/slideLayout5.xml"/>
</Relationships>

</file>

<file path=ppt/slides/_rels/slide32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5.xml"/>
</Relationships>

</file>

<file path=ppt/slides/_rels/slide33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5.xml"/>
</Relationships>

</file>

<file path=ppt/slides/_rels/slide34.xml.rels><?xml version="1.0" encoding="utf-8"?>
<Relationships xmlns="http://schemas.openxmlformats.org/package/2006/relationships">
  <Relationship Id="rId3" Type="http://schemas.openxmlformats.org/officeDocument/2006/relationships/image" Target="../media/image38.png"/>
  <Relationship Id="rId2" Type="http://schemas.openxmlformats.org/officeDocument/2006/relationships/image" Target="../media/image31.png"/>
  <Relationship Id="rId1" Type="http://schemas.openxmlformats.org/officeDocument/2006/relationships/slideLayout" Target="../slideLayouts/slideLayout5.xml"/>
</Relationships>

</file>

<file path=ppt/slides/_rels/slide35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5.xml"/>
</Relationships>

</file>

<file path=ppt/slides/_rels/slide36.xml.rels><?xml version="1.0" encoding="utf-8"?>
<Relationships xmlns="http://schemas.openxmlformats.org/package/2006/relationships">
  <Relationship Id="rId3" Type="http://schemas.openxmlformats.org/officeDocument/2006/relationships/image" Target="../media/image23.png"/>
  <Relationship Id="rId7" Type="http://schemas.openxmlformats.org/officeDocument/2006/relationships/image" Target="../media/image42.png"/>
  <Relationship Id="rId2" Type="http://schemas.openxmlformats.org/officeDocument/2006/relationships/image" Target="../media/image32.png"/>
  <Relationship Id="rId1" Type="http://schemas.openxmlformats.org/officeDocument/2006/relationships/slideLayout" Target="../slideLayouts/slideLayout5.xml"/>
  <Relationship Id="rId6" Type="http://schemas.openxmlformats.org/officeDocument/2006/relationships/image" Target="../media/image41.png"/>
  <Relationship Id="rId5" Type="http://schemas.openxmlformats.org/officeDocument/2006/relationships/image" Target="../media/image40.png"/>
  <Relationship Id="rId4" Type="http://schemas.openxmlformats.org/officeDocument/2006/relationships/image" Target="../media/image39.png"/>
</Relationships>

</file>

<file path=ppt/slides/_rels/slide37.xml.rels><?xml version="1.0" encoding="utf-8"?>
<Relationships xmlns="http://schemas.openxmlformats.org/package/2006/relationships">
  <Relationship Id="rId2" Type="http://schemas.openxmlformats.org/officeDocument/2006/relationships/image" Target="../media/image43.png"/>
  <Relationship Id="rId1" Type="http://schemas.openxmlformats.org/officeDocument/2006/relationships/slideLayout" Target="../slideLayouts/slideLayout5.xml"/>
</Relationships>

</file>

<file path=ppt/slides/_rels/slide38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5.xml"/>
</Relationships>

</file>

<file path=ppt/slides/_rels/slide39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5.xml"/>
</Relationships>

</file>

<file path=ppt/slides/_rels/slide40.xml.rels><?xml version="1.0" encoding="utf-8"?>
<Relationships xmlns="http://schemas.openxmlformats.org/package/2006/relationships">
  <Relationship Id="rId3" Type="http://schemas.openxmlformats.org/officeDocument/2006/relationships/image" Target="../media/image23.png"/>
  <Relationship Id="rId2" Type="http://schemas.openxmlformats.org/officeDocument/2006/relationships/image" Target="../media/image42.png"/>
  <Relationship Id="rId1" Type="http://schemas.openxmlformats.org/officeDocument/2006/relationships/slideLayout" Target="../slideLayouts/slideLayout5.xml"/>
  <Relationship Id="rId4" Type="http://schemas.openxmlformats.org/officeDocument/2006/relationships/image" Target="../media/image30.png"/>
</Relationships>

</file>

<file path=ppt/slides/_rels/slide41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5.xml"/>
</Relationships>

</file>

<file path=ppt/slides/_rels/slide42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5.xml"/>
</Relationships>

</file>

<file path=ppt/slides/_rels/slide43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5.xml"/>
</Relationships>

</file>

<file path=ppt/slides/_rels/slide44.xml.rels><?xml version="1.0" encoding="utf-8"?>
<Relationships xmlns="http://schemas.openxmlformats.org/package/2006/relationships">
  <Relationship Id="rId8" Type="http://schemas.openxmlformats.org/officeDocument/2006/relationships/image" Target="../media/image47.png"/>
  <Relationship Id="rId3" Type="http://schemas.openxmlformats.org/officeDocument/2006/relationships/image" Target="../media/image44.png"/>
  <Relationship Id="rId7" Type="http://schemas.openxmlformats.org/officeDocument/2006/relationships/image" Target="../media/image46.png"/>
  <Relationship Id="rId2" Type="http://schemas.openxmlformats.org/officeDocument/2006/relationships/notesSlide" Target="../notesSlides/notesSlide2.xml"/>
  <Relationship Id="rId1" Type="http://schemas.openxmlformats.org/officeDocument/2006/relationships/slideLayout" Target="../slideLayouts/slideLayout1.xml"/>
  <Relationship Id="rId6" Type="http://schemas.openxmlformats.org/officeDocument/2006/relationships/image" Target="../media/image10.jpeg"/>
  <Relationship Id="rId5" Type="http://schemas.openxmlformats.org/officeDocument/2006/relationships/image" Target="../media/image11.jpeg"/>
  <Relationship Id="rId4" Type="http://schemas.openxmlformats.org/officeDocument/2006/relationships/image" Target="../media/image45.jpeg"/>
</Relationships>

</file>

<file path=ppt/slides/_rels/slide45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5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AB36DAF-BCFD-4CD5-8AC7-A341B075B06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36525"/>
            <a:ext cx="10515600" cy="584200"/>
          </a:xfrm>
        </p:spPr>
        <p:txBody>
          <a:bodyPr>
            <a:normAutofit fontScale="90000"/>
          </a:bodyPr>
          <a:lstStyle/>
          <a:p>
            <a:pPr algn="ctr"/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 xml:space="preserve">	</a:t>
            </a:r>
            <a:r>
              <a:rPr lang="en-US" b="1" dirty="0"/>
              <a:t>Version 2.8</a:t>
            </a:r>
            <a:br>
              <a:rPr lang="en-US" b="1" dirty="0"/>
            </a:br>
            <a:r>
              <a:rPr lang="en-US" b="1" dirty="0"/>
              <a:t xml:space="preserve">	04/03/26</a:t>
            </a:r>
          </a:p>
        </p:txBody>
      </p:sp>
    </p:spTree>
    <p:extLst>
      <p:ext uri="{BB962C8B-B14F-4D97-AF65-F5344CB8AC3E}">
        <p14:creationId xmlns:p14="http://schemas.microsoft.com/office/powerpoint/2010/main" val="3865718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0B30B-BF59-58F0-A0E3-089D5D326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B37C34A4-2F7C-3F02-8AD8-4A34F1B827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>
            <a:normAutofit/>
          </a:bodyPr>
          <a:lstStyle/>
          <a:p>
            <a:pPr algn="ctr"/>
            <a:endParaRPr lang="en-US" sz="4400" b="1" dirty="0">
              <a:solidFill>
                <a:schemeClr val="accent1"/>
              </a:solidFill>
            </a:endParaRPr>
          </a:p>
          <a:p>
            <a:pPr algn="ctr"/>
            <a:r>
              <a:rPr lang="en-US" sz="4400" b="1" dirty="0">
                <a:solidFill>
                  <a:schemeClr val="accent1"/>
                </a:solidFill>
              </a:rPr>
              <a:t>We're All Using AI, But We're Not Enjoying It</a:t>
            </a:r>
          </a:p>
          <a:p>
            <a:pPr algn="ctr"/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 xml:space="preserve">                                                     Presented by Brent Laster 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C1DA5D-C67D-6BA2-0803-A6B239279D86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184617" y="5845563"/>
            <a:ext cx="1609181" cy="671833"/>
          </a:xfrm>
          <a:prstGeom prst="rect">
            <a:avLst/>
          </a:prstGeom>
        </p:spPr>
      </p:pic>
      <p:pic>
        <p:nvPicPr>
          <p:cNvPr id="1026" name="Picture 2" descr="Problems Using the Registered Trademark Symbol with Products ...">
            <a:extLst>
              <a:ext uri="{FF2B5EF4-FFF2-40B4-BE49-F238E27FC236}">
                <a16:creationId xmlns:a16="http://schemas.microsoft.com/office/drawing/2014/main" id="{AF0D5608-BB5A-4B83-D7C1-1348449F6E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7663" y="6067740"/>
            <a:ext cx="433635" cy="227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9C7ABC5-29F2-E664-C631-2175C945FF35}"/>
              </a:ext>
            </a:extLst>
          </p:cNvPr>
          <p:cNvSpPr txBox="1"/>
          <p:nvPr/>
        </p:nvSpPr>
        <p:spPr>
          <a:xfrm>
            <a:off x="3750121" y="5014934"/>
            <a:ext cx="45834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Tech Skills Transformations LLC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436E77-E431-164E-85BC-6A926AD989C8}"/>
              </a:ext>
            </a:extLst>
          </p:cNvPr>
          <p:cNvSpPr txBox="1"/>
          <p:nvPr/>
        </p:nvSpPr>
        <p:spPr>
          <a:xfrm>
            <a:off x="3858379" y="5673646"/>
            <a:ext cx="447524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© 2026 Brent C. Laster &amp; Tech Skills Transformations LLC</a:t>
            </a:r>
          </a:p>
          <a:p>
            <a:pPr algn="ctr"/>
            <a:endParaRPr lang="en-US" sz="1200" dirty="0">
              <a:solidFill>
                <a:schemeClr val="tx1"/>
              </a:solidFill>
            </a:endParaRPr>
          </a:p>
          <a:p>
            <a:pPr algn="ctr"/>
            <a:endParaRPr lang="en-US" sz="1200" dirty="0">
              <a:solidFill>
                <a:schemeClr val="tx1"/>
              </a:solidFill>
            </a:endParaRP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 xml:space="preserve"> 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All rights reserved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B355B8A-1AB3-1253-2400-0CF37CFDE8EB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011936"/>
              </a:clrFrom>
              <a:clrTo>
                <a:srgbClr val="01193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883558" y="6029754"/>
            <a:ext cx="301059" cy="3034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E83F00E-5055-9E06-307D-85D5C5ACDE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8397" y="168691"/>
            <a:ext cx="4072313" cy="709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703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B595A-78FB-36CD-C0A6-4B73E133D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D64E648-8425-9C8A-5EB1-04E7A5A11A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240"/>
            <a:ext cx="12192000" cy="6352221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1C8E79-98ED-8174-AFD6-675BCF428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0718" y="9995"/>
            <a:ext cx="3034897" cy="126481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3500" dirty="0">
                <a:solidFill>
                  <a:srgbClr val="FFFFFF"/>
                </a:solidFill>
                <a:latin typeface="+mj-lt"/>
              </a:rPr>
              <a:t>About me</a:t>
            </a:r>
            <a:br>
              <a:rPr lang="en-US" sz="3500" dirty="0">
                <a:solidFill>
                  <a:srgbClr val="FFFFFF"/>
                </a:solidFill>
                <a:latin typeface="+mj-lt"/>
              </a:rPr>
            </a:br>
            <a:r>
              <a:rPr lang="en-US" sz="3500" dirty="0">
                <a:solidFill>
                  <a:srgbClr val="FFFFFF"/>
                </a:solidFill>
                <a:latin typeface="+mj-lt"/>
              </a:rPr>
              <a:t xml:space="preserve">	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6510CD7-0F27-2BC3-36BB-66ECE0B27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06607" y="238708"/>
            <a:ext cx="3314931" cy="18618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6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Founder, Tech Skills Transformations LLC</a:t>
            </a:r>
          </a:p>
          <a:p>
            <a:r>
              <a:rPr lang="en-US" sz="1600" dirty="0">
                <a:latin typeface="Futura Medium" panose="020B0602020204020303" pitchFamily="34" charset="-79"/>
                <a:cs typeface="Futura Medium" panose="020B0602020204020303" pitchFamily="34" charset="-79"/>
                <a:hlinkClick r:id="" action="ppaction://noaction"/>
              </a:rPr>
              <a:t>https://getskillsnow.com</a:t>
            </a:r>
          </a:p>
          <a:p>
            <a:r>
              <a:rPr lang="en-US" sz="1600" dirty="0">
                <a:latin typeface="Futura Medium" panose="020B0602020204020303" pitchFamily="34" charset="-79"/>
                <a:cs typeface="Futura Medium" panose="020B0602020204020303" pitchFamily="34" charset="-79"/>
                <a:hlinkClick r:id="rId4"/>
              </a:rPr>
              <a:t>info@getskillsnow.com</a:t>
            </a:r>
            <a:br>
              <a:rPr lang="en-US" sz="1400" dirty="0"/>
            </a:br>
            <a:endParaRPr lang="en-US" sz="1400" dirty="0"/>
          </a:p>
          <a:p>
            <a:endParaRPr lang="en-US" sz="1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94D54D8-822E-0C57-B74B-5675B46525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2060" y="3934684"/>
            <a:ext cx="1278206" cy="160595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4D73E8F-1A63-64BF-3010-1C3F170E71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61342" y="4914520"/>
            <a:ext cx="1201008" cy="1555404"/>
          </a:xfrm>
          <a:prstGeom prst="rect">
            <a:avLst/>
          </a:prstGeom>
        </p:spPr>
      </p:pic>
      <p:pic>
        <p:nvPicPr>
          <p:cNvPr id="14" name="Picture 2" descr="Learning GitHub Actions: Automation and Integration of CI/CD with GitHub">
            <a:extLst>
              <a:ext uri="{FF2B5EF4-FFF2-40B4-BE49-F238E27FC236}">
                <a16:creationId xmlns:a16="http://schemas.microsoft.com/office/drawing/2014/main" id="{A3AF8EA2-164C-3EC0-A5A1-92861633CF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1086" y="1470997"/>
            <a:ext cx="1142134" cy="1499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Learning GitHub Copilot: Multiplying Your Coding Productivity Using AI">
            <a:extLst>
              <a:ext uri="{FF2B5EF4-FFF2-40B4-BE49-F238E27FC236}">
                <a16:creationId xmlns:a16="http://schemas.microsoft.com/office/drawing/2014/main" id="{F66E18C2-382D-2A81-7B9D-BE7F1C42EF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5291" y="2040327"/>
            <a:ext cx="1211745" cy="1591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9F4A36A1-8C72-6154-F2F9-C6871B97E5FA}"/>
              </a:ext>
            </a:extLst>
          </p:cNvPr>
          <p:cNvSpPr txBox="1">
            <a:spLocks/>
          </p:cNvSpPr>
          <p:nvPr/>
        </p:nvSpPr>
        <p:spPr>
          <a:xfrm>
            <a:off x="378805" y="4045644"/>
            <a:ext cx="3286712" cy="22442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Wingdings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buFont typeface="Wingdings" pitchFamily="2" charset="77"/>
              <a:buChar char="q"/>
            </a:pPr>
            <a:r>
              <a:rPr lang="en-US" sz="1900" b="1" dirty="0">
                <a:solidFill>
                  <a:schemeClr val="bg1"/>
                </a:solidFill>
                <a:latin typeface="Aptos" panose="020B0004020202020204" pitchFamily="34" charset="0"/>
              </a:rPr>
              <a:t xml:space="preserve">LinkedIn: </a:t>
            </a:r>
            <a:r>
              <a:rPr lang="en-US" sz="1900" b="1" dirty="0" err="1">
                <a:solidFill>
                  <a:schemeClr val="bg1"/>
                </a:solidFill>
                <a:latin typeface="Aptos" panose="020B0004020202020204" pitchFamily="34" charset="0"/>
              </a:rPr>
              <a:t>brentlaster</a:t>
            </a:r>
            <a:endParaRPr lang="en-US" sz="1900" b="1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fontAlgn="auto">
              <a:spcAft>
                <a:spcPts val="0"/>
              </a:spcAft>
              <a:buFont typeface="Wingdings" pitchFamily="2" charset="77"/>
              <a:buChar char="q"/>
            </a:pPr>
            <a:r>
              <a:rPr lang="en-US" sz="1900" b="1" dirty="0">
                <a:solidFill>
                  <a:schemeClr val="bg1"/>
                </a:solidFill>
                <a:latin typeface="Aptos" panose="020B0004020202020204" pitchFamily="34" charset="0"/>
              </a:rPr>
              <a:t>X: @</a:t>
            </a:r>
            <a:r>
              <a:rPr lang="en-US" sz="1900" b="1" dirty="0" err="1">
                <a:solidFill>
                  <a:schemeClr val="bg1"/>
                </a:solidFill>
                <a:latin typeface="Aptos" panose="020B0004020202020204" pitchFamily="34" charset="0"/>
              </a:rPr>
              <a:t>BrentCLaster</a:t>
            </a:r>
            <a:endParaRPr lang="en-US" sz="1900" b="1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fontAlgn="auto">
              <a:spcAft>
                <a:spcPts val="0"/>
              </a:spcAft>
              <a:buFont typeface="Wingdings" pitchFamily="2" charset="77"/>
              <a:buChar char="q"/>
            </a:pPr>
            <a:r>
              <a:rPr lang="en-US" sz="1900" b="1" dirty="0">
                <a:solidFill>
                  <a:schemeClr val="bg1"/>
                </a:solidFill>
                <a:latin typeface="Aptos" panose="020B0004020202020204" pitchFamily="34" charset="0"/>
              </a:rPr>
              <a:t xml:space="preserve">Bluesky: </a:t>
            </a:r>
            <a:r>
              <a:rPr lang="en-US" sz="1900" b="1" dirty="0" err="1">
                <a:solidFill>
                  <a:schemeClr val="bg1"/>
                </a:solidFill>
                <a:latin typeface="Aptos" panose="020B0004020202020204" pitchFamily="34" charset="0"/>
              </a:rPr>
              <a:t>brentclaster.bsky.social</a:t>
            </a:r>
            <a:endParaRPr lang="en-US" sz="1900" b="1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fontAlgn="auto">
              <a:spcAft>
                <a:spcPts val="0"/>
              </a:spcAft>
              <a:buFont typeface="Wingdings" pitchFamily="2" charset="77"/>
              <a:buChar char="q"/>
            </a:pPr>
            <a:r>
              <a:rPr lang="en-US" sz="1900" b="1" dirty="0">
                <a:solidFill>
                  <a:schemeClr val="bg1"/>
                </a:solidFill>
                <a:latin typeface="Aptos" panose="020B0004020202020204" pitchFamily="34" charset="0"/>
              </a:rPr>
              <a:t xml:space="preserve">GitHub: </a:t>
            </a:r>
            <a:r>
              <a:rPr lang="en-US" sz="1900" b="1" dirty="0" err="1">
                <a:solidFill>
                  <a:schemeClr val="bg1"/>
                </a:solidFill>
                <a:latin typeface="Aptos" panose="020B0004020202020204" pitchFamily="34" charset="0"/>
              </a:rPr>
              <a:t>brentlaster</a:t>
            </a:r>
            <a:endParaRPr lang="en-US" sz="1900" b="1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fontAlgn="auto">
              <a:spcAft>
                <a:spcPts val="0"/>
              </a:spcAft>
            </a:pPr>
            <a:endParaRPr lang="en-US" sz="14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1D7AB8B-83FC-8E53-3B03-78D99B8604A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79361" y="1657568"/>
            <a:ext cx="4297363" cy="3489903"/>
          </a:xfrm>
          <a:prstGeom prst="rect">
            <a:avLst/>
          </a:prstGeom>
        </p:spPr>
      </p:pic>
      <p:pic>
        <p:nvPicPr>
          <p:cNvPr id="1028" name="Picture 4" descr="profile image">
            <a:extLst>
              <a:ext uri="{FF2B5EF4-FFF2-40B4-BE49-F238E27FC236}">
                <a16:creationId xmlns:a16="http://schemas.microsoft.com/office/drawing/2014/main" id="{938A2ED0-8DA9-27A5-8E2D-BC2D9C4A1B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108" y="927115"/>
            <a:ext cx="2475405" cy="2475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49E5341-0291-957E-09FF-DA8D5DA88D5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91086" y="3080123"/>
            <a:ext cx="1142134" cy="170912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2F932C1-1365-4788-3A8B-DFA9E4DF5951}"/>
              </a:ext>
            </a:extLst>
          </p:cNvPr>
          <p:cNvSpPr txBox="1"/>
          <p:nvPr/>
        </p:nvSpPr>
        <p:spPr>
          <a:xfrm>
            <a:off x="4072829" y="236746"/>
            <a:ext cx="407494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Long career in corporate:</a:t>
            </a:r>
          </a:p>
          <a:p>
            <a:endParaRPr lang="en-US" sz="1600" dirty="0">
              <a:latin typeface="Futura Medium" panose="020B0602020204020303" pitchFamily="34" charset="-79"/>
              <a:cs typeface="Futura Medium" panose="020B0602020204020303" pitchFamily="34" charset="-79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i="1" dirty="0">
                <a:latin typeface="Futura Medium" panose="020B0602020204020303" pitchFamily="34" charset="-79"/>
                <a:cs typeface="Futura Medium" panose="020B0602020204020303" pitchFamily="34" charset="-79"/>
              </a:rPr>
              <a:t>Principal Dev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i="1" dirty="0">
                <a:latin typeface="Futura Medium" panose="020B0602020204020303" pitchFamily="34" charset="-79"/>
                <a:cs typeface="Futura Medium" panose="020B0602020204020303" pitchFamily="34" charset="-79"/>
              </a:rPr>
              <a:t>Manager/Senior Manager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i="1" dirty="0">
                <a:latin typeface="Futura Medium" panose="020B0602020204020303" pitchFamily="34" charset="-79"/>
                <a:cs typeface="Futura Medium" panose="020B0602020204020303" pitchFamily="34" charset="-79"/>
              </a:rPr>
              <a:t>Director</a:t>
            </a:r>
          </a:p>
          <a:p>
            <a:endParaRPr lang="en-US" sz="1400" dirty="0"/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38D4627-8D0D-2EE3-DECD-28C082557C06}"/>
              </a:ext>
            </a:extLst>
          </p:cNvPr>
          <p:cNvPicPr>
            <a:picLocks noChangeAspect="1"/>
          </p:cNvPicPr>
          <p:nvPr/>
        </p:nvPicPr>
        <p:blipFill>
          <a:blip r:embed="rId12">
            <a:clrChange>
              <a:clrFrom>
                <a:srgbClr val="171717"/>
              </a:clrFrom>
              <a:clrTo>
                <a:srgbClr val="17171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766500" y="5036696"/>
            <a:ext cx="3959435" cy="60825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E889065-7A82-C736-9E01-630D9E00F21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447550" y="2561056"/>
            <a:ext cx="1484588" cy="1484588"/>
          </a:xfrm>
          <a:prstGeom prst="rect">
            <a:avLst/>
          </a:prstGeom>
        </p:spPr>
      </p:pic>
      <p:pic>
        <p:nvPicPr>
          <p:cNvPr id="1026" name="Picture 2" descr="Devices and Solutions at CES ...">
            <a:extLst>
              <a:ext uri="{FF2B5EF4-FFF2-40B4-BE49-F238E27FC236}">
                <a16:creationId xmlns:a16="http://schemas.microsoft.com/office/drawing/2014/main" id="{83163FFA-5EAE-6110-1CBA-F5AE80A6E1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4072" y="5966299"/>
            <a:ext cx="1103826" cy="551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Bandwidth Announces Integration with ...">
            <a:extLst>
              <a:ext uri="{FF2B5EF4-FFF2-40B4-BE49-F238E27FC236}">
                <a16:creationId xmlns:a16="http://schemas.microsoft.com/office/drawing/2014/main" id="{3550BE15-6BE4-3B18-FBEF-FC5C366381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5361" y="6118194"/>
            <a:ext cx="1145769" cy="240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E9C2264-01D0-F542-B68A-2921CA6C442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444073" y="165991"/>
            <a:ext cx="1678547" cy="167854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AD9CF9D-8FD6-2E2E-FB98-0F1920C3DB5B}"/>
              </a:ext>
            </a:extLst>
          </p:cNvPr>
          <p:cNvPicPr>
            <a:picLocks noChangeAspect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147772" y="5500739"/>
            <a:ext cx="1240963" cy="522919"/>
          </a:xfrm>
          <a:prstGeom prst="rect">
            <a:avLst/>
          </a:prstGeom>
        </p:spPr>
      </p:pic>
      <p:pic>
        <p:nvPicPr>
          <p:cNvPr id="1030" name="Picture 6" descr="&lt;div class=&quot;ctd-news-title&quot;&gt;NC IDEA spotlights partnership with Code the Dream&lt;/div&gt;">
            <a:extLst>
              <a:ext uri="{FF2B5EF4-FFF2-40B4-BE49-F238E27FC236}">
                <a16:creationId xmlns:a16="http://schemas.microsoft.com/office/drawing/2014/main" id="{7A16581D-3E96-62DC-8040-7E2CB4AD03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6503" y="5826553"/>
            <a:ext cx="605151" cy="720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 descr="UT Southwestern biochemist, molecular ...">
            <a:extLst>
              <a:ext uri="{FF2B5EF4-FFF2-40B4-BE49-F238E27FC236}">
                <a16:creationId xmlns:a16="http://schemas.microsoft.com/office/drawing/2014/main" id="{A79D8D05-037E-AC75-D2C7-8BAC707DF6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6859" y="5594789"/>
            <a:ext cx="2119631" cy="342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4210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98918"/>
            <a:ext cx="10972800" cy="777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Show of Hands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09600" y="1434806"/>
            <a:ext cx="5120640" cy="4184851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09600" y="1434806"/>
            <a:ext cx="97536" cy="4184851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75360" y="1793507"/>
            <a:ext cx="4389120" cy="1434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800" b="1" dirty="0">
                <a:solidFill>
                  <a:srgbClr val="16A08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52%</a:t>
            </a:r>
            <a:endParaRPr lang="en-US" sz="6800" dirty="0"/>
          </a:p>
        </p:txBody>
      </p:sp>
      <p:sp>
        <p:nvSpPr>
          <p:cNvPr id="6" name="Text 4"/>
          <p:cNvSpPr/>
          <p:nvPr/>
        </p:nvSpPr>
        <p:spPr>
          <a:xfrm>
            <a:off x="975360" y="3228313"/>
            <a:ext cx="4389120" cy="8369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of employees now use AI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at work daily or weekly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75360" y="4184851"/>
            <a:ext cx="4389120" cy="478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That number is growing fast.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61760" y="1434806"/>
            <a:ext cx="5120640" cy="4184851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61760" y="1434806"/>
            <a:ext cx="97536" cy="4184851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27520" y="1673940"/>
            <a:ext cx="4389120" cy="478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74C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But...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27520" y="2271776"/>
            <a:ext cx="4389120" cy="1434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800" b="1" dirty="0">
                <a:solidFill>
                  <a:srgbClr val="E74C3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-18%</a:t>
            </a:r>
            <a:endParaRPr lang="en-US" sz="6800" dirty="0"/>
          </a:p>
        </p:txBody>
      </p:sp>
      <p:sp>
        <p:nvSpPr>
          <p:cNvPr id="12" name="Text 10"/>
          <p:cNvSpPr/>
          <p:nvPr/>
        </p:nvSpPr>
        <p:spPr>
          <a:xfrm>
            <a:off x="6827520" y="3706582"/>
            <a:ext cx="4389120" cy="8369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drop in worker confidence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 using technology at work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09600" y="6157709"/>
            <a:ext cx="10972800" cy="41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Sources: Qualtrics Employee Experience Trends, 2026 | ManpowerGroup Global Talent Barometer, 2026</a:t>
            </a:r>
            <a:endParaRPr lang="en-US" sz="1000" dirty="0"/>
          </a:p>
        </p:txBody>
      </p:sp>
      <p:sp>
        <p:nvSpPr>
          <p:cNvPr id="23" name="SlideNum3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000" dirty="0">
                <a:solidFill>
                  <a:srgbClr val="808080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98918"/>
            <a:ext cx="10972800" cy="777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AI Productivity Paradox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09600" y="1554373"/>
            <a:ext cx="4876800" cy="1434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800" b="1" dirty="0">
                <a:solidFill>
                  <a:srgbClr val="E74C3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~3 in 4</a:t>
            </a:r>
            <a:endParaRPr lang="en-US" sz="6800" dirty="0"/>
          </a:p>
        </p:txBody>
      </p:sp>
      <p:sp>
        <p:nvSpPr>
          <p:cNvPr id="4" name="Text 2"/>
          <p:cNvSpPr/>
          <p:nvPr/>
        </p:nvSpPr>
        <p:spPr>
          <a:xfrm>
            <a:off x="609600" y="2989179"/>
            <a:ext cx="4876800" cy="8369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of executives report difficulty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scaling AI to repeatable ROI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96000" y="1434806"/>
            <a:ext cx="5486400" cy="4184851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096000" y="1434806"/>
            <a:ext cx="97536" cy="4184851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61760" y="1673940"/>
            <a:ext cx="4754880" cy="9565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Only 1 in 3 developers trust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output accuracy;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74C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46% actively distrust it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61760" y="2750045"/>
            <a:ext cx="4754880" cy="8369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74C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52%</a:t>
            </a:r>
            <a:r>
              <a:rPr lang="en-US" sz="13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 of workers more worried than hopeful about AI in their workplace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61760" y="3706582"/>
            <a:ext cx="4754880" cy="8369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Collaboration time </a:t>
            </a:r>
            <a:r>
              <a:rPr lang="en-US" sz="1300" b="1" dirty="0">
                <a:solidFill>
                  <a:srgbClr val="E74C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increased notably</a:t>
            </a:r>
            <a:r>
              <a:rPr lang="en-US" sz="13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. Focused work sessions fell </a:t>
            </a:r>
            <a:r>
              <a:rPr lang="en-US" sz="1300" b="1" dirty="0">
                <a:solidFill>
                  <a:srgbClr val="E74C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9%</a:t>
            </a:r>
            <a:r>
              <a:rPr lang="en-US" sz="13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 after AI adoption.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9600" y="5619656"/>
            <a:ext cx="10972800" cy="478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We're using it more. We're enjoying it less.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09600" y="6157709"/>
            <a:ext cx="10972800" cy="41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Sources: KPMG CEO Outlook, 2026 | Stack Overflow Developer Survey, 2025 | Pew Research Center, 2025 | ActivTrak, 2026</a:t>
            </a:r>
            <a:endParaRPr lang="en-US" sz="1000" dirty="0"/>
          </a:p>
        </p:txBody>
      </p:sp>
      <p:sp>
        <p:nvSpPr>
          <p:cNvPr id="21" name="SlideNum4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000" dirty="0">
                <a:solidFill>
                  <a:srgbClr val="808080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8701"/>
            <a:ext cx="10972800" cy="9565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Test That Passed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09600" y="1673940"/>
            <a:ext cx="97536" cy="3826149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53440" y="1673940"/>
            <a:ext cx="10728960" cy="3826149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341120" y="1913075"/>
            <a:ext cx="9753600" cy="3347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"You asked your AI copilot to write a unit test for your authentication module. It generated a beautiful test — correct syntax, proper assertions, good structure. It passed on the first run.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i="1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Three days later, a security review reveals the test never validated the actual edge case — the token expiry path. The AI tested the happy path perfectly and skipped the part that mattered.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09600" y="5739224"/>
            <a:ext cx="10972800" cy="5978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Based on a pattern seen across engineering teams. That gap between looking right and being right is what this talk is about.</a:t>
            </a:r>
            <a:endParaRPr lang="en-US" sz="1600" dirty="0"/>
          </a:p>
        </p:txBody>
      </p:sp>
      <p:sp>
        <p:nvSpPr>
          <p:cNvPr id="16" name="SlideNum5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000" dirty="0">
                <a:solidFill>
                  <a:srgbClr val="808080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8701"/>
            <a:ext cx="10972800" cy="9565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Test Details</a:t>
            </a:r>
          </a:p>
        </p:txBody>
      </p:sp>
      <p:sp>
        <p:nvSpPr>
          <p:cNvPr id="3" name="Shape 1"/>
          <p:cNvSpPr/>
          <p:nvPr/>
        </p:nvSpPr>
        <p:spPr>
          <a:xfrm>
            <a:off x="609600" y="1673940"/>
            <a:ext cx="97536" cy="3826149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53440" y="1673940"/>
            <a:ext cx="10728960" cy="3826149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341120" y="1793507"/>
            <a:ext cx="9753600" cy="3467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the AI test covered: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Token validation returns 200 for valid input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Endpoint exists, HTTP structure correct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Standard happy-path assertions</a:t>
            </a:r>
          </a:p>
          <a:p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it never touched: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Expired tokens  • Wrong issuer  • Revoked sessions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Application-specific threat model edge cases</a:t>
            </a:r>
          </a:p>
          <a:p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“The code compiles” and “the code passes” aren’t the same as “the code is correct for this team.”</a:t>
            </a:r>
          </a:p>
        </p:txBody>
      </p:sp>
      <p:sp>
        <p:nvSpPr>
          <p:cNvPr id="6" name="Text 4"/>
          <p:cNvSpPr/>
          <p:nvPr/>
        </p:nvSpPr>
        <p:spPr>
          <a:xfrm>
            <a:off x="609600" y="5739224"/>
            <a:ext cx="10972800" cy="5978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Correctness is application-specific — generic tests miss team-specific requirements.</a:t>
            </a:r>
          </a:p>
        </p:txBody>
      </p:sp>
      <p:sp>
        <p:nvSpPr>
          <p:cNvPr id="7" name="SlideNum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/>
            <a:r>
              <a:rPr lang="en-US" sz="1000" dirty="0">
                <a:solidFill>
                  <a:srgbClr val="808080"/>
                </a:solidFill>
              </a:rPr>
              <a:t>5b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 Bar"/>
          <p:cNvSpPr/>
          <p:nvPr/>
        </p:nvSpPr>
        <p:spPr>
          <a:xfrm>
            <a:off x="5619750" y="2709862"/>
            <a:ext cx="952500" cy="47625"/>
          </a:xfrm>
          <a:prstGeom prst="rect">
            <a:avLst/>
          </a:prstGeom>
          <a:solidFill>
            <a:srgbClr val="00A79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800"/>
          </a:p>
        </p:txBody>
      </p:sp>
      <p:sp>
        <p:nvSpPr>
          <p:cNvPr id="11" name="Divider Title"/>
          <p:cNvSpPr txBox="1"/>
          <p:nvPr/>
        </p:nvSpPr>
        <p:spPr>
          <a:xfrm>
            <a:off x="907627" y="3125613"/>
            <a:ext cx="10376745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4500" b="1" dirty="0">
                <a:solidFill>
                  <a:srgbClr val="003366"/>
                </a:solidFill>
                <a:latin typeface="Poppins"/>
                <a:cs typeface="Poppins"/>
                <a:sym typeface="Poppins"/>
              </a:rPr>
              <a:t>Why Does AI Feel So Hard? Five barriers between adoption and enjoyment</a:t>
            </a:r>
            <a:endParaRPr dirty="0"/>
          </a:p>
        </p:txBody>
      </p:sp>
      <p:sp>
        <p:nvSpPr>
          <p:cNvPr id="12" name="Overlay"/>
          <p:cNvSpPr/>
          <p:nvPr/>
        </p:nvSpPr>
        <p:spPr>
          <a:xfrm>
            <a:off x="0" y="42861"/>
            <a:ext cx="12192000" cy="6858000"/>
          </a:xfrm>
          <a:prstGeom prst="rect">
            <a:avLst/>
          </a:prstGeom>
          <a:solidFill>
            <a:srgbClr val="EBE3D0">
              <a:alpha val="16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98918"/>
            <a:ext cx="10972800" cy="777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Five Barriers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26720" y="1434806"/>
            <a:ext cx="2072640" cy="3826149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97280" y="1793507"/>
            <a:ext cx="731520" cy="717403"/>
          </a:xfrm>
          <a:prstGeom prst="ellipse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sessions/intelligent-gifted-keller/deck2/images/icon-puzz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008" y="1901118"/>
            <a:ext cx="512064" cy="5021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869612"/>
            <a:ext cx="1828800" cy="9565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A08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Poorly Integrated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6A08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Tools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718816" y="1434806"/>
            <a:ext cx="2072640" cy="3826149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3389376" y="1793507"/>
            <a:ext cx="731520" cy="717403"/>
          </a:xfrm>
          <a:prstGeom prst="ellipse">
            <a:avLst/>
          </a:prstGeom>
          <a:solidFill>
            <a:srgbClr val="00A79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/sessions/intelligent-gifted-keller/deck2/images/icon-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9104" y="1901118"/>
            <a:ext cx="512064" cy="50218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840736" y="2869612"/>
            <a:ext cx="1828800" cy="9565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336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Unclear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0336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Workflows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010912" y="1434806"/>
            <a:ext cx="2072640" cy="3826149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5681472" y="1793507"/>
            <a:ext cx="731520" cy="717403"/>
          </a:xfrm>
          <a:prstGeom prst="ellipse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/sessions/intelligent-gifted-keller/deck2/images/icon-warn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1200" y="1901118"/>
            <a:ext cx="512064" cy="50218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132832" y="2869612"/>
            <a:ext cx="1828800" cy="9565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336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Unrealistic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0336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Expectations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7303008" y="1434806"/>
            <a:ext cx="2072640" cy="3826149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7973568" y="1793507"/>
            <a:ext cx="731520" cy="717403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/sessions/intelligent-gifted-keller/deck2/images/icon-bra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3296" y="1901118"/>
            <a:ext cx="512064" cy="50218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424928" y="2869612"/>
            <a:ext cx="1828800" cy="9565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74C3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Cognitive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E74C3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Overload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9595104" y="1434806"/>
            <a:ext cx="2072640" cy="3826149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4"/>
          <p:cNvSpPr/>
          <p:nvPr/>
        </p:nvSpPr>
        <p:spPr>
          <a:xfrm>
            <a:off x="10265664" y="1793507"/>
            <a:ext cx="731520" cy="717403"/>
          </a:xfrm>
          <a:prstGeom prst="ellipse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4" descr="/sessions/intelligent-gifted-keller/deck2/images/icon-runni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75392" y="1901118"/>
            <a:ext cx="512064" cy="50218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717024" y="2869612"/>
            <a:ext cx="1828800" cy="9565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Pressure to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Keep Up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609600" y="5500089"/>
            <a:ext cx="10972800" cy="478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Let's look at each one.</a:t>
            </a:r>
            <a:endParaRPr lang="en-US" sz="1400" dirty="0"/>
          </a:p>
        </p:txBody>
      </p:sp>
      <p:sp>
        <p:nvSpPr>
          <p:cNvPr id="33" name="SlideNum7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000" dirty="0">
                <a:solidFill>
                  <a:srgbClr val="808080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98918"/>
            <a:ext cx="10972800" cy="777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Barrier 1: Too Many Tools, Not Enough Glue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0972800" y="334788"/>
            <a:ext cx="609600" cy="597836"/>
          </a:xfrm>
          <a:prstGeom prst="ellipse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sessions/intelligent-gifted-keller/deck2/images/icon-puzz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424463"/>
            <a:ext cx="426720" cy="41848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600" y="1554373"/>
            <a:ext cx="3657600" cy="1434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16A08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5+</a:t>
            </a:r>
            <a:endParaRPr lang="en-US" sz="7200" dirty="0"/>
          </a:p>
        </p:txBody>
      </p:sp>
      <p:sp>
        <p:nvSpPr>
          <p:cNvPr id="6" name="Text 3"/>
          <p:cNvSpPr/>
          <p:nvPr/>
        </p:nvSpPr>
        <p:spPr>
          <a:xfrm>
            <a:off x="609600" y="2989179"/>
            <a:ext cx="3657600" cy="7174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tools per team (observed pattern)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(often up from just a couple not long ago)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876800" y="1434806"/>
            <a:ext cx="6705600" cy="4184851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4876800" y="1434806"/>
            <a:ext cx="97536" cy="4184851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242560" y="1673940"/>
            <a:ext cx="5974080" cy="9565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Efficiency tends to improve up to ~3 tools,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then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74C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then switching costs outweigh gains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242560" y="2750045"/>
            <a:ext cx="5974080" cy="7174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74C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Result:</a:t>
            </a:r>
            <a:r>
              <a:rPr lang="en-US" sz="13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 Widespread "shadow AI" use when official tools are weak or slow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242560" y="3706582"/>
            <a:ext cx="5974080" cy="9565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 new tool means new mental models, new quirks, new limitations. The switching cost is real.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09600" y="6157709"/>
            <a:ext cx="10972800" cy="41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Sources: BCG/HBR, 2026 | Qualtrics, 2026</a:t>
            </a:r>
            <a:endParaRPr lang="en-US" sz="1000" dirty="0"/>
          </a:p>
        </p:txBody>
      </p:sp>
      <p:sp>
        <p:nvSpPr>
          <p:cNvPr id="22" name="SlideNum8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000" dirty="0">
                <a:solidFill>
                  <a:srgbClr val="808080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98918"/>
            <a:ext cx="10972800" cy="777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Three-Tool Threshold</a:t>
            </a:r>
            <a:endParaRPr lang="en-US" sz="34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609600" y="1434806"/>
          <a:ext cx="10972800" cy="43044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 1"/>
          <p:cNvSpPr/>
          <p:nvPr/>
        </p:nvSpPr>
        <p:spPr>
          <a:xfrm>
            <a:off x="609600" y="5858791"/>
            <a:ext cx="10972800" cy="478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Operating heuristic: standardize on 2-3 primary tools and go deep rather than spreading thin.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09600" y="6157709"/>
            <a:ext cx="10972800" cy="41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Source: BCG/HBR, 2026 (illustrative)</a:t>
            </a:r>
            <a:endParaRPr lang="en-US" sz="1000" dirty="0"/>
          </a:p>
        </p:txBody>
      </p:sp>
      <p:sp>
        <p:nvSpPr>
          <p:cNvPr id="15" name="SlideNum9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000" dirty="0">
                <a:solidFill>
                  <a:srgbClr val="808080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8701"/>
            <a:ext cx="10972800" cy="9565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Engineer's AI Toolbox (Today)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09600" y="1554373"/>
            <a:ext cx="6705600" cy="813057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92480" y="1661983"/>
            <a:ext cx="609600" cy="597836"/>
          </a:xfrm>
          <a:prstGeom prst="ellipse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92480" y="1661983"/>
            <a:ext cx="609600" cy="5978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84960" y="1602200"/>
            <a:ext cx="2682240" cy="358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IDE Copilot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84960" y="1960901"/>
            <a:ext cx="5120640" cy="358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Inline completions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9600" y="2486997"/>
            <a:ext cx="6705600" cy="813057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92480" y="2594607"/>
            <a:ext cx="609600" cy="597836"/>
          </a:xfrm>
          <a:prstGeom prst="ellipse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92480" y="2594607"/>
            <a:ext cx="609600" cy="5978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84960" y="2534824"/>
            <a:ext cx="2682240" cy="358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Chat Interface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84960" y="2893525"/>
            <a:ext cx="5120640" cy="358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ChatGPT, Claude, Gemini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9600" y="3419621"/>
            <a:ext cx="6705600" cy="813057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92480" y="3527231"/>
            <a:ext cx="609600" cy="597836"/>
          </a:xfrm>
          <a:prstGeom prst="ellipse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92480" y="3527231"/>
            <a:ext cx="609600" cy="5978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84960" y="3467448"/>
            <a:ext cx="2682240" cy="358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Code Search / RAG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84960" y="3826149"/>
            <a:ext cx="5120640" cy="358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Codebase Q&amp;A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9600" y="4352245"/>
            <a:ext cx="6705600" cy="813057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92480" y="4459855"/>
            <a:ext cx="609600" cy="597836"/>
          </a:xfrm>
          <a:prstGeom prst="ellipse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92480" y="4459855"/>
            <a:ext cx="609600" cy="5978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584960" y="4400071"/>
            <a:ext cx="2682240" cy="358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Review Assistant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84960" y="4758773"/>
            <a:ext cx="5120640" cy="358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 review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09600" y="5284868"/>
            <a:ext cx="6705600" cy="813057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92480" y="5392479"/>
            <a:ext cx="609600" cy="597836"/>
          </a:xfrm>
          <a:prstGeom prst="ellipse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92480" y="5392479"/>
            <a:ext cx="609600" cy="5978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584960" y="5332695"/>
            <a:ext cx="2682240" cy="358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Ticket Summarizer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584960" y="5691397"/>
            <a:ext cx="5120640" cy="358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JIRA/Linear summaries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680960" y="1554373"/>
            <a:ext cx="4023360" cy="4663119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680960" y="1554373"/>
            <a:ext cx="4023360" cy="717403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680960" y="1554373"/>
            <a:ext cx="4023360" cy="7174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Overlap Problem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924800" y="2510910"/>
            <a:ext cx="3535680" cy="3347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of 5 tools generate code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of 5 summarize context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Each has its own interface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None share context with each other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500" b="1" dirty="0">
                <a:solidFill>
                  <a:srgbClr val="C039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Result: you're the integration layer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09600" y="6217492"/>
            <a:ext cx="10972800" cy="3587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Based on BCG/HBR 2026 observed patterns</a:t>
            </a:r>
            <a:endParaRPr lang="en-US" sz="1000" dirty="0"/>
          </a:p>
        </p:txBody>
      </p:sp>
      <p:sp>
        <p:nvSpPr>
          <p:cNvPr id="42" name="SlideNum10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000" dirty="0">
                <a:solidFill>
                  <a:srgbClr val="808080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98918"/>
            <a:ext cx="10972800" cy="777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Barrier 2: Nobody Told Us Where AI Fits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0972800" y="334788"/>
            <a:ext cx="609600" cy="597836"/>
          </a:xfrm>
          <a:prstGeom prst="ellipse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sessions/intelligent-gifted-keller/deck2/images/icon-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424463"/>
            <a:ext cx="426720" cy="41848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600" y="1315239"/>
            <a:ext cx="10972800" cy="1195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Most teams bolt AI onto existing workflows instead of redesigning for human+AI collaboration.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i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result: a hammer looking for a nail.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09600" y="2750045"/>
            <a:ext cx="5120640" cy="2989179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09600" y="2750045"/>
            <a:ext cx="97536" cy="2989179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75360" y="2869612"/>
            <a:ext cx="4389120" cy="418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74C3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Bolted 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75360" y="3407664"/>
            <a:ext cx="4389120" cy="21522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Old workflow + AI shoved in somewhere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used for tasks it's bad at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Tasks where AI excels get ignored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"Use AI for everything" mandate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61760" y="2750045"/>
            <a:ext cx="5120640" cy="2989179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461760" y="2750045"/>
            <a:ext cx="97536" cy="2989179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827520" y="2869612"/>
            <a:ext cx="4389120" cy="418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A08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Integrated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827520" y="3407664"/>
            <a:ext cx="4389120" cy="21522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Workflow redesigned for collaboration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handles what it's best at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Humans handle judgment and empathy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Clear roles for each player</a:t>
            </a:r>
            <a:endParaRPr lang="en-US" sz="1300" dirty="0"/>
          </a:p>
        </p:txBody>
      </p:sp>
      <p:sp>
        <p:nvSpPr>
          <p:cNvPr id="23" name="SlideNum11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000" dirty="0">
                <a:solidFill>
                  <a:srgbClr val="808080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8701"/>
            <a:ext cx="10972800" cy="9565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Engineering Workflow: Three Realities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87680" y="1434806"/>
            <a:ext cx="3657600" cy="597836"/>
          </a:xfrm>
          <a:prstGeom prst="rect">
            <a:avLst/>
          </a:prstGeom>
          <a:solidFill>
            <a:srgbClr val="343A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87680" y="1434806"/>
            <a:ext cx="3657600" cy="5978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Traditional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87680" y="2032642"/>
            <a:ext cx="3657600" cy="4184851"/>
          </a:xfrm>
          <a:prstGeom prst="rect">
            <a:avLst/>
          </a:prstGeom>
          <a:solidFill>
            <a:srgbClr val="F8F8F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70560" y="2211992"/>
            <a:ext cx="3291840" cy="38261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 Read ticket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2. Design approach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3. Write code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4. Write tests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5. Submit PR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6. Address review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7. Deploy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28160" y="1434806"/>
            <a:ext cx="3657600" cy="597836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328160" y="1434806"/>
            <a:ext cx="3657600" cy="5978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Bolted-On AI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28160" y="2032642"/>
            <a:ext cx="3657600" cy="4184851"/>
          </a:xfrm>
          <a:prstGeom prst="rect">
            <a:avLst/>
          </a:prstGeom>
          <a:solidFill>
            <a:srgbClr val="FFF5F5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11040" y="2211992"/>
            <a:ext cx="3291840" cy="38261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 Read ticket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2. Ask AI to design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3. AI writes code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4. AI writes tests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5. Manually verify ALL output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6. Re-prompt 3 times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7. Submit PR (finally)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68640" y="1434806"/>
            <a:ext cx="3657600" cy="597836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168640" y="1434806"/>
            <a:ext cx="3657600" cy="5978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Human + AI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168640" y="2032642"/>
            <a:ext cx="3657600" cy="4184851"/>
          </a:xfrm>
          <a:prstGeom prst="rect">
            <a:avLst/>
          </a:prstGeom>
          <a:solidFill>
            <a:srgbClr val="F5FFF5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351520" y="2211992"/>
            <a:ext cx="3291840" cy="38261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 Read ticket + feed context to AI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2. Design together (you lead)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3. AI drafts code, you review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4. AI drafts tests, you add edge cases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5. Submit PR with confidence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6. AI assists review response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7. Deploy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09600" y="6097925"/>
            <a:ext cx="10972800" cy="41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middle column is where most teams are stuck. The right column is the goal.</a:t>
            </a:r>
            <a:endParaRPr lang="en-US" sz="1400" dirty="0"/>
          </a:p>
        </p:txBody>
      </p:sp>
      <p:sp>
        <p:nvSpPr>
          <p:cNvPr id="25" name="SlideNum12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000" dirty="0">
                <a:solidFill>
                  <a:srgbClr val="808080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98918"/>
            <a:ext cx="10972800" cy="777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Barrier 3: The Promise vs. The Reality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0972800" y="334788"/>
            <a:ext cx="609600" cy="597836"/>
          </a:xfrm>
          <a:prstGeom prst="ellipse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sessions/intelligent-gifted-keller/deck2/images/icon-war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424463"/>
            <a:ext cx="426720" cy="41848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600" y="1554373"/>
            <a:ext cx="4876800" cy="1434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800" b="1" dirty="0">
                <a:solidFill>
                  <a:srgbClr val="E74C3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Many</a:t>
            </a:r>
            <a:endParaRPr lang="en-US" sz="6800" dirty="0"/>
          </a:p>
        </p:txBody>
      </p:sp>
      <p:sp>
        <p:nvSpPr>
          <p:cNvPr id="6" name="Text 3"/>
          <p:cNvSpPr/>
          <p:nvPr/>
        </p:nvSpPr>
        <p:spPr>
          <a:xfrm>
            <a:off x="609600" y="2989179"/>
            <a:ext cx="4876800" cy="7174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organizations still struggle to show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repeatable AI ROI beyond pilots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09600" y="3706582"/>
            <a:ext cx="4876800" cy="3587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 MIT/Wharton research, 2025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096000" y="1434806"/>
            <a:ext cx="5486400" cy="4184851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096000" y="1434806"/>
            <a:ext cx="97536" cy="4184851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461760" y="1614157"/>
            <a:ext cx="4754880" cy="418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#1 Developer Frustration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461760" y="2152209"/>
            <a:ext cx="4754880" cy="29891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"AI solutions that are </a:t>
            </a:r>
            <a:r>
              <a:rPr lang="en-US" sz="1400" b="1" dirty="0">
                <a:solidFill>
                  <a:srgbClr val="E74C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almost right but not quite</a:t>
            </a:r>
            <a:r>
              <a:rPr lang="en-US" sz="14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 45% of developers (Stack Overflow, 2025)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"Almost right" is often worse than wrong — it looks correct, you trust it, and then it breaks downstream.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09600" y="6157709"/>
            <a:ext cx="10972800" cy="41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Sources: MIT/Wharton GenAI ROI Study, 2025 | Stack Overflow Developer Survey, 2025</a:t>
            </a:r>
            <a:endParaRPr lang="en-US" sz="1000" dirty="0"/>
          </a:p>
        </p:txBody>
      </p:sp>
      <p:sp>
        <p:nvSpPr>
          <p:cNvPr id="22" name="SlideNum13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000" dirty="0">
                <a:solidFill>
                  <a:srgbClr val="808080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8701"/>
            <a:ext cx="10972800" cy="9565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When AI Code Looks Right But Isn't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87680" y="1554373"/>
            <a:ext cx="6705600" cy="4184851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09600" y="1315239"/>
            <a:ext cx="3657600" cy="3587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AI-Generated Code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673940"/>
            <a:ext cx="6217920" cy="382614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validate_token(token):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"""Validate JWT token."""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try: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payload = jwt.decode(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token, SECRET_KEY, algorithms=["HS256"]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return payload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except jwt.InvalidTokenError: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return None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# Looks correct. Passes linter.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# Missing: expiry check, issuer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# validation, audience scope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559040" y="1554373"/>
            <a:ext cx="4145280" cy="4184851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802880" y="1793507"/>
            <a:ext cx="3657600" cy="37065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39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app-specific checks are missing?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expiry validation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issuer check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audience scope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token revocation check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Illustrative pattern:</a:t>
            </a:r>
            <a:endParaRPr lang="en-US" sz="1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It compiled. It passed tests.</a:t>
            </a:r>
            <a:endParaRPr lang="en-US" sz="1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It shipped. A security review caught it.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09600" y="5978358"/>
            <a:ext cx="10972800" cy="478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"A gorgeous kitchen where none of the drawers open."</a:t>
            </a:r>
            <a:endParaRPr lang="en-US" sz="1400" dirty="0"/>
          </a:p>
        </p:txBody>
      </p:sp>
      <p:sp>
        <p:nvSpPr>
          <p:cNvPr id="18" name="SlideNum14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000" dirty="0">
                <a:solidFill>
                  <a:srgbClr val="808080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8701"/>
            <a:ext cx="10972800" cy="9565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 Summary — Looks Right But Isn’t</a:t>
            </a:r>
          </a:p>
        </p:txBody>
      </p:sp>
      <p:sp>
        <p:nvSpPr>
          <p:cNvPr id="3" name="Shape 1"/>
          <p:cNvSpPr/>
          <p:nvPr/>
        </p:nvSpPr>
        <p:spPr>
          <a:xfrm>
            <a:off x="609600" y="1673940"/>
            <a:ext cx="97536" cy="3826149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53440" y="1673940"/>
            <a:ext cx="10728960" cy="3826149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341120" y="1793507"/>
            <a:ext cx="9753600" cy="3467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AI-generated PR summary: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“Refactored retry mechanism for improved clarity.”</a:t>
            </a:r>
          </a:p>
          <a:p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actually changed: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Retry logic for payment processing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Backoff delays modified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Failure recovery path changed</a:t>
            </a:r>
          </a:p>
          <a:p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reviewer approved without reading the diff closely — because the summary made it sound safe.</a:t>
            </a:r>
          </a:p>
          <a:p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It wasn’t wrong. It was incomplete.</a:t>
            </a:r>
          </a:p>
        </p:txBody>
      </p:sp>
      <p:sp>
        <p:nvSpPr>
          <p:cNvPr id="6" name="Text 4"/>
          <p:cNvSpPr/>
          <p:nvPr/>
        </p:nvSpPr>
        <p:spPr>
          <a:xfrm>
            <a:off x="609600" y="5739224"/>
            <a:ext cx="10972800" cy="5978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“almost right” problem at the process level — incomplete AI output passes the credibility threshold.</a:t>
            </a:r>
          </a:p>
        </p:txBody>
      </p:sp>
      <p:sp>
        <p:nvSpPr>
          <p:cNvPr id="7" name="SlideNum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/>
            <a:r>
              <a:rPr lang="en-US" sz="1000" dirty="0">
                <a:solidFill>
                  <a:srgbClr val="808080"/>
                </a:solidFill>
              </a:rPr>
              <a:t>13b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98918"/>
            <a:ext cx="10972800" cy="777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Barrier 4: AI Brain Fry Is Real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0972800" y="334788"/>
            <a:ext cx="609600" cy="597836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sessions/intelligent-gifted-keller/deck2/images/icon-br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424463"/>
            <a:ext cx="426720" cy="41848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600" y="1554373"/>
            <a:ext cx="4876800" cy="1434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E74C3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 in 7</a:t>
            </a:r>
            <a:endParaRPr lang="en-US" sz="6400" dirty="0"/>
          </a:p>
        </p:txBody>
      </p:sp>
      <p:sp>
        <p:nvSpPr>
          <p:cNvPr id="6" name="Text 3"/>
          <p:cNvSpPr/>
          <p:nvPr/>
        </p:nvSpPr>
        <p:spPr>
          <a:xfrm>
            <a:off x="609600" y="2989179"/>
            <a:ext cx="4876800" cy="7174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workers report mental fatigue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from AI tool usage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09600" y="3826149"/>
            <a:ext cx="4876800" cy="3587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BCG/HBR "AI Brain Fry" study, 2026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096000" y="1434806"/>
            <a:ext cx="5486400" cy="4184851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096000" y="1434806"/>
            <a:ext cx="97536" cy="4184851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461760" y="1614157"/>
            <a:ext cx="4754880" cy="418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74C3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Reported Impact (heavy AI users)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461760" y="2152209"/>
            <a:ext cx="4754880" cy="3347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E74C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+14%</a:t>
            </a:r>
            <a:r>
              <a:rPr lang="en-US" sz="13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 mental effort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E74C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+12%</a:t>
            </a:r>
            <a:r>
              <a:rPr lang="en-US" sz="13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 mental fatigue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E74C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+19%</a:t>
            </a:r>
            <a:r>
              <a:rPr lang="en-US" sz="13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 information overload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E74C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+33%</a:t>
            </a:r>
            <a:r>
              <a:rPr lang="en-US" sz="13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 decision fatigue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Workers with brain fry are more likely to want to quit.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09600" y="6157709"/>
            <a:ext cx="10972800" cy="41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Reported findings: BCG/HBR, March 2026</a:t>
            </a:r>
            <a:endParaRPr lang="en-US" sz="1000" dirty="0"/>
          </a:p>
        </p:txBody>
      </p:sp>
      <p:sp>
        <p:nvSpPr>
          <p:cNvPr id="22" name="SlideNum15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000" dirty="0">
                <a:solidFill>
                  <a:srgbClr val="808080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8701"/>
            <a:ext cx="10972800" cy="9565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Developer Brain Fry Cycle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280160" y="1554373"/>
            <a:ext cx="853440" cy="836970"/>
          </a:xfrm>
          <a:prstGeom prst="ellipse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280160" y="1554373"/>
            <a:ext cx="853440" cy="8369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87680" y="2451127"/>
            <a:ext cx="2438400" cy="418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Prompt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87680" y="2809828"/>
            <a:ext cx="2438400" cy="538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Write detailed prompt with context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06240" y="1554373"/>
            <a:ext cx="853440" cy="836970"/>
          </a:xfrm>
          <a:prstGeom prst="ellipse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206240" y="1554373"/>
            <a:ext cx="853440" cy="8369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413760" y="2451127"/>
            <a:ext cx="2438400" cy="418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Inspect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413760" y="2809828"/>
            <a:ext cx="2438400" cy="538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Read AI output line by line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132320" y="1554373"/>
            <a:ext cx="853440" cy="836970"/>
          </a:xfrm>
          <a:prstGeom prst="ellipse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132320" y="1554373"/>
            <a:ext cx="853440" cy="8369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339840" y="2451127"/>
            <a:ext cx="2438400" cy="418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Compare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39840" y="2809828"/>
            <a:ext cx="2438400" cy="538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Check against requirements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058400" y="1554373"/>
            <a:ext cx="853440" cy="836970"/>
          </a:xfrm>
          <a:prstGeom prst="ellipse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058400" y="1554373"/>
            <a:ext cx="853440" cy="8369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265920" y="2451127"/>
            <a:ext cx="2438400" cy="418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Patch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265920" y="2809828"/>
            <a:ext cx="2438400" cy="538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Fix what AI got wrong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280160" y="3945716"/>
            <a:ext cx="853440" cy="836970"/>
          </a:xfrm>
          <a:prstGeom prst="ellipse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280160" y="3945716"/>
            <a:ext cx="853440" cy="8369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5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87680" y="4842470"/>
            <a:ext cx="2438400" cy="418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Re-run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87680" y="5201171"/>
            <a:ext cx="2438400" cy="538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Test the patched version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206240" y="3945716"/>
            <a:ext cx="853440" cy="836970"/>
          </a:xfrm>
          <a:prstGeom prst="ellipse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206240" y="3945716"/>
            <a:ext cx="853440" cy="8369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3413760" y="4842470"/>
            <a:ext cx="2438400" cy="418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Re-validate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413760" y="5201171"/>
            <a:ext cx="2438400" cy="538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Did the fix break something else?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132320" y="3945716"/>
            <a:ext cx="853440" cy="83697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132320" y="3945716"/>
            <a:ext cx="853440" cy="8369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7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339840" y="4842470"/>
            <a:ext cx="2438400" cy="418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Context-Switch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339840" y="5201171"/>
            <a:ext cx="2438400" cy="538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Now do it again for the next task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09600" y="5978358"/>
            <a:ext cx="10972800" cy="478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C039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This cycle repeats for every AI interaction. Multiply by 10+ daily tasks.</a:t>
            </a:r>
            <a:endParaRPr lang="en-US" sz="1400" dirty="0"/>
          </a:p>
        </p:txBody>
      </p:sp>
      <p:sp>
        <p:nvSpPr>
          <p:cNvPr id="41" name="SlideNum16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000" dirty="0">
                <a:solidFill>
                  <a:srgbClr val="808080"/>
                </a:solidFill>
              </a:rPr>
              <a:t>16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8701"/>
            <a:ext cx="10972800" cy="9565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Where the Time Actually Goes</a:t>
            </a:r>
          </a:p>
        </p:txBody>
      </p:sp>
      <p:sp>
        <p:nvSpPr>
          <p:cNvPr id="3" name="Shape 1"/>
          <p:cNvSpPr/>
          <p:nvPr/>
        </p:nvSpPr>
        <p:spPr>
          <a:xfrm>
            <a:off x="609600" y="1673940"/>
            <a:ext cx="97536" cy="3826149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53440" y="1673940"/>
            <a:ext cx="10728960" cy="3826149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341120" y="1793507"/>
            <a:ext cx="9753600" cy="3467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BCG research on AI-heavy organizations:</a:t>
            </a:r>
          </a:p>
          <a:p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Collaboration time: +14%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Focused work time: −11%</a:t>
            </a:r>
          </a:p>
          <a:p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 an engineer, 11% of focused time = 3–4 hours/week.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That’s architecture time. Deep-thinking time.</a:t>
            </a:r>
          </a:p>
          <a:p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added collaboration: context-rebuilding, re-explaining, validating outputs, re-prompting.</a:t>
            </a:r>
          </a:p>
          <a:p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tool meant to save mental effort increases cognitive load when the verification tax exceeds the budget.</a:t>
            </a:r>
          </a:p>
        </p:txBody>
      </p:sp>
      <p:sp>
        <p:nvSpPr>
          <p:cNvPr id="6" name="Text 4"/>
          <p:cNvSpPr/>
          <p:nvPr/>
        </p:nvSpPr>
        <p:spPr>
          <a:xfrm>
            <a:off x="609600" y="5739224"/>
            <a:ext cx="10972800" cy="5978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Source: BCG, 2024 — directional findings, not universal benchmarks.</a:t>
            </a:r>
          </a:p>
        </p:txBody>
      </p:sp>
      <p:sp>
        <p:nvSpPr>
          <p:cNvPr id="7" name="SlideNum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/>
            <a:r>
              <a:rPr lang="en-US" sz="1000" dirty="0">
                <a:solidFill>
                  <a:srgbClr val="808080"/>
                </a:solidFill>
              </a:rPr>
              <a:t>15b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597836"/>
            <a:ext cx="10972800" cy="9565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Quick Check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09600" y="1434806"/>
            <a:ext cx="10972800" cy="17935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Which barrier is hitting</a:t>
            </a:r>
            <a:endParaRPr lang="en-US" sz="3800" dirty="0"/>
          </a:p>
          <a:p>
            <a:pPr marL="0" indent="0" algn="ctr">
              <a:buNone/>
            </a:pPr>
            <a:r>
              <a:rPr lang="en-US" sz="3800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your team the hardest?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3048000" y="3587015"/>
            <a:ext cx="6096000" cy="478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 Tool Sprawl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048000" y="4125067"/>
            <a:ext cx="6096000" cy="478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2. Unclear Workflows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048000" y="4663119"/>
            <a:ext cx="6096000" cy="478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3. Unrealistic Expectations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048000" y="5201171"/>
            <a:ext cx="6096000" cy="478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4. Brain Fry / Overload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048000" y="5739224"/>
            <a:ext cx="6096000" cy="478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5. Pressure to Keep Up</a:t>
            </a:r>
            <a:endParaRPr lang="en-US" sz="1800" dirty="0"/>
          </a:p>
        </p:txBody>
      </p:sp>
      <p:sp>
        <p:nvSpPr>
          <p:cNvPr id="18" name="SlideNum17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000" dirty="0">
                <a:solidFill>
                  <a:srgbClr val="808080"/>
                </a:solidFill>
              </a:rPr>
              <a:t>17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98918"/>
            <a:ext cx="10972800" cy="777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Barrier 5: The Pressure to Keep Up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0972800" y="334788"/>
            <a:ext cx="609600" cy="597836"/>
          </a:xfrm>
          <a:prstGeom prst="ellipse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sessions/intelligent-gifted-keller/deck2/images/icon-run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424463"/>
            <a:ext cx="426720" cy="41848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600" y="1315239"/>
            <a:ext cx="10972800" cy="3347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E74C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52%</a:t>
            </a:r>
            <a:r>
              <a:rPr lang="en-US" sz="14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 of US workers more worried than hopeful about AI at work</a:t>
            </a: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BCG: skill erosion is a </a:t>
            </a:r>
            <a:r>
              <a:rPr lang="en-US" sz="1400" b="1" dirty="0">
                <a:solidFill>
                  <a:srgbClr val="E74C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top workforce concern</a:t>
            </a:r>
            <a:r>
              <a:rPr lang="en-US" sz="14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 as AI takes over routine tasks</a:t>
            </a: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i="1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Dev fear: "Am I falling behind my peers?"</a:t>
            </a: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Teams that lack AI training: lower usage, lower confidence, higher anxiety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1828800" y="4782686"/>
            <a:ext cx="8534400" cy="1076104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2194560" y="4902253"/>
            <a:ext cx="7802880" cy="7174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But: </a:t>
            </a:r>
            <a:r>
              <a:rPr lang="en-US" sz="15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Strong leadership support moves AI positivity from </a:t>
            </a:r>
            <a:r>
              <a:rPr lang="en-US" sz="1500" b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15% → 55%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09600" y="6157709"/>
            <a:ext cx="10972800" cy="41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Sources: Pew Research Center, 2025 | BCG Global AI Report, 2025</a:t>
            </a:r>
            <a:endParaRPr lang="en-US" sz="1000" dirty="0"/>
          </a:p>
        </p:txBody>
      </p:sp>
      <p:sp>
        <p:nvSpPr>
          <p:cNvPr id="18" name="SlideNum18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000" dirty="0">
                <a:solidFill>
                  <a:srgbClr val="808080"/>
                </a:solidFill>
              </a:rPr>
              <a:t>18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 Bar"/>
          <p:cNvSpPr/>
          <p:nvPr/>
        </p:nvSpPr>
        <p:spPr>
          <a:xfrm>
            <a:off x="5619750" y="2709862"/>
            <a:ext cx="952500" cy="47625"/>
          </a:xfrm>
          <a:prstGeom prst="rect">
            <a:avLst/>
          </a:prstGeom>
          <a:solidFill>
            <a:srgbClr val="00A79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800"/>
          </a:p>
        </p:txBody>
      </p:sp>
      <p:sp>
        <p:nvSpPr>
          <p:cNvPr id="11" name="Divider Title"/>
          <p:cNvSpPr txBox="1"/>
          <p:nvPr/>
        </p:nvSpPr>
        <p:spPr>
          <a:xfrm>
            <a:off x="907627" y="3125613"/>
            <a:ext cx="10376745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4500" b="1" dirty="0">
                <a:solidFill>
                  <a:srgbClr val="003366"/>
                </a:solidFill>
                <a:latin typeface="Poppins"/>
                <a:cs typeface="Poppins"/>
                <a:sym typeface="Poppins"/>
              </a:rPr>
              <a:t>Five Achievable Shifts Small changes that restore control, clarity, and even enjoyment</a:t>
            </a:r>
            <a:endParaRPr dirty="0"/>
          </a:p>
        </p:txBody>
      </p:sp>
      <p:sp>
        <p:nvSpPr>
          <p:cNvPr id="12" name="Overlay"/>
          <p:cNvSpPr/>
          <p:nvPr/>
        </p:nvSpPr>
        <p:spPr>
          <a:xfrm>
            <a:off x="0" y="42861"/>
            <a:ext cx="12192000" cy="6858000"/>
          </a:xfrm>
          <a:prstGeom prst="rect">
            <a:avLst/>
          </a:prstGeom>
          <a:solidFill>
            <a:srgbClr val="EBE3D0">
              <a:alpha val="16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98918"/>
            <a:ext cx="10972800" cy="777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Five Shifts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26720" y="1434806"/>
            <a:ext cx="2072640" cy="3826149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97280" y="1793507"/>
            <a:ext cx="731520" cy="717403"/>
          </a:xfrm>
          <a:prstGeom prst="ellipse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sessions/intelligent-gifted-keller/deck2/images/icon-tas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008" y="1901118"/>
            <a:ext cx="512064" cy="5021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869612"/>
            <a:ext cx="1828800" cy="9565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A08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Better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6A08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Task Design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718816" y="1434806"/>
            <a:ext cx="2072640" cy="3826149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3389376" y="1793507"/>
            <a:ext cx="731520" cy="717403"/>
          </a:xfrm>
          <a:prstGeom prst="ellipse">
            <a:avLst/>
          </a:prstGeom>
          <a:solidFill>
            <a:srgbClr val="00A79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/sessions/intelligent-gifted-keller/deck2/images/icon-light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9104" y="1901118"/>
            <a:ext cx="512064" cy="50218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840736" y="2869612"/>
            <a:ext cx="1828800" cy="9565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336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Lighter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0336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Mental Models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010912" y="1434806"/>
            <a:ext cx="2072640" cy="3826149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5681472" y="1793507"/>
            <a:ext cx="731520" cy="717403"/>
          </a:xfrm>
          <a:prstGeom prst="ellipse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/sessions/intelligent-gifted-keller/deck2/images/icon-commen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1200" y="1901118"/>
            <a:ext cx="512064" cy="50218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132832" y="2869612"/>
            <a:ext cx="1828800" cy="9565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336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Context-First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0336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Prompting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7303008" y="1434806"/>
            <a:ext cx="2072640" cy="3826149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7973568" y="1793507"/>
            <a:ext cx="731520" cy="717403"/>
          </a:xfrm>
          <a:prstGeom prst="ellipse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/sessions/intelligent-gifted-keller/deck2/images/icon-handshak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3296" y="1901118"/>
            <a:ext cx="512064" cy="50218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424928" y="2869612"/>
            <a:ext cx="1828800" cy="9565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Workflow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Pairing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9595104" y="1434806"/>
            <a:ext cx="2072640" cy="3826149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4"/>
          <p:cNvSpPr/>
          <p:nvPr/>
        </p:nvSpPr>
        <p:spPr>
          <a:xfrm>
            <a:off x="10265664" y="1793507"/>
            <a:ext cx="731520" cy="717403"/>
          </a:xfrm>
          <a:prstGeom prst="ellipse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4" descr="/sessions/intelligent-gifted-keller/deck2/images/icon-shie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75392" y="1901118"/>
            <a:ext cx="512064" cy="50218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717024" y="2869612"/>
            <a:ext cx="1828800" cy="9565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A08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Small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6A08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Guardrails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609600" y="5500089"/>
            <a:ext cx="10972800" cy="478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Let's make these concrete.</a:t>
            </a:r>
            <a:endParaRPr lang="en-US" sz="1400" dirty="0"/>
          </a:p>
        </p:txBody>
      </p:sp>
      <p:sp>
        <p:nvSpPr>
          <p:cNvPr id="33" name="SlideNum20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000" dirty="0">
                <a:solidFill>
                  <a:srgbClr val="808080"/>
                </a:solidFill>
              </a:rPr>
              <a:t>20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30760"/>
            <a:ext cx="10972800" cy="823789"/>
          </a:xfrm>
        </p:spPr>
        <p:txBody>
          <a:bodyPr/>
          <a:lstStyle/>
          <a:p>
            <a:r>
              <a:rPr lang="en-US" sz="2800" b="1" dirty="0"/>
              <a:t>Each Shift Addresses a Barrier</a:t>
            </a:r>
          </a:p>
        </p:txBody>
      </p:sp>
      <p:sp>
        <p:nvSpPr>
          <p:cNvPr id="10" name="Barrier1"/>
          <p:cNvSpPr/>
          <p:nvPr/>
        </p:nvSpPr>
        <p:spPr>
          <a:xfrm>
            <a:off x="609600" y="1176842"/>
            <a:ext cx="4266667" cy="784561"/>
          </a:xfrm>
          <a:prstGeom prst="roundRect">
            <a:avLst>
              <a:gd name="adj" fmla="val 10000"/>
            </a:avLst>
          </a:prstGeom>
          <a:solidFill>
            <a:srgbClr val="2C3E50"/>
          </a:solidFill>
          <a:ln w="0">
            <a:noFill/>
          </a:ln>
        </p:spPr>
        <p:txBody>
          <a:bodyPr lIns="91440" rIns="91440" anchor="ctr"/>
          <a:lstStyle/>
          <a:p>
            <a:pPr algn="ctr"/>
            <a:r>
              <a:rPr lang="en-US" sz="1400" b="1" dirty="0">
                <a:solidFill>
                  <a:srgbClr val="333333"/>
                </a:solidFill>
              </a:rPr>
              <a:t>1. Too Many Tools</a:t>
            </a:r>
          </a:p>
        </p:txBody>
      </p:sp>
      <p:sp>
        <p:nvSpPr>
          <p:cNvPr id="11" name="Arrow1"/>
          <p:cNvSpPr/>
          <p:nvPr/>
        </p:nvSpPr>
        <p:spPr>
          <a:xfrm>
            <a:off x="5000000" y="1372982"/>
            <a:ext cx="666667" cy="392281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/>
            <a:r>
              <a:rPr lang="en-US" sz="2000" dirty="0">
                <a:solidFill>
                  <a:srgbClr val="E67E22"/>
                </a:solidFill>
              </a:rPr>
              <a:t>→</a:t>
            </a:r>
          </a:p>
        </p:txBody>
      </p:sp>
      <p:sp>
        <p:nvSpPr>
          <p:cNvPr id="12" name="Shift1"/>
          <p:cNvSpPr/>
          <p:nvPr/>
        </p:nvSpPr>
        <p:spPr>
          <a:xfrm>
            <a:off x="5800000" y="1176842"/>
            <a:ext cx="5866667" cy="784561"/>
          </a:xfrm>
          <a:prstGeom prst="roundRect">
            <a:avLst>
              <a:gd name="adj" fmla="val 10000"/>
            </a:avLst>
          </a:prstGeom>
          <a:solidFill>
            <a:srgbClr val="27AE60"/>
          </a:solidFill>
          <a:ln w="0">
            <a:noFill/>
          </a:ln>
        </p:spPr>
        <p:txBody>
          <a:bodyPr lIns="91440" rIns="91440" anchor="ctr"/>
          <a:lstStyle/>
          <a:p>
            <a:pPr algn="ctr"/>
            <a:r>
              <a:rPr lang="en-US" sz="1400" b="1" dirty="0">
                <a:solidFill>
                  <a:srgbClr val="333333"/>
                </a:solidFill>
              </a:rPr>
              <a:t>Shift 1 (Right Jobs) + Shift 5 (Guardrails)</a:t>
            </a:r>
          </a:p>
        </p:txBody>
      </p:sp>
      <p:sp>
        <p:nvSpPr>
          <p:cNvPr id="13" name="Barrier2"/>
          <p:cNvSpPr/>
          <p:nvPr/>
        </p:nvSpPr>
        <p:spPr>
          <a:xfrm>
            <a:off x="609600" y="2092163"/>
            <a:ext cx="4266667" cy="784561"/>
          </a:xfrm>
          <a:prstGeom prst="roundRect">
            <a:avLst>
              <a:gd name="adj" fmla="val 10000"/>
            </a:avLst>
          </a:prstGeom>
          <a:solidFill>
            <a:srgbClr val="2C3E50"/>
          </a:solidFill>
          <a:ln w="0">
            <a:noFill/>
          </a:ln>
        </p:spPr>
        <p:txBody>
          <a:bodyPr lIns="91440" rIns="91440" anchor="ctr"/>
          <a:lstStyle/>
          <a:p>
            <a:pPr algn="ctr"/>
            <a:r>
              <a:rPr lang="en-US" sz="1400" b="1" dirty="0">
                <a:solidFill>
                  <a:srgbClr val="333333"/>
                </a:solidFill>
              </a:rPr>
              <a:t>2. Unclear Workflows</a:t>
            </a:r>
          </a:p>
        </p:txBody>
      </p:sp>
      <p:sp>
        <p:nvSpPr>
          <p:cNvPr id="14" name="Arrow2"/>
          <p:cNvSpPr/>
          <p:nvPr/>
        </p:nvSpPr>
        <p:spPr>
          <a:xfrm>
            <a:off x="5000000" y="2288304"/>
            <a:ext cx="666667" cy="392281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/>
            <a:r>
              <a:rPr lang="en-US" sz="2000" dirty="0">
                <a:solidFill>
                  <a:srgbClr val="E67E22"/>
                </a:solidFill>
              </a:rPr>
              <a:t>→</a:t>
            </a:r>
          </a:p>
        </p:txBody>
      </p:sp>
      <p:sp>
        <p:nvSpPr>
          <p:cNvPr id="15" name="Shift2"/>
          <p:cNvSpPr/>
          <p:nvPr/>
        </p:nvSpPr>
        <p:spPr>
          <a:xfrm>
            <a:off x="5800000" y="2092163"/>
            <a:ext cx="5866667" cy="784561"/>
          </a:xfrm>
          <a:prstGeom prst="roundRect">
            <a:avLst>
              <a:gd name="adj" fmla="val 10000"/>
            </a:avLst>
          </a:prstGeom>
          <a:solidFill>
            <a:srgbClr val="27AE60"/>
          </a:solidFill>
          <a:ln w="0">
            <a:noFill/>
          </a:ln>
        </p:spPr>
        <p:txBody>
          <a:bodyPr lIns="91440" rIns="91440" anchor="ctr"/>
          <a:lstStyle/>
          <a:p>
            <a:pPr algn="ctr"/>
            <a:r>
              <a:rPr lang="en-US" sz="1400" b="1" dirty="0">
                <a:solidFill>
                  <a:srgbClr val="333333"/>
                </a:solidFill>
              </a:rPr>
              <a:t>Shift 1 (Right Jobs) + Shift 4 (Workflow Pairing)</a:t>
            </a:r>
          </a:p>
        </p:txBody>
      </p:sp>
      <p:sp>
        <p:nvSpPr>
          <p:cNvPr id="16" name="Barrier3"/>
          <p:cNvSpPr/>
          <p:nvPr/>
        </p:nvSpPr>
        <p:spPr>
          <a:xfrm>
            <a:off x="609600" y="3007486"/>
            <a:ext cx="4266667" cy="784561"/>
          </a:xfrm>
          <a:prstGeom prst="roundRect">
            <a:avLst>
              <a:gd name="adj" fmla="val 10000"/>
            </a:avLst>
          </a:prstGeom>
          <a:solidFill>
            <a:srgbClr val="2C3E50"/>
          </a:solidFill>
          <a:ln w="0">
            <a:noFill/>
          </a:ln>
        </p:spPr>
        <p:txBody>
          <a:bodyPr lIns="91440" rIns="91440" anchor="ctr"/>
          <a:lstStyle/>
          <a:p>
            <a:pPr algn="ctr"/>
            <a:r>
              <a:rPr lang="en-US" sz="1400" b="1" dirty="0">
                <a:solidFill>
                  <a:srgbClr val="333333"/>
                </a:solidFill>
              </a:rPr>
              <a:t>3. Promise vs Reality</a:t>
            </a:r>
          </a:p>
        </p:txBody>
      </p:sp>
      <p:sp>
        <p:nvSpPr>
          <p:cNvPr id="17" name="Arrow3"/>
          <p:cNvSpPr/>
          <p:nvPr/>
        </p:nvSpPr>
        <p:spPr>
          <a:xfrm>
            <a:off x="5000000" y="3203626"/>
            <a:ext cx="666667" cy="392281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/>
            <a:r>
              <a:rPr lang="en-US" sz="2000" dirty="0">
                <a:solidFill>
                  <a:srgbClr val="E67E22"/>
                </a:solidFill>
              </a:rPr>
              <a:t>→</a:t>
            </a:r>
          </a:p>
        </p:txBody>
      </p:sp>
      <p:sp>
        <p:nvSpPr>
          <p:cNvPr id="18" name="Shift3"/>
          <p:cNvSpPr/>
          <p:nvPr/>
        </p:nvSpPr>
        <p:spPr>
          <a:xfrm>
            <a:off x="5800000" y="3007486"/>
            <a:ext cx="5866667" cy="784561"/>
          </a:xfrm>
          <a:prstGeom prst="roundRect">
            <a:avLst>
              <a:gd name="adj" fmla="val 10000"/>
            </a:avLst>
          </a:prstGeom>
          <a:solidFill>
            <a:srgbClr val="27AE60"/>
          </a:solidFill>
          <a:ln w="0">
            <a:noFill/>
          </a:ln>
        </p:spPr>
        <p:txBody>
          <a:bodyPr lIns="91440" rIns="91440" anchor="ctr"/>
          <a:lstStyle/>
          <a:p>
            <a:pPr algn="ctr"/>
            <a:r>
              <a:rPr lang="en-US" sz="1400" b="1" dirty="0">
                <a:solidFill>
                  <a:srgbClr val="333333"/>
                </a:solidFill>
              </a:rPr>
              <a:t>Shift 2 (Mental Models) + Shift 3 (Context-First)</a:t>
            </a:r>
          </a:p>
        </p:txBody>
      </p:sp>
      <p:sp>
        <p:nvSpPr>
          <p:cNvPr id="19" name="Barrier4"/>
          <p:cNvSpPr/>
          <p:nvPr/>
        </p:nvSpPr>
        <p:spPr>
          <a:xfrm>
            <a:off x="609600" y="3922807"/>
            <a:ext cx="4266667" cy="784561"/>
          </a:xfrm>
          <a:prstGeom prst="roundRect">
            <a:avLst>
              <a:gd name="adj" fmla="val 10000"/>
            </a:avLst>
          </a:prstGeom>
          <a:solidFill>
            <a:srgbClr val="2C3E50"/>
          </a:solidFill>
          <a:ln w="0">
            <a:noFill/>
          </a:ln>
        </p:spPr>
        <p:txBody>
          <a:bodyPr lIns="91440" rIns="91440" anchor="ctr"/>
          <a:lstStyle/>
          <a:p>
            <a:pPr algn="ctr"/>
            <a:r>
              <a:rPr lang="en-US" sz="1400" b="1" dirty="0">
                <a:solidFill>
                  <a:srgbClr val="333333"/>
                </a:solidFill>
              </a:rPr>
              <a:t>4. Brain Fry</a:t>
            </a:r>
          </a:p>
        </p:txBody>
      </p:sp>
      <p:sp>
        <p:nvSpPr>
          <p:cNvPr id="20" name="Arrow4"/>
          <p:cNvSpPr/>
          <p:nvPr/>
        </p:nvSpPr>
        <p:spPr>
          <a:xfrm>
            <a:off x="5000000" y="4118947"/>
            <a:ext cx="666667" cy="392281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/>
            <a:r>
              <a:rPr lang="en-US" sz="2000" dirty="0">
                <a:solidFill>
                  <a:srgbClr val="E67E22"/>
                </a:solidFill>
              </a:rPr>
              <a:t>→</a:t>
            </a:r>
          </a:p>
        </p:txBody>
      </p:sp>
      <p:sp>
        <p:nvSpPr>
          <p:cNvPr id="21" name="Shift4"/>
          <p:cNvSpPr/>
          <p:nvPr/>
        </p:nvSpPr>
        <p:spPr>
          <a:xfrm>
            <a:off x="5800000" y="3922807"/>
            <a:ext cx="5866667" cy="784561"/>
          </a:xfrm>
          <a:prstGeom prst="roundRect">
            <a:avLst>
              <a:gd name="adj" fmla="val 10000"/>
            </a:avLst>
          </a:prstGeom>
          <a:solidFill>
            <a:srgbClr val="27AE60"/>
          </a:solidFill>
          <a:ln w="0">
            <a:noFill/>
          </a:ln>
        </p:spPr>
        <p:txBody>
          <a:bodyPr lIns="91440" rIns="91440" anchor="ctr"/>
          <a:lstStyle/>
          <a:p>
            <a:pPr algn="ctr"/>
            <a:r>
              <a:rPr lang="en-US" sz="1400" b="1" dirty="0">
                <a:solidFill>
                  <a:srgbClr val="333333"/>
                </a:solidFill>
              </a:rPr>
              <a:t>Shift 2 (Mental Models) + Shift 5 (Guardrails)</a:t>
            </a:r>
          </a:p>
        </p:txBody>
      </p:sp>
      <p:sp>
        <p:nvSpPr>
          <p:cNvPr id="22" name="Barrier5"/>
          <p:cNvSpPr/>
          <p:nvPr/>
        </p:nvSpPr>
        <p:spPr>
          <a:xfrm>
            <a:off x="609600" y="4838128"/>
            <a:ext cx="4266667" cy="784561"/>
          </a:xfrm>
          <a:prstGeom prst="roundRect">
            <a:avLst>
              <a:gd name="adj" fmla="val 10000"/>
            </a:avLst>
          </a:prstGeom>
          <a:solidFill>
            <a:srgbClr val="2C3E50"/>
          </a:solidFill>
          <a:ln w="0">
            <a:noFill/>
          </a:ln>
        </p:spPr>
        <p:txBody>
          <a:bodyPr lIns="91440" rIns="91440" anchor="ctr"/>
          <a:lstStyle/>
          <a:p>
            <a:pPr algn="ctr"/>
            <a:r>
              <a:rPr lang="en-US" sz="1400" b="1" dirty="0">
                <a:solidFill>
                  <a:srgbClr val="333333"/>
                </a:solidFill>
              </a:rPr>
              <a:t>5. Pressure</a:t>
            </a:r>
          </a:p>
        </p:txBody>
      </p:sp>
      <p:sp>
        <p:nvSpPr>
          <p:cNvPr id="23" name="Arrow5"/>
          <p:cNvSpPr/>
          <p:nvPr/>
        </p:nvSpPr>
        <p:spPr>
          <a:xfrm>
            <a:off x="5000000" y="5034269"/>
            <a:ext cx="666667" cy="392281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/>
            <a:r>
              <a:rPr lang="en-US" sz="2000" dirty="0">
                <a:solidFill>
                  <a:srgbClr val="E67E22"/>
                </a:solidFill>
              </a:rPr>
              <a:t>→</a:t>
            </a:r>
          </a:p>
        </p:txBody>
      </p:sp>
      <p:sp>
        <p:nvSpPr>
          <p:cNvPr id="24" name="Shift5"/>
          <p:cNvSpPr/>
          <p:nvPr/>
        </p:nvSpPr>
        <p:spPr>
          <a:xfrm>
            <a:off x="5800000" y="4838128"/>
            <a:ext cx="5866667" cy="784561"/>
          </a:xfrm>
          <a:prstGeom prst="roundRect">
            <a:avLst>
              <a:gd name="adj" fmla="val 10000"/>
            </a:avLst>
          </a:prstGeom>
          <a:solidFill>
            <a:srgbClr val="27AE60"/>
          </a:solidFill>
          <a:ln w="0">
            <a:noFill/>
          </a:ln>
        </p:spPr>
        <p:txBody>
          <a:bodyPr lIns="91440" rIns="91440" anchor="ctr"/>
          <a:lstStyle/>
          <a:p>
            <a:pPr algn="ctr"/>
            <a:r>
              <a:rPr lang="en-US" sz="1400" b="1" dirty="0">
                <a:solidFill>
                  <a:srgbClr val="333333"/>
                </a:solidFill>
              </a:rPr>
              <a:t>Shift 5 (Guardrails, especially training)</a:t>
            </a:r>
          </a:p>
        </p:txBody>
      </p:sp>
      <p:sp>
        <p:nvSpPr>
          <p:cNvPr id="34" name="SlideNum21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000" dirty="0">
                <a:solidFill>
                  <a:srgbClr val="808080"/>
                </a:solidFill>
              </a:rPr>
              <a:t>21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98918"/>
            <a:ext cx="10972800" cy="777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Shift 1: Assign AI the Right Jobs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0972800" y="334788"/>
            <a:ext cx="609600" cy="597836"/>
          </a:xfrm>
          <a:prstGeom prst="ellipse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sessions/intelligent-gifted-keller/deck2/images/icon-tas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424463"/>
            <a:ext cx="426720" cy="41848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600" y="1195672"/>
            <a:ext cx="10972800" cy="5978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 every task needs AI — and not every task that can use AI should.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09600" y="2032642"/>
            <a:ext cx="10972800" cy="2630477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09600" y="2032642"/>
            <a:ext cx="97536" cy="2630477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75360" y="2152209"/>
            <a:ext cx="10363200" cy="418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Delegation Test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75360" y="2750045"/>
            <a:ext cx="10363200" cy="1434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Would you explain this task to a capable intern with no context?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If you wouldn't delegate it to an intern without a 20-minute briefing, don't delegate it to AI without providing that same context.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09600" y="4902253"/>
            <a:ext cx="10972800" cy="9565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Good AI tasks: </a:t>
            </a:r>
            <a:r>
              <a:rPr lang="en-US" sz="13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high-volume, pattern-based, first drafts, data synthesis, reformatting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E74C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Bad AI tasks: </a:t>
            </a:r>
            <a:r>
              <a:rPr lang="en-US" sz="13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ambiguous judgment, empathy-heavy comms, novel strategy, anything politically sensitive</a:t>
            </a:r>
            <a:endParaRPr lang="en-US" sz="1300" dirty="0"/>
          </a:p>
        </p:txBody>
      </p:sp>
      <p:sp>
        <p:nvSpPr>
          <p:cNvPr id="20" name="SlideNum22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000" dirty="0">
                <a:solidFill>
                  <a:srgbClr val="808080"/>
                </a:solidFill>
              </a:rPr>
              <a:t>22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90138"/>
            <a:ext cx="10972800" cy="75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Task Matrix</a:t>
            </a:r>
            <a:endParaRPr lang="en-US" sz="3400" dirty="0"/>
          </a:p>
        </p:txBody>
      </p:sp>
      <p:pic>
        <p:nvPicPr>
          <p:cNvPr id="3" name="Image 0" descr="/sessions/intelligent-gifted-keller/deck2/images/diagram-task-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218581"/>
            <a:ext cx="10972800" cy="5489419"/>
          </a:xfrm>
          <a:prstGeom prst="rect">
            <a:avLst/>
          </a:prstGeom>
        </p:spPr>
      </p:pic>
      <p:sp>
        <p:nvSpPr>
          <p:cNvPr id="13" name="SlideNum23"/>
          <p:cNvSpPr txBox="1"/>
          <p:nvPr/>
        </p:nvSpPr>
        <p:spPr>
          <a:xfrm>
            <a:off x="11333333" y="6155605"/>
            <a:ext cx="533333" cy="355375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000" dirty="0">
                <a:solidFill>
                  <a:srgbClr val="808080"/>
                </a:solidFill>
              </a:rPr>
              <a:t>23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0093" y="298918"/>
            <a:ext cx="10081674" cy="777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Know Your AI Sweet Spots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60093" y="1315239"/>
            <a:ext cx="2072344" cy="2750045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288214" y="1554373"/>
            <a:ext cx="560093" cy="597836"/>
          </a:xfrm>
          <a:prstGeom prst="ellipse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sessions/intelligent-gifted-keller/deck2/images/icon-bo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2228" y="1644048"/>
            <a:ext cx="392065" cy="41848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2112" y="2391343"/>
            <a:ext cx="1848307" cy="358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A08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Scaffolding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72112" y="2809828"/>
            <a:ext cx="1848307" cy="9565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Test stubs, CI/CD configs, API route boilerplate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912484" y="1315239"/>
            <a:ext cx="2072344" cy="2750045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3640605" y="1554373"/>
            <a:ext cx="560093" cy="597836"/>
          </a:xfrm>
          <a:prstGeom prst="ellipse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/sessions/intelligent-gifted-keller/deck2/images/icon-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4619" y="1644048"/>
            <a:ext cx="392065" cy="41848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024502" y="2391343"/>
            <a:ext cx="1848307" cy="358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A08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Code Explanation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024502" y="2809828"/>
            <a:ext cx="1848307" cy="9565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Unfamiliar codebases, PR summaries, doc generation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264874" y="1315239"/>
            <a:ext cx="2072344" cy="2750045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5992995" y="1554373"/>
            <a:ext cx="560093" cy="597836"/>
          </a:xfrm>
          <a:prstGeom prst="ellipse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/sessions/intelligent-gifted-keller/deck2/images/icon-task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7009" y="1644048"/>
            <a:ext cx="392065" cy="41848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376893" y="2391343"/>
            <a:ext cx="1848307" cy="358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A08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Pattern Work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5376893" y="2809828"/>
            <a:ext cx="1848307" cy="9565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Refactoring known patterns, migration stubs, regex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7617265" y="1315239"/>
            <a:ext cx="2072344" cy="2750045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8345386" y="1554373"/>
            <a:ext cx="560093" cy="597836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/sessions/intelligent-gifted-keller/deck2/images/icon-he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9400" y="1644048"/>
            <a:ext cx="392065" cy="41848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729284" y="2391343"/>
            <a:ext cx="1848307" cy="358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74C3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Security Reviews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7729284" y="2809828"/>
            <a:ext cx="1848307" cy="9565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Auth logic, crypto, access control — human must lead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9969656" y="1315239"/>
            <a:ext cx="2072344" cy="2750045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10697777" y="1554373"/>
            <a:ext cx="560093" cy="597836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4" descr="/sessions/intelligent-gifted-keller/deck2/images/icon-balanc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1791" y="1644048"/>
            <a:ext cx="392065" cy="418485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0081674" y="2391343"/>
            <a:ext cx="1848307" cy="358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74C3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10081674" y="2809828"/>
            <a:ext cx="1848307" cy="9565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System design tradeoffs, performance tuning, tech debt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560093" y="4244634"/>
            <a:ext cx="10081674" cy="3587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Sweet Spots</a:t>
            </a:r>
            <a:r>
              <a:rPr lang="en-US" sz="13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                                                              </a:t>
            </a:r>
            <a:r>
              <a:rPr lang="en-US" sz="1300" b="1" dirty="0">
                <a:solidFill>
                  <a:srgbClr val="E74C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Keep Human</a:t>
            </a:r>
            <a:endParaRPr lang="en-US" sz="1300" dirty="0"/>
          </a:p>
        </p:txBody>
      </p:sp>
      <p:sp>
        <p:nvSpPr>
          <p:cNvPr id="38" name="SlideNum24"/>
          <p:cNvSpPr txBox="1"/>
          <p:nvPr/>
        </p:nvSpPr>
        <p:spPr>
          <a:xfrm>
            <a:off x="10412928" y="6341872"/>
            <a:ext cx="490020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000" dirty="0">
                <a:solidFill>
                  <a:srgbClr val="808080"/>
                </a:solidFill>
              </a:rPr>
              <a:t>24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98918"/>
            <a:ext cx="10972800" cy="777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Shift 2: Lighter Mental Models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0972800" y="334788"/>
            <a:ext cx="609600" cy="597836"/>
          </a:xfrm>
          <a:prstGeom prst="ellipse">
            <a:avLst/>
          </a:prstGeom>
          <a:solidFill>
            <a:srgbClr val="00A79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sessions/intelligent-gifted-keller/deck2/images/icon-lightbul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424463"/>
            <a:ext cx="426720" cy="41848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600" y="1195672"/>
            <a:ext cx="10972800" cy="8369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 don't need to understand transformers to use AI well.</a:t>
            </a:r>
            <a:endParaRPr lang="en-US" sz="1500" dirty="0"/>
          </a:p>
          <a:p>
            <a:pPr marL="0" indent="0">
              <a:buNone/>
            </a:pPr>
            <a:r>
              <a:rPr lang="en-US" sz="1500" i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 need calibrated expectations.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09600" y="2271776"/>
            <a:ext cx="10972800" cy="1793507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09600" y="2271776"/>
            <a:ext cx="97536" cy="1793507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75360" y="2391343"/>
            <a:ext cx="10363200" cy="418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"Confident Intern" Model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75360" y="2929395"/>
            <a:ext cx="10363200" cy="7174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Fast. Willing. Sometimes wrong. Always needs review. Great for first drafts, dangerous for final decisions.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09600" y="4423985"/>
            <a:ext cx="10972800" cy="8369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4C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Anti-pattern: </a:t>
            </a:r>
            <a:r>
              <a:rPr lang="en-US" sz="14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Treating AI output as final.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Better pattern: </a:t>
            </a:r>
            <a:r>
              <a:rPr lang="en-US" sz="14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as first draft, you as editor.</a:t>
            </a:r>
            <a:endParaRPr lang="en-US" sz="1400" dirty="0"/>
          </a:p>
        </p:txBody>
      </p:sp>
      <p:sp>
        <p:nvSpPr>
          <p:cNvPr id="20" name="SlideNum25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000" dirty="0">
                <a:solidFill>
                  <a:srgbClr val="808080"/>
                </a:solidFill>
              </a:rPr>
              <a:t>25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98918"/>
            <a:ext cx="10972800" cy="777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Finding the Trust Sweet Spot</a:t>
            </a:r>
            <a:endParaRPr lang="en-US" sz="3400" dirty="0"/>
          </a:p>
        </p:txBody>
      </p:sp>
      <p:pic>
        <p:nvPicPr>
          <p:cNvPr id="3" name="Image 0" descr="/sessions/intelligent-gifted-keller/deck2/images/diagram-trust-spectr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434806"/>
            <a:ext cx="10972800" cy="33598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9600" y="5021821"/>
            <a:ext cx="10972800" cy="478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When teams adopt calibrated trust, anxiety drops and adoption improves.</a:t>
            </a:r>
            <a:endParaRPr lang="en-US" sz="1400" dirty="0"/>
          </a:p>
        </p:txBody>
      </p:sp>
      <p:sp>
        <p:nvSpPr>
          <p:cNvPr id="14" name="SlideNum26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000" dirty="0">
                <a:solidFill>
                  <a:srgbClr val="808080"/>
                </a:solidFill>
              </a:rPr>
              <a:t>26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98918"/>
            <a:ext cx="10972800" cy="777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Shift 3: Context-First Prompting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0972800" y="334788"/>
            <a:ext cx="609600" cy="597836"/>
          </a:xfrm>
          <a:prstGeom prst="ellipse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sessions/intelligent-gifted-keller/deck2/images/icon-com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424463"/>
            <a:ext cx="426720" cy="41848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600" y="1195672"/>
            <a:ext cx="10972800" cy="478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Most prompting advice focuses on wording tricks. The real leverage is in context.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09600" y="1913075"/>
            <a:ext cx="3474720" cy="286961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09600" y="1913075"/>
            <a:ext cx="670560" cy="657619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09600" y="1913075"/>
            <a:ext cx="6705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402080" y="1913075"/>
            <a:ext cx="2438400" cy="657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A08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Context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92480" y="2750045"/>
            <a:ext cx="3108960" cy="1434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does the AI need to know?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Background, data, audience, constraints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450080" y="1913075"/>
            <a:ext cx="3474720" cy="286961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450080" y="1913075"/>
            <a:ext cx="670560" cy="657619"/>
          </a:xfrm>
          <a:prstGeom prst="rect">
            <a:avLst/>
          </a:prstGeom>
          <a:solidFill>
            <a:srgbClr val="00A79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450080" y="1913075"/>
            <a:ext cx="6705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5242560" y="1913075"/>
            <a:ext cx="2438400" cy="657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336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Task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4632960" y="2750045"/>
            <a:ext cx="3108960" cy="1434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do you want it to do?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 specific about the deliverable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290560" y="1913075"/>
            <a:ext cx="3474720" cy="286961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8290560" y="1913075"/>
            <a:ext cx="670560" cy="657619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290560" y="1913075"/>
            <a:ext cx="6705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9083040" y="1913075"/>
            <a:ext cx="2438400" cy="657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336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Constraints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8473440" y="2750045"/>
            <a:ext cx="3108960" cy="1434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should it NOT do?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Format, tone, length, boundaries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09600" y="5021821"/>
            <a:ext cx="10972800" cy="5978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"If the AI doesn't know what you mean, it's not dumb — it's under-informed."</a:t>
            </a:r>
            <a:endParaRPr lang="en-US" sz="1400" dirty="0"/>
          </a:p>
        </p:txBody>
      </p:sp>
      <p:sp>
        <p:nvSpPr>
          <p:cNvPr id="31" name="SlideNum27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000" dirty="0">
                <a:solidFill>
                  <a:srgbClr val="808080"/>
                </a:solidFill>
              </a:rPr>
              <a:t>27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8701"/>
            <a:ext cx="10972800" cy="836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Context Makes the Difference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87680" y="1375022"/>
            <a:ext cx="73152" cy="454355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60832" y="1375022"/>
            <a:ext cx="5291328" cy="454355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3440" y="1434806"/>
            <a:ext cx="4632960" cy="478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39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Without Context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53440" y="2032642"/>
            <a:ext cx="4632960" cy="1554373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36320" y="2152209"/>
            <a:ext cx="4267200" cy="1195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"Write unit tests for the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authentication module."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53440" y="3766365"/>
            <a:ext cx="4632960" cy="1195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Result: </a:t>
            </a:r>
            <a:r>
              <a:rPr lang="en-US" sz="13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Generic happy-path tests. Misses token expiry, role-based access, rate limiting, and session invalidation.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53440" y="5021821"/>
            <a:ext cx="4632960" cy="478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039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3-4 rounds of re-prompting needed.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39840" y="1375022"/>
            <a:ext cx="73152" cy="4543552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12992" y="1375022"/>
            <a:ext cx="5291328" cy="454355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705600" y="1434806"/>
            <a:ext cx="4632960" cy="478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With Context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705600" y="2032642"/>
            <a:ext cx="4632960" cy="2630477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888480" y="2152209"/>
            <a:ext cx="4267200" cy="23913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MODULE: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JWT auth (Python/Flask)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6A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EDGE CASES: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Expired tokens, invalid issuer,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missing scopes, revoked sessions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6A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FRAMEWORK: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pytest + fixtures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6A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CONSTRAINT: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 test one assertion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705600" y="4782686"/>
            <a:ext cx="4632960" cy="8369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Result: </a:t>
            </a:r>
            <a:r>
              <a:rPr lang="en-US" sz="13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Comprehensive test suite covering security edge cases. Ready with minimal edits.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09600" y="6097925"/>
            <a:ext cx="10972800" cy="41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30 extra seconds of context saves 20 minutes of re-prompting.</a:t>
            </a:r>
            <a:endParaRPr lang="en-US" sz="1500" dirty="0"/>
          </a:p>
        </p:txBody>
      </p:sp>
      <p:sp>
        <p:nvSpPr>
          <p:cNvPr id="26" name="SlideNum28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000" dirty="0">
                <a:solidFill>
                  <a:srgbClr val="808080"/>
                </a:solidFill>
              </a:rPr>
              <a:t>28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8701"/>
            <a:ext cx="10972800" cy="9565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Exercise: Spot the Missing Context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09600" y="1315239"/>
            <a:ext cx="10972800" cy="478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developer sends this prompt. What context is missing?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75360" y="2032642"/>
            <a:ext cx="10241280" cy="1554373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219200" y="2211992"/>
            <a:ext cx="9753600" cy="1195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"Refactor the database query in users.py to be faster.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It's running slow in production."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09600" y="3826149"/>
            <a:ext cx="10972800" cy="478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What's missing? (Think for 10 seconds...)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75360" y="4423985"/>
            <a:ext cx="5120640" cy="478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 Current query + schema structure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75360" y="4962037"/>
            <a:ext cx="5120640" cy="478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2. Database engine (Postgres? MySQL? Mongo?)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75360" y="5500089"/>
            <a:ext cx="5120640" cy="478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3. How slow? (100ms? 10s? What's acceptable?)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61760" y="4423985"/>
            <a:ext cx="5120640" cy="478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4. Data volume (100 rows? 10M rows?)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61760" y="4962037"/>
            <a:ext cx="5120640" cy="478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5. Existing indexes and constraints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61760" y="5500089"/>
            <a:ext cx="5120640" cy="478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6. Read-heavy or write-heavy workload?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09600" y="6097925"/>
            <a:ext cx="10972800" cy="41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Without this context, the AI will suggest generic optimizations that may not apply to your specific case.</a:t>
            </a:r>
            <a:endParaRPr lang="en-US" sz="1300" dirty="0"/>
          </a:p>
        </p:txBody>
      </p:sp>
      <p:sp>
        <p:nvSpPr>
          <p:cNvPr id="23" name="SlideNum29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000" dirty="0">
                <a:solidFill>
                  <a:srgbClr val="808080"/>
                </a:solidFill>
              </a:rPr>
              <a:t>29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98918"/>
            <a:ext cx="10972800" cy="777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Shift 4: Workflow Pairing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0972800" y="334788"/>
            <a:ext cx="609600" cy="597836"/>
          </a:xfrm>
          <a:prstGeom prst="ellipse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sessions/intelligent-gifted-keller/deck2/images/icon-handshak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424463"/>
            <a:ext cx="426720" cy="41848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600" y="1195672"/>
            <a:ext cx="10972800" cy="478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Stop bolting AI onto old workflows. Redesign the workflow for collaboration.</a:t>
            </a:r>
            <a:endParaRPr lang="en-US" sz="1500" dirty="0"/>
          </a:p>
        </p:txBody>
      </p:sp>
      <p:pic>
        <p:nvPicPr>
          <p:cNvPr id="6" name="Image 1" descr="/sessions/intelligent-gifted-keller/deck2/images/diagram-workflow-pair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913075"/>
            <a:ext cx="10972800" cy="4041370"/>
          </a:xfrm>
          <a:prstGeom prst="rect">
            <a:avLst/>
          </a:prstGeom>
        </p:spPr>
      </p:pic>
      <p:sp>
        <p:nvSpPr>
          <p:cNvPr id="16" name="SlideNum30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000" dirty="0">
                <a:solidFill>
                  <a:srgbClr val="808080"/>
                </a:solidFill>
              </a:rPr>
              <a:t>30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8701"/>
            <a:ext cx="10972800" cy="836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Case Study: AI-Assisted Code Review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87680" y="1375022"/>
            <a:ext cx="5364480" cy="454355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87680" y="1375022"/>
            <a:ext cx="5364480" cy="657619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87680" y="1375022"/>
            <a:ext cx="536448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Happened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211992"/>
            <a:ext cx="4876800" cy="35870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enabled AI review on all PRs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approved PRs that looked clean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Subtle concurrency bug shipped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Human reviewers started rubber-stamping ("AI already checked it")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C039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Review quality dropped significantly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39840" y="1375022"/>
            <a:ext cx="5364480" cy="454355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339840" y="1375022"/>
            <a:ext cx="5364480" cy="657619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339840" y="1375022"/>
            <a:ext cx="536448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They Changed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83680" y="2211992"/>
            <a:ext cx="4876800" cy="35870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reviews run first (catches formatting, basic issues)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Human reviews focus on logic, edge cases, architecture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flags areas of concern for human attention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 high-impact reviews: AI doesn't approve alone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27AE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Review quality improved markedly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09600" y="6097925"/>
            <a:ext cx="10972800" cy="41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Composite pattern from multiple teams. The fix: defining clear roles for human and AI.</a:t>
            </a:r>
            <a:endParaRPr lang="en-US" sz="1400" dirty="0"/>
          </a:p>
        </p:txBody>
      </p:sp>
      <p:sp>
        <p:nvSpPr>
          <p:cNvPr id="21" name="SlideNum31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000" dirty="0">
                <a:solidFill>
                  <a:srgbClr val="808080"/>
                </a:solidFill>
              </a:rPr>
              <a:t>31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98918"/>
            <a:ext cx="10972800" cy="777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Shift 5: Small But Meaningful Guardrails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0972800" y="334788"/>
            <a:ext cx="609600" cy="597836"/>
          </a:xfrm>
          <a:prstGeom prst="ellipse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sessions/intelligent-gifted-keller/deck2/images/icon-sh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424463"/>
            <a:ext cx="426720" cy="41848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600" y="1195672"/>
            <a:ext cx="10972800" cy="478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Guardrails aren't about fear — they're about confidence.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26720" y="1913075"/>
            <a:ext cx="2072640" cy="3587015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097280" y="2152209"/>
            <a:ext cx="609600" cy="597836"/>
          </a:xfrm>
          <a:prstGeom prst="ellipse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/sessions/intelligent-gifted-keller/deck2/images/icon-puzz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2241884"/>
            <a:ext cx="426720" cy="41848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8640" y="3048963"/>
            <a:ext cx="1828800" cy="538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3-Tool Rule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48640" y="3646798"/>
            <a:ext cx="1828800" cy="13152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Pick 3 tools. Master them. Drop the rest.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2718816" y="1913075"/>
            <a:ext cx="2072640" cy="3587015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3389376" y="2152209"/>
            <a:ext cx="609600" cy="597836"/>
          </a:xfrm>
          <a:prstGeom prst="ellipse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/sessions/intelligent-gifted-keller/deck2/images/icon-tim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0816" y="2241884"/>
            <a:ext cx="426720" cy="41848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840736" y="3048963"/>
            <a:ext cx="1828800" cy="538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Time-Box It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2840736" y="3646798"/>
            <a:ext cx="1828800" cy="13152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 min max per AI attempt. Not helping? Stop.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5010912" y="1913075"/>
            <a:ext cx="2072640" cy="3587015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5681472" y="2152209"/>
            <a:ext cx="609600" cy="597836"/>
          </a:xfrm>
          <a:prstGeom prst="ellipse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3" descr="/sessions/intelligent-gifted-keller/deck2/images/icon-c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2912" y="2241884"/>
            <a:ext cx="426720" cy="41848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132832" y="3048963"/>
            <a:ext cx="1828800" cy="538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AI-Free Time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5132832" y="3646798"/>
            <a:ext cx="1828800" cy="13152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Protect focus blocks with no AI interruption.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7303008" y="1913075"/>
            <a:ext cx="2072640" cy="3587015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7973568" y="2152209"/>
            <a:ext cx="609600" cy="597836"/>
          </a:xfrm>
          <a:prstGeom prst="ellipse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4" descr="/sessions/intelligent-gifted-keller/deck2/images/icon-ey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5008" y="2241884"/>
            <a:ext cx="426720" cy="418485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424928" y="3048963"/>
            <a:ext cx="1828800" cy="538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Review Habit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7424928" y="3646798"/>
            <a:ext cx="1828800" cy="13152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Never ship AI output unread.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9595104" y="1913075"/>
            <a:ext cx="2072640" cy="3587015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0"/>
          <p:cNvSpPr/>
          <p:nvPr/>
        </p:nvSpPr>
        <p:spPr>
          <a:xfrm>
            <a:off x="10265664" y="2152209"/>
            <a:ext cx="609600" cy="597836"/>
          </a:xfrm>
          <a:prstGeom prst="ellipse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5" descr="/sessions/intelligent-gifted-keller/deck2/images/icon-schoo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57104" y="2241884"/>
            <a:ext cx="426720" cy="418485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9717024" y="3048963"/>
            <a:ext cx="1828800" cy="538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Train People</a:t>
            </a:r>
            <a:endParaRPr lang="en-US" sz="1200" dirty="0"/>
          </a:p>
        </p:txBody>
      </p:sp>
      <p:sp>
        <p:nvSpPr>
          <p:cNvPr id="30" name="Text 22"/>
          <p:cNvSpPr/>
          <p:nvPr/>
        </p:nvSpPr>
        <p:spPr>
          <a:xfrm>
            <a:off x="9717024" y="3646798"/>
            <a:ext cx="1828800" cy="13152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5+ hours of hands-on training transforms confidence.</a:t>
            </a:r>
            <a:endParaRPr lang="en-US" sz="1000" dirty="0"/>
          </a:p>
        </p:txBody>
      </p:sp>
      <p:sp>
        <p:nvSpPr>
          <p:cNvPr id="31" name="Text 23"/>
          <p:cNvSpPr/>
          <p:nvPr/>
        </p:nvSpPr>
        <p:spPr>
          <a:xfrm>
            <a:off x="609600" y="6157709"/>
            <a:ext cx="10972800" cy="41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Sources: BCG/HBR, 2026 | BCG, 2025</a:t>
            </a:r>
            <a:endParaRPr lang="en-US" sz="1000" dirty="0"/>
          </a:p>
        </p:txBody>
      </p:sp>
      <p:sp>
        <p:nvSpPr>
          <p:cNvPr id="41" name="SlideNum32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000" dirty="0">
                <a:solidFill>
                  <a:srgbClr val="808080"/>
                </a:solidFill>
              </a:rPr>
              <a:t>32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98918"/>
            <a:ext cx="10972800" cy="777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Training Changes Everything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09600" y="1793507"/>
            <a:ext cx="3048000" cy="1195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E74C3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15%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609600" y="2989179"/>
            <a:ext cx="3048000" cy="9565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positivity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without leadership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support</a:t>
            </a:r>
            <a:endParaRPr lang="en-US" sz="1200" dirty="0"/>
          </a:p>
        </p:txBody>
      </p:sp>
      <p:pic>
        <p:nvPicPr>
          <p:cNvPr id="5" name="Image 0" descr="/sessions/intelligent-gifted-keller/deck2/images/icon-arrow-t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2152209"/>
            <a:ext cx="609600" cy="5978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32960" y="1793507"/>
            <a:ext cx="3048000" cy="1195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16A08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55%</a:t>
            </a:r>
            <a:endParaRPr lang="en-US" sz="5600" dirty="0"/>
          </a:p>
        </p:txBody>
      </p:sp>
      <p:sp>
        <p:nvSpPr>
          <p:cNvPr id="7" name="Text 4"/>
          <p:cNvSpPr/>
          <p:nvPr/>
        </p:nvSpPr>
        <p:spPr>
          <a:xfrm>
            <a:off x="4632960" y="2989179"/>
            <a:ext cx="3048000" cy="9565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positivity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with strong leadership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support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290560" y="1434806"/>
            <a:ext cx="3413760" cy="2989179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8290560" y="1434806"/>
            <a:ext cx="97536" cy="2989179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534400" y="1554373"/>
            <a:ext cx="2926080" cy="26304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"support" means: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5+ hours of hands-on AI training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Clear communication about roles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Picking fewer, better tools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Permission to say "AI isn't helping here"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09600" y="6157709"/>
            <a:ext cx="10972800" cy="41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Source: BCG AI at Work, 2025</a:t>
            </a:r>
            <a:endParaRPr lang="en-US" sz="1000" dirty="0"/>
          </a:p>
        </p:txBody>
      </p:sp>
      <p:sp>
        <p:nvSpPr>
          <p:cNvPr id="21" name="SlideNum33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000" dirty="0">
                <a:solidFill>
                  <a:srgbClr val="808080"/>
                </a:solidFill>
              </a:rPr>
              <a:t>33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8701"/>
            <a:ext cx="10972800" cy="9565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When AI Actually Shines for Engineers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09600" y="1554373"/>
            <a:ext cx="97536" cy="1375022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53440" y="1554373"/>
            <a:ext cx="10728960" cy="137502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219200" y="1673940"/>
            <a:ext cx="9997440" cy="418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Boilerplate &amp; Scaffolding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19200" y="2152209"/>
            <a:ext cx="9997440" cy="657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Config files, API route stubs, Dockerfile templates, CI/CD YAML. The stuff you've written 100 times. Let AI handle it.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09600" y="3168530"/>
            <a:ext cx="97536" cy="1375022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53440" y="3168530"/>
            <a:ext cx="10728960" cy="137502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19200" y="3288097"/>
            <a:ext cx="9997440" cy="418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Code Explanation &amp; Docs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19200" y="3766365"/>
            <a:ext cx="9997440" cy="657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Understanding unfamiliar codebases, generating docstrings, writing README sections. AI excels at reading and summarizing.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9600" y="4782686"/>
            <a:ext cx="97536" cy="1375022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53440" y="4782686"/>
            <a:ext cx="10728960" cy="137502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219200" y="4902253"/>
            <a:ext cx="9997440" cy="418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7AE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Test Generation (with context)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19200" y="5380522"/>
            <a:ext cx="9997440" cy="657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When given proper context — schema, edge cases, framework — AI generates solid test foundations you can build on.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09600" y="6097925"/>
            <a:ext cx="10972800" cy="41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isn't the problem. Using AI for the wrong tasks is the problem.</a:t>
            </a:r>
            <a:endParaRPr lang="en-US" sz="1500" dirty="0"/>
          </a:p>
        </p:txBody>
      </p:sp>
      <p:sp>
        <p:nvSpPr>
          <p:cNvPr id="25" name="SlideNum34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000" dirty="0">
                <a:solidFill>
                  <a:srgbClr val="808080"/>
                </a:solidFill>
              </a:rPr>
              <a:t>34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8701"/>
            <a:ext cx="10972800" cy="9565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Legacy System Example — AI as Documentation</a:t>
            </a:r>
          </a:p>
        </p:txBody>
      </p:sp>
      <p:sp>
        <p:nvSpPr>
          <p:cNvPr id="3" name="Shape 1"/>
          <p:cNvSpPr/>
          <p:nvPr/>
        </p:nvSpPr>
        <p:spPr>
          <a:xfrm>
            <a:off x="609600" y="1673940"/>
            <a:ext cx="97536" cy="3826149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53440" y="1673940"/>
            <a:ext cx="10728960" cy="3826149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341120" y="1793507"/>
            <a:ext cx="9753600" cy="3467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New engineer joins. Legacy Java service: 10,000 lines, minimal docs, scattered authentication logic.</a:t>
            </a:r>
          </a:p>
          <a:p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Traditional: 2 weeks reading code, asking questions, building a mental model.</a:t>
            </a:r>
          </a:p>
          <a:p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AI-powered: Feed core auth classes to AI with context —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“Explain the authn/authz flow. Show entry points, middleware chain, where tokens are validated.”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Structured walkthrough in 30 minutes.</a:t>
            </a:r>
          </a:p>
          <a:p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 replacing the engineer. Giving them a head start.</a:t>
            </a:r>
          </a:p>
        </p:txBody>
      </p:sp>
      <p:sp>
        <p:nvSpPr>
          <p:cNvPr id="6" name="Text 4"/>
          <p:cNvSpPr/>
          <p:nvPr/>
        </p:nvSpPr>
        <p:spPr>
          <a:xfrm>
            <a:off x="609600" y="5739224"/>
            <a:ext cx="10972800" cy="5978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as an index-builder — the engineer still does the thinking.</a:t>
            </a:r>
          </a:p>
        </p:txBody>
      </p:sp>
      <p:sp>
        <p:nvSpPr>
          <p:cNvPr id="7" name="SlideNum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/>
            <a:r>
              <a:rPr lang="en-US" sz="1000" dirty="0">
                <a:solidFill>
                  <a:srgbClr val="808080"/>
                </a:solidFill>
              </a:rPr>
              <a:t>34b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98918"/>
            <a:ext cx="10972800" cy="777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Lead the Shift: Augmentation, Not Automation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09600" y="1195672"/>
            <a:ext cx="10972800" cy="478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Don't mandate AI adoption without support. Augment, don't automate. Here's how: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09600" y="1913075"/>
            <a:ext cx="3474720" cy="3587015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950720" y="2211992"/>
            <a:ext cx="731520" cy="717403"/>
          </a:xfrm>
          <a:prstGeom prst="ellipse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sessions/intelligent-gifted-keller/deck2/images/icon-scho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0448" y="2319603"/>
            <a:ext cx="512064" cy="5021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92480" y="3228313"/>
            <a:ext cx="3108960" cy="418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A08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Train People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92480" y="3706582"/>
            <a:ext cx="3108960" cy="1434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Invest in real, hands-on AI training. Not a 30-min webinar — structured, practical learning.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50080" y="1913075"/>
            <a:ext cx="3474720" cy="3587015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791200" y="2211992"/>
            <a:ext cx="731520" cy="717403"/>
          </a:xfrm>
          <a:prstGeom prst="ellipse">
            <a:avLst/>
          </a:prstGeom>
          <a:solidFill>
            <a:srgbClr val="00A79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/sessions/intelligent-gifted-keller/deck2/images/icon-puzz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0928" y="2319603"/>
            <a:ext cx="512064" cy="50218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32960" y="3228313"/>
            <a:ext cx="3108960" cy="418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336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Pick Fewer Tools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632960" y="3706582"/>
            <a:ext cx="3108960" cy="1434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Standardize on 2-3 AI tools. Go deep instead of wide. Reduce switching costs.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290560" y="1913075"/>
            <a:ext cx="3474720" cy="3587015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9631680" y="2211992"/>
            <a:ext cx="731520" cy="717403"/>
          </a:xfrm>
          <a:prstGeom prst="ellipse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/sessions/intelligent-gifted-keller/deck2/images/icon-commen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41408" y="2319603"/>
            <a:ext cx="512064" cy="50218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73440" y="3228313"/>
            <a:ext cx="3108960" cy="418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336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Explain the Why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473440" y="3706582"/>
            <a:ext cx="3108960" cy="1434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Don't just deploy AI. Explain which tasks, which tools, what changes, and what stays human.</a:t>
            </a:r>
            <a:endParaRPr lang="en-US" sz="1200" dirty="0"/>
          </a:p>
        </p:txBody>
      </p:sp>
      <p:sp>
        <p:nvSpPr>
          <p:cNvPr id="28" name="SlideNum35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000" dirty="0">
                <a:solidFill>
                  <a:srgbClr val="808080"/>
                </a:solidFill>
              </a:rPr>
              <a:t>35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8701"/>
            <a:ext cx="10972800" cy="9565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Your Sane Adoption Playbook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9600" y="1195672"/>
            <a:ext cx="10972800" cy="478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to do this week: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09600" y="1853291"/>
            <a:ext cx="609600" cy="597836"/>
          </a:xfrm>
          <a:prstGeom prst="ellipse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09600" y="1853291"/>
            <a:ext cx="609600" cy="5978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63040" y="1793507"/>
            <a:ext cx="3657600" cy="418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Audit your AI tools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2176122"/>
            <a:ext cx="10119360" cy="418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List every AI tool. Keep your best 3.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9600" y="2785915"/>
            <a:ext cx="609600" cy="597836"/>
          </a:xfrm>
          <a:prstGeom prst="ellipse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09600" y="2785915"/>
            <a:ext cx="609600" cy="5978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63040" y="2726131"/>
            <a:ext cx="3657600" cy="418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Pick one workflow to redesign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63040" y="3108746"/>
            <a:ext cx="10119360" cy="418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Where does AI create friction? Redesign with clear roles.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9600" y="3718539"/>
            <a:ext cx="609600" cy="597836"/>
          </a:xfrm>
          <a:prstGeom prst="ellipse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09600" y="3718539"/>
            <a:ext cx="609600" cy="5978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63040" y="3658755"/>
            <a:ext cx="3657600" cy="418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Define your red-zone tasks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63040" y="4041370"/>
            <a:ext cx="10119360" cy="418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Where should AI NOT lead? Security, architecture, sensitive comms.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9600" y="4651162"/>
            <a:ext cx="609600" cy="597836"/>
          </a:xfrm>
          <a:prstGeom prst="ellipse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09600" y="4651162"/>
            <a:ext cx="609600" cy="5978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63040" y="4591379"/>
            <a:ext cx="3657600" cy="418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Require one human review checkpoint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63040" y="4973994"/>
            <a:ext cx="10119360" cy="418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One person reads every AI output before it ships. No exceptions.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09600" y="5583786"/>
            <a:ext cx="609600" cy="597836"/>
          </a:xfrm>
          <a:prstGeom prst="ellipse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09600" y="5583786"/>
            <a:ext cx="609600" cy="5978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63040" y="5524003"/>
            <a:ext cx="3657600" cy="418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Schedule 5 hours of real training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63040" y="5906618"/>
            <a:ext cx="10119360" cy="418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Hands-on, structured, with your actual tools.</a:t>
            </a:r>
            <a:endParaRPr lang="en-US" sz="1300" dirty="0"/>
          </a:p>
        </p:txBody>
      </p:sp>
      <p:sp>
        <p:nvSpPr>
          <p:cNvPr id="33" name="SlideNum36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000" dirty="0">
                <a:solidFill>
                  <a:srgbClr val="808080"/>
                </a:solidFill>
              </a:rPr>
              <a:t>36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956537"/>
            <a:ext cx="10972800" cy="1673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Using AI AND</a:t>
            </a:r>
            <a:endParaRPr lang="en-US" sz="4000" dirty="0"/>
          </a:p>
          <a:p>
            <a:pPr marL="0" indent="0" algn="ctr">
              <a:buNone/>
            </a:pPr>
            <a:r>
              <a:rPr lang="en-US" sz="4000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Enjoying It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267200" y="2750045"/>
            <a:ext cx="3657600" cy="35870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09600" y="3108746"/>
            <a:ext cx="10972800" cy="1673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goal isn't more AI.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goal is less friction.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feels good when you give it the right work.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09600" y="5141388"/>
            <a:ext cx="10972800" cy="5978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Pick one workflow this week. Redesign it using the five shifts. See how it feels.</a:t>
            </a:r>
            <a:endParaRPr lang="en-US" sz="1500" dirty="0"/>
          </a:p>
        </p:txBody>
      </p:sp>
      <p:sp>
        <p:nvSpPr>
          <p:cNvPr id="15" name="SlideNum37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000" dirty="0">
                <a:solidFill>
                  <a:srgbClr val="808080"/>
                </a:solidFill>
              </a:rPr>
              <a:t>37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391343"/>
            <a:ext cx="10972800" cy="1195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Questions?</a:t>
            </a:r>
            <a:endParaRPr lang="en-US" sz="4400" dirty="0"/>
          </a:p>
        </p:txBody>
      </p:sp>
      <p:sp>
        <p:nvSpPr>
          <p:cNvPr id="12" name="SlideNum38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000" dirty="0">
                <a:solidFill>
                  <a:srgbClr val="808080"/>
                </a:solidFill>
              </a:rPr>
              <a:t>38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A8CB4-7435-3EBE-A737-52D22F062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01C0867-2F70-9F10-089A-980C559B7E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C3B3180-6C16-4B9C-40F6-5D759CF4383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36525"/>
            <a:ext cx="10515600" cy="606425"/>
          </a:xfrm>
        </p:spPr>
        <p:txBody>
          <a:bodyPr>
            <a:normAutofit/>
          </a:bodyPr>
          <a:lstStyle/>
          <a:p>
            <a:r>
              <a:rPr lang="en-US" dirty="0"/>
              <a:t>That’s all - thanks!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2AA874B-2043-0C7E-3358-38C7EAB7C6A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clrChange>
              <a:clrFrom>
                <a:srgbClr val="999999"/>
              </a:clrFrom>
              <a:clrTo>
                <a:srgbClr val="99999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01135" y="813600"/>
            <a:ext cx="1824410" cy="241109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63E9BB6-DBDD-88B7-E965-B43601E32E98}"/>
              </a:ext>
            </a:extLst>
          </p:cNvPr>
          <p:cNvSpPr/>
          <p:nvPr/>
        </p:nvSpPr>
        <p:spPr>
          <a:xfrm>
            <a:off x="4121502" y="5101810"/>
            <a:ext cx="733435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i="1" dirty="0">
                <a:solidFill>
                  <a:srgbClr val="0070C0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techskillstransformations.com</a:t>
            </a:r>
          </a:p>
          <a:p>
            <a:pPr algn="ctr"/>
            <a:r>
              <a:rPr lang="en-US" sz="2000" i="1" dirty="0" err="1">
                <a:solidFill>
                  <a:srgbClr val="0070C0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getskillsnow.com</a:t>
            </a:r>
            <a:endParaRPr lang="en-US" sz="2000" i="1" dirty="0">
              <a:solidFill>
                <a:srgbClr val="0070C0"/>
              </a:solidFill>
              <a:latin typeface="Futura Medium" panose="020B0602020204020303" pitchFamily="34" charset="-79"/>
              <a:cs typeface="Futura Medium" panose="020B0602020204020303" pitchFamily="34" charset="-79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CAEE13-05E3-7418-FC61-E21557401EBF}"/>
              </a:ext>
            </a:extLst>
          </p:cNvPr>
          <p:cNvSpPr txBox="1"/>
          <p:nvPr/>
        </p:nvSpPr>
        <p:spPr>
          <a:xfrm>
            <a:off x="5166141" y="157374"/>
            <a:ext cx="67403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>
                <a:latin typeface="Aptos" panose="020B0004020202020204" pitchFamily="34" charset="0"/>
              </a:rPr>
              <a:t xml:space="preserve">Contact: </a:t>
            </a:r>
            <a:r>
              <a:rPr lang="en-US" sz="2800" dirty="0" err="1">
                <a:solidFill>
                  <a:srgbClr val="0070C0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training@getskillsnow.com</a:t>
            </a:r>
            <a:endParaRPr lang="en-US" sz="2800" dirty="0">
              <a:solidFill>
                <a:srgbClr val="0070C0"/>
              </a:solidFill>
              <a:latin typeface="Futura Medium" panose="020B0602020204020303" pitchFamily="34" charset="-79"/>
              <a:cs typeface="Futura Medium" panose="020B0602020204020303" pitchFamily="34" charset="-79"/>
            </a:endParaRPr>
          </a:p>
        </p:txBody>
      </p:sp>
      <p:pic>
        <p:nvPicPr>
          <p:cNvPr id="1026" name="Picture 2" descr="Professional Git">
            <a:extLst>
              <a:ext uri="{FF2B5EF4-FFF2-40B4-BE49-F238E27FC236}">
                <a16:creationId xmlns:a16="http://schemas.microsoft.com/office/drawing/2014/main" id="{012A314D-4FB5-3FFA-0500-900AEEDC56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" y="828284"/>
            <a:ext cx="1824411" cy="2381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Learning GitHub Copilot: Multiplying Your Coding Productivity Using AI">
            <a:extLst>
              <a:ext uri="{FF2B5EF4-FFF2-40B4-BE49-F238E27FC236}">
                <a16:creationId xmlns:a16="http://schemas.microsoft.com/office/drawing/2014/main" id="{F8AE847E-1265-D661-6FC1-133ABF4AA3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038" y="3357704"/>
            <a:ext cx="1867113" cy="2451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earning GitHub Actions: Automation and Integration of CI/CD with GitHub">
            <a:extLst>
              <a:ext uri="{FF2B5EF4-FFF2-40B4-BE49-F238E27FC236}">
                <a16:creationId xmlns:a16="http://schemas.microsoft.com/office/drawing/2014/main" id="{BC454DA3-0C23-5717-A9A9-4D99BEEF2D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5966" y="3429000"/>
            <a:ext cx="1867113" cy="2451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0440708-921C-156B-E432-253A3E27D9A0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336423" y="774443"/>
            <a:ext cx="7692539" cy="38092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355F5CE-F988-F912-E201-B53CDA54FD9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31609" y="4677549"/>
            <a:ext cx="1769772" cy="176977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113A919-7D0C-8FA9-744D-A61A1AD6F7E1}"/>
              </a:ext>
            </a:extLst>
          </p:cNvPr>
          <p:cNvSpPr txBox="1"/>
          <p:nvPr/>
        </p:nvSpPr>
        <p:spPr>
          <a:xfrm>
            <a:off x="-1475232" y="1914144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81883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itle: "The Verification Tax" -->
      <p:sp>
        <p:nvSpPr>
          <p:cNvPr id="2" name="Title"/>
          <p:cNvSpPr/>
          <p:nvPr/>
        </p:nvSpPr>
        <p:spPr>
          <a:xfrm>
            <a:off x="609600" y="358701"/>
            <a:ext cx="10972800" cy="9565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Verification Tax</a:t>
            </a:r>
          </a:p>
        </p:txBody>
      </p:sp>
      <!-- Subtitle: "When reviewing AI output takes longer than creating it manually" -->
      <p:sp>
        <p:nvSpPr>
          <p:cNvPr id="3" name="Subtitle"/>
          <p:cNvSpPr/>
          <p:nvPr/>
        </p:nvSpPr>
        <p:spPr>
          <a:xfrm>
            <a:off x="609600" y="1315238"/>
            <a:ext cx="10972800" cy="5978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When reviewing AI output takes longer than creating it manually</a:t>
            </a:r>
          </a:p>
        </p:txBody>
      </p:sp>
      <!-- Left bar container (teal background) -->
      <p:sp>
        <p:nvSpPr>
          <p:cNvPr id="4" name="LeftBarBg"/>
          <p:cNvSpPr/>
          <p:nvPr/>
        </p:nvSpPr>
        <p:spPr>
          <a:xfrm>
            <a:off x="1371840" y="2390000"/>
            <a:ext cx="3900000" cy="2400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!-- Left bar accent (teal) -->
      <p:sp>
        <p:nvSpPr>
          <p:cNvPr id="5" name="LeftBarAccent"/>
          <p:cNvSpPr/>
          <p:nvPr/>
        </p:nvSpPr>
        <p:spPr>
          <a:xfrm>
            <a:off x="1371840" y="2390000"/>
            <a:ext cx="97536" cy="2400000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/>
          </a:p>
        </p:txBody>
      </p:sp>
      <!-- Left bar content: "AI Generation" label -->
      <p:sp>
        <p:nvSpPr>
          <p:cNvPr id="6" name="LeftLabel"/>
          <p:cNvSpPr/>
          <p:nvPr/>
        </p:nvSpPr>
        <p:spPr>
          <a:xfrm>
            <a:off x="1524480" y="2520000"/>
            <a:ext cx="3600000" cy="478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Generation</a:t>
            </a:r>
          </a:p>
        </p:txBody>
      </p:sp>
      <!-- Left bar time: "~2 min" -->
      <p:sp>
        <p:nvSpPr>
          <p:cNvPr id="7" name="LeftTime"/>
          <p:cNvSpPr/>
          <p:nvPr/>
        </p:nvSpPr>
        <p:spPr>
          <a:xfrm>
            <a:off x="1524480" y="3250000"/>
            <a:ext cx="3600000" cy="5978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~2 min</a:t>
            </a:r>
          </a:p>
        </p:txBody>
      </p:sp>
      <!-- Right bar container (white background) -->
      <p:sp>
        <p:nvSpPr>
          <p:cNvPr id="8" name="RightBarBg"/>
          <p:cNvSpPr/>
          <p:nvPr/>
        </p:nvSpPr>
        <p:spPr>
          <a:xfrm>
            <a:off x="6220160" y="2103120"/>
            <a:ext cx="3900000" cy="3200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!-- Right bar accent (red) -->
      <p:sp>
        <p:nvSpPr>
          <p:cNvPr id="9" name="RightBarAccent"/>
          <p:cNvSpPr/>
          <p:nvPr/>
        </p:nvSpPr>
        <p:spPr>
          <a:xfrm>
            <a:off x="6220160" y="2103120"/>
            <a:ext cx="97536" cy="320000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!-- Right bar content: "Human Verification" label -->
      <p:sp>
        <p:nvSpPr>
          <p:cNvPr id="10" name="RightLabel"/>
          <p:cNvSpPr/>
          <p:nvPr/>
        </p:nvSpPr>
        <p:spPr>
          <a:xfrm>
            <a:off x="6372800" y="2286000"/>
            <a:ext cx="3600000" cy="478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Human Verification</a:t>
            </a:r>
          </a:p>
        </p:txBody>
      </p:sp>
      <!-- Right bar time: "~15 min" -->
      <p:sp>
        <p:nvSpPr>
          <p:cNvPr id="11" name="RightTime"/>
          <p:cNvSpPr/>
          <p:nvPr/>
        </p:nvSpPr>
        <p:spPr>
          <a:xfrm>
            <a:off x="6372800" y="2800000"/>
            <a:ext cx="3600000" cy="5978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74C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~15 min</a:t>
            </a:r>
          </a:p>
        </p:txBody>
      </p:sp>
      <!-- Net savings message: "Net time savings: negative" in red -->
      <p:sp>
        <p:nvSpPr>
          <p:cNvPr id="12" name="NetSavings"/>
          <p:cNvSpPr/>
          <p:nvPr/>
        </p:nvSpPr>
        <p:spPr>
          <a:xfrm>
            <a:off x="1371840" y="5030000"/>
            <a:ext cx="8748320" cy="5978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74C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Net time savings: negative</a:t>
            </a:r>
          </a:p>
        </p:txBody>
      </p:sp>
      <!-- Bottom insight text: teal -->
      <p:sp>
        <p:nvSpPr>
          <p:cNvPr id="13" name="Insight"/>
          <p:cNvSpPr/>
          <p:nvPr/>
        </p:nvSpPr>
        <p:spPr>
          <a:xfrm>
            <a:off x="609600" y="5900000"/>
            <a:ext cx="10972800" cy="5978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tools multiply, but the deep-focus time shrinks.</a:t>
            </a:r>
          </a:p>
        </p:txBody>
      </p:sp>
      <!-- Slide number: "15c" -->
      <p:sp>
        <p:nvSpPr>
          <p:cNvPr id="14" name="SlideNum15c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000" dirty="0">
                <a:solidFill>
                  <a:srgbClr val="808080"/>
                </a:solidFill>
              </a:rPr>
              <a:t>15c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?>
<Relationships xmlns="http://schemas.openxmlformats.org/package/2006/relationships">
  <Relationship Id="rId1" Type="http://schemas.microsoft.com/office/2011/relationships/webextension" Target="webextension1.xml"/>
</Relationships>
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6061788-D76A-FC40-A1F2-6293CE3941A2}">
  <we:reference id="wa200010001" version="1.0.0.0" store="en-US" storeType="OMEX"/>
  <we:alternateReferences>
    <we:reference id="WA200010001" version="1.0.0.0" store="" storeType="OMEX"/>
  </we:alternateReferences>
  <we:properties>
    <we:property name="Office.AutoShowTaskpaneWithDocument" value="true"/>
    <we:property name="claude.fileId" value="&quot;cc37e82b-0f95-440c-8b78-0f865ac18e4c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28408</TotalTime>
  <Words>3015</Words>
  <Application>Microsoft Macintosh PowerPoint</Application>
  <PresentationFormat>Widescreen</PresentationFormat>
  <Paragraphs>517</Paragraphs>
  <Slides>44</Slides>
  <Notes>2</Notes>
  <HiddenSlides>1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5" baseType="lpstr">
      <vt:lpstr>Aptos</vt:lpstr>
      <vt:lpstr>Arial</vt:lpstr>
      <vt:lpstr>Arial Rounded MT Bold</vt:lpstr>
      <vt:lpstr>Avenir Next</vt:lpstr>
      <vt:lpstr>Consolas</vt:lpstr>
      <vt:lpstr>Futura Medium</vt:lpstr>
      <vt:lpstr>Lato</vt:lpstr>
      <vt:lpstr>Poppins</vt:lpstr>
      <vt:lpstr>Times New Roman</vt:lpstr>
      <vt:lpstr>Wingdings</vt:lpstr>
      <vt:lpstr>2_Custom Design</vt:lpstr>
      <vt:lpstr>               Version 2.8  04/03/26</vt:lpstr>
      <vt:lpstr>PowerPoint Presentation</vt:lpstr>
      <vt:lpstr>About me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Each Shift Addresses a Barrier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That’s all - thanks!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emplate/>
  <TotalTime>211958</TotalTime>
  <Words>10805</Words>
  <Application>Microsoft Macintosh PowerPoint</Application>
  <PresentationFormat>Widescreen</PresentationFormat>
  <Paragraphs>1358</Paragraphs>
  <Slides>77</Slides>
  <Notes>25</Notes>
  <HiddenSlides>1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77</vt:i4>
      </vt:variant>
    </vt:vector>
  </HeadingPairs>
  <TitlesOfParts>
    <vt:vector size="91" baseType="lpstr">
      <vt:lpstr>Aptos</vt:lpstr>
      <vt:lpstr>Arial</vt:lpstr>
      <vt:lpstr>Arial Narrow</vt:lpstr>
      <vt:lpstr>Arial Rounded MT Bold</vt:lpstr>
      <vt:lpstr>Avenir Next</vt:lpstr>
      <vt:lpstr>Avenir Next LT Pro</vt:lpstr>
      <vt:lpstr>Calibri</vt:lpstr>
      <vt:lpstr>Comic Sans MS</vt:lpstr>
      <vt:lpstr>Consolas</vt:lpstr>
      <vt:lpstr>Futura Medium</vt:lpstr>
      <vt:lpstr>Futura Medium</vt:lpstr>
      <vt:lpstr>Times New Roman</vt:lpstr>
      <vt:lpstr>Wingdings</vt:lpstr>
      <vt:lpstr>1_Custom Design</vt:lpstr>
      <vt:lpstr>PowerPoint Presentation</vt:lpstr>
      <vt:lpstr>PowerPoint Presentation</vt:lpstr>
      <vt:lpstr>Agenda</vt:lpstr>
      <vt:lpstr>Lab prep - repo is github.com/skillrepos/mcp</vt:lpstr>
      <vt:lpstr>Codespace timeouts</vt:lpstr>
      <vt:lpstr>About me  </vt:lpstr>
      <vt:lpstr>Upcoming NFJS AI Virtual Training</vt:lpstr>
      <vt:lpstr>Enterprise AI Accelerator Training</vt:lpstr>
      <vt:lpstr>PowerPoint Presentation</vt:lpstr>
      <vt:lpstr>What is an AI Agent? </vt:lpstr>
      <vt:lpstr>Agent Example</vt:lpstr>
      <vt:lpstr>Agent Example</vt:lpstr>
      <vt:lpstr>Agent Example</vt:lpstr>
      <vt:lpstr>Agent Example</vt:lpstr>
      <vt:lpstr>Agent Example</vt:lpstr>
      <vt:lpstr>Agent Example</vt:lpstr>
      <vt:lpstr>Agent Example</vt:lpstr>
      <vt:lpstr>Agent Example</vt:lpstr>
      <vt:lpstr>Agent Example</vt:lpstr>
      <vt:lpstr>Agent Example</vt:lpstr>
      <vt:lpstr>How AI Models Can Call Functions</vt:lpstr>
      <vt:lpstr>Problem: Different models handle function calls differently</vt:lpstr>
      <vt:lpstr>M x N Integration problem</vt:lpstr>
      <vt:lpstr>PowerPoint Presentation</vt:lpstr>
      <vt:lpstr>Model Context Protocol (Concept)</vt:lpstr>
      <vt:lpstr>Model Context Protocol (Concept)</vt:lpstr>
      <vt:lpstr>How does MCP Help? (Standardization)</vt:lpstr>
      <vt:lpstr>How does MCP Help? (Discoverability)</vt:lpstr>
      <vt:lpstr>PowerPoint Presentation</vt:lpstr>
      <vt:lpstr>Design Principles of MCP</vt:lpstr>
      <vt:lpstr>PowerPoint Presentation</vt:lpstr>
      <vt:lpstr>Overview of MCP Architecture</vt:lpstr>
      <vt:lpstr>Modularity and Scalability</vt:lpstr>
      <vt:lpstr>MCP Communication Protocol Overview</vt:lpstr>
      <vt:lpstr>MCP Transports</vt:lpstr>
      <vt:lpstr>PowerPoint Presentation</vt:lpstr>
      <vt:lpstr>MCP Framework Comparisons</vt:lpstr>
      <vt:lpstr>PowerPoint Presentation</vt:lpstr>
      <vt:lpstr>MCP Features</vt:lpstr>
      <vt:lpstr>Roots</vt:lpstr>
      <vt:lpstr>Samplings</vt:lpstr>
      <vt:lpstr>Elicitations</vt:lpstr>
      <vt:lpstr>MCP Feature Support</vt:lpstr>
      <vt:lpstr>Tools</vt:lpstr>
      <vt:lpstr>Prompt</vt:lpstr>
      <vt:lpstr>Prompt Flow (FastMCP 2.0+)</vt:lpstr>
      <vt:lpstr>Prompt Flow (FastMCP 2.0+)</vt:lpstr>
      <vt:lpstr>Resource</vt:lpstr>
      <vt:lpstr>MCP Discovery - Function and Benefits </vt:lpstr>
      <vt:lpstr>Discovery code and flow</vt:lpstr>
      <vt:lpstr>MCP Inspector</vt:lpstr>
      <vt:lpstr>PowerPoint Presentation</vt:lpstr>
      <vt:lpstr>How Authentication Works</vt:lpstr>
      <vt:lpstr>Specification management for MCP</vt:lpstr>
      <vt:lpstr>What is covered/not covered for authentication in the 6.18 MCP release</vt:lpstr>
      <vt:lpstr>Remaining Authentication Gaps</vt:lpstr>
      <vt:lpstr>What is covered/not covered in the 6.18 release for security</vt:lpstr>
      <vt:lpstr>Remaining Security Gaps</vt:lpstr>
      <vt:lpstr>PowerPoint Presentation</vt:lpstr>
      <vt:lpstr>Differences between APIs, LSP, and MCP</vt:lpstr>
      <vt:lpstr>Should you convert your APIs to MCP?</vt:lpstr>
      <vt:lpstr>Prompt and Model Discovery Pattern</vt:lpstr>
      <vt:lpstr>Benefits of This Pattern</vt:lpstr>
      <vt:lpstr>Leveraging resources for models</vt:lpstr>
      <vt:lpstr>PowerPoint Presentation</vt:lpstr>
      <vt:lpstr>MCP Servers List</vt:lpstr>
      <vt:lpstr>GitHub MCP Server: Flagship Public Endpoint</vt:lpstr>
      <vt:lpstr>MCP Client Config Files - Structure</vt:lpstr>
      <vt:lpstr>MCP Config Workflow </vt:lpstr>
      <vt:lpstr>Items to consider before connecting to a public MCP server</vt:lpstr>
      <vt:lpstr>PowerPoint Presentation</vt:lpstr>
      <vt:lpstr>Current MCP Challenges and Downsides</vt:lpstr>
      <vt:lpstr>MCP vulnerabilities – Key Take-aways from CyberArk Report</vt:lpstr>
      <vt:lpstr>Using extra fields </vt:lpstr>
      <vt:lpstr>Recommended Mitigations</vt:lpstr>
      <vt:lpstr>MCP Predictions</vt:lpstr>
      <vt:lpstr>That’s all - thanks!</vt:lpstr>
    </vt:vector>
  </TitlesOfParts>
  <Company>SAS Institute,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Brent Laster</cp:lastModifiedBy>
  <cp:revision>190</cp:revision>
  <dcterms:created xsi:type="dcterms:W3CDTF">2025-10-17T10:43:22Z</dcterms:created>
  <dcterms:modified xsi:type="dcterms:W3CDTF">2026-04-03T13:15:52Z</dcterms:modified>
</cp:coreProperties>
</file>