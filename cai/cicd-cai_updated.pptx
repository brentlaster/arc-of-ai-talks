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package/2006/relationships/metadata/extended-properties" Target="docProps/app0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4052" r:id="rId1"/>
  </p:sldMasterIdLst>
  <p:notesMasterIdLst>
    <p:notesMasterId r:id="rId5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0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9A"/>
    <a:srgbClr val="0053C3"/>
    <a:srgbClr val="000B19"/>
    <a:srgbClr val="FF6565"/>
    <a:srgbClr val="FF8F8F"/>
    <a:srgbClr val="EBE3D0"/>
    <a:srgbClr val="FF8817"/>
    <a:srgbClr val="D9D9D9"/>
    <a:srgbClr val="9FA7B3"/>
    <a:srgbClr val="FEF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0498DE-D9BF-7242-9555-3794BD0C6519}" v="5" dt="2026-04-04T12:05:58.1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193" autoAdjust="0"/>
    <p:restoredTop sz="77825" autoAdjust="0"/>
  </p:normalViewPr>
  <p:slideViewPr>
    <p:cSldViewPr snapToGrid="0">
      <p:cViewPr varScale="1">
        <p:scale>
          <a:sx n="73" d="100"/>
          <a:sy n="73" d="100"/>
        </p:scale>
        <p:origin x="208" y="616"/>
      </p:cViewPr>
      <p:guideLst>
        <p:guide orient="horz" pos="2160"/>
        <p:guide pos="10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168" y="22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t Laster" userId="9445a60c3ec18e36" providerId="LiveId" clId="{55DEF1FB-B722-5F07-B535-31DAE6B7729C}"/>
    <pc:docChg chg="modSld">
      <pc:chgData name="Brent Laster" userId="9445a60c3ec18e36" providerId="LiveId" clId="{55DEF1FB-B722-5F07-B535-31DAE6B7729C}" dt="2026-04-04T02:56:54.168" v="0" actId="729"/>
      <pc:docMkLst>
        <pc:docMk/>
      </pc:docMkLst>
      <pc:sldChg chg="mod modShow">
        <pc:chgData name="Brent Laster" userId="9445a60c3ec18e36" providerId="LiveId" clId="{55DEF1FB-B722-5F07-B535-31DAE6B7729C}" dt="2026-04-04T02:56:54.168" v="0" actId="729"/>
        <pc:sldMkLst>
          <pc:docMk/>
          <pc:sldMk cId="3865718422" sldId="257"/>
        </pc:sldMkLst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73227-AD61-824B-8F5F-ACBBE6D7DBFF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A33A7-505C-B745-B4F4-A30D48402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70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Copyright © 2010, SAS Institute Inc. All rights reserved.</a:t>
            </a:r>
            <a:endParaRPr lang="en-US" sz="1200" dirty="0">
              <a:latin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AC1AB-A7A8-4DFF-B258-11ED1984126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919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98C1-F26A-168C-B069-C96AD83B1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2F2D3-0209-27B6-7198-7F033371D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908C5-ECCF-0FCB-D4CF-577D122DA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863F9-E647-B675-1B4F-8815B8C07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2010, SAS Institute Inc. All rights reserved.</a:t>
            </a:r>
            <a:endParaRPr lang="en-US" sz="1200" dirty="0">
              <a:latin typeface="Times New Roman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DAA76-A55D-8D43-01C6-559B407195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3AC1AB-A7A8-4DFF-B258-11ED19841263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280285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AC595-E459-F640-9EB6-554CC8FFD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82390"/>
            <a:ext cx="12170710" cy="682136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B8CF5-562F-8B46-AA59-F6B50BAA1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3452" y="144395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E146CA-BD7B-0049-AE5C-CC91A0FEF6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011936"/>
              </a:clrFrom>
              <a:clrTo>
                <a:srgbClr val="01193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" y="119824"/>
            <a:ext cx="805396" cy="608841"/>
          </a:xfrm>
          <a:prstGeom prst="rect">
            <a:avLst/>
          </a:prstGeom>
        </p:spPr>
      </p:pic>
      <p:sp>
        <p:nvSpPr>
          <p:cNvPr id="4" name="Google Shape;139;p18">
            <a:extLst>
              <a:ext uri="{FF2B5EF4-FFF2-40B4-BE49-F238E27FC236}">
                <a16:creationId xmlns:a16="http://schemas.microsoft.com/office/drawing/2014/main" id="{090FAD85-3E0A-290C-9FAC-0370870B3253}"/>
              </a:ext>
            </a:extLst>
          </p:cNvPr>
          <p:cNvSpPr txBox="1"/>
          <p:nvPr userDrawn="1"/>
        </p:nvSpPr>
        <p:spPr>
          <a:xfrm>
            <a:off x="1500425" y="3043237"/>
            <a:ext cx="919114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Master Title Style</a:t>
            </a:r>
            <a:endParaRPr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C59D9A-75F1-CDD6-2DDB-569708CB6B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1235" y="6447269"/>
            <a:ext cx="3140765" cy="33635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E6F9FE-4C14-E54A-6987-7D3CD5D6CDE4}"/>
              </a:ext>
            </a:extLst>
          </p:cNvPr>
          <p:cNvCxnSpPr/>
          <p:nvPr userDrawn="1"/>
        </p:nvCxnSpPr>
        <p:spPr>
          <a:xfrm>
            <a:off x="261257" y="6422324"/>
            <a:ext cx="1159291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712BCEDC-B79C-C4F2-D6FC-DED19C6303AA}"/>
              </a:ext>
            </a:extLst>
          </p:cNvPr>
          <p:cNvSpPr txBox="1">
            <a:spLocks/>
          </p:cNvSpPr>
          <p:nvPr userDrawn="1"/>
        </p:nvSpPr>
        <p:spPr>
          <a:xfrm>
            <a:off x="503583" y="6551446"/>
            <a:ext cx="2743200" cy="1726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r>
              <a:rPr lang="en-US" sz="1200" i="1" baseline="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@techupskills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01FCCD-D237-2C5F-6A32-D449E1DCC96C}"/>
              </a:ext>
            </a:extLst>
          </p:cNvPr>
          <p:cNvSpPr txBox="1"/>
          <p:nvPr userDrawn="1"/>
        </p:nvSpPr>
        <p:spPr>
          <a:xfrm>
            <a:off x="9731928" y="6422324"/>
            <a:ext cx="2252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aseline="0" dirty="0">
                <a:solidFill>
                  <a:schemeClr val="tx1"/>
                </a:solidFill>
              </a:rPr>
              <a:t>© 2026 Brent C. Laster &amp;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20404B-B0B1-8B94-9964-E6D607DC0AF8}"/>
              </a:ext>
            </a:extLst>
          </p:cNvPr>
          <p:cNvSpPr/>
          <p:nvPr userDrawn="1"/>
        </p:nvSpPr>
        <p:spPr>
          <a:xfrm>
            <a:off x="-215348" y="6472213"/>
            <a:ext cx="12192000" cy="336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1200" b="1" baseline="0" dirty="0" err="1">
                <a:solidFill>
                  <a:srgbClr val="0070C0"/>
                </a:solidFill>
                <a:latin typeface="Consolas" panose="020B0609020204030204" pitchFamily="49" charset="0"/>
              </a:rPr>
              <a:t>getskillsnow.com</a:t>
            </a:r>
            <a:r>
              <a:rPr lang="en-US" sz="1200" b="1" baseline="0" dirty="0">
                <a:solidFill>
                  <a:srgbClr val="0070C0"/>
                </a:solidFill>
                <a:latin typeface="Consolas" panose="020B0609020204030204" pitchFamily="49" charset="0"/>
              </a:rPr>
              <a:t> | techskillstransformations.com</a:t>
            </a:r>
          </a:p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239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0F0AB-BC6D-CC40-AEF8-70D316B7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6815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C4DF0-0146-B74D-9222-FBEF6BA33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8931" y="1825625"/>
            <a:ext cx="5156200" cy="435133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FFE8E-FC7C-CC4F-A247-AF75D48AB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145C3-7C23-EC4D-B234-5827A338F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FDA42-F902-364A-8D64-66C31B92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63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59E9B-56CD-3146-88A8-2A1303E68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4576"/>
            <a:ext cx="10515600" cy="66833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B06EF-645D-364D-98C9-DD935B464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486" y="1185864"/>
            <a:ext cx="5158316" cy="823912"/>
          </a:xfr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55C4B-C359-6B42-963D-B36222B47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9091" y="2107510"/>
            <a:ext cx="5158316" cy="368458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6E1E1-D1C9-494A-8102-B2561FD3C6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85864"/>
            <a:ext cx="5183717" cy="823912"/>
          </a:xfr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E2A4D-6BB8-DE43-B06E-4776B27CD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87632"/>
            <a:ext cx="5183717" cy="368458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083022-C0DE-FD46-A3ED-D38C325C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A21222-DCD8-F44B-8336-4590BAF3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25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84C8-8F53-B442-939B-EAC93548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062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069DA-3FBF-FE4E-9F53-EE77D1BE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990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53722-DC75-6449-B529-02CFB5AF9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C14E8-D3E8-8F40-9BB7-74E9A886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4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C7CA5-056D-A745-A0C8-79519B875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EF582-6216-9240-B0ED-2C3FB4E49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218AF-60A7-CB45-B4CB-5F2BFDF62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3D00C-F7FA-7B4E-8D30-608A37BD3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2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716F-99C1-FC48-B4CF-69C87928E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F5B8A-6F26-E14F-81E4-855148E11A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144D1-36DB-F04A-B0D0-27079FE6C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800D6-FD0C-B74C-B661-D32A4739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57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DD3D-6BFD-5C43-A0D2-7BEF30DFE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58835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AEB4C-AAE1-8541-8D22-5756735F3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665528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1394D-8DBF-ED42-ADBD-30B79239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7043F-1A07-A34F-B820-529719AF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04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01A88A-5C78-4E41-9CC8-D19263AEA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6FBC8-490D-B74B-88EC-9FF75D58E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41401" y="362502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ACCBE-FD68-3F43-856D-1D1EBBCBB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10833-7DBB-9C45-8EF3-7C8A37BC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4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2335696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EE827D8-5331-364E-8DCF-17560456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584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4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899" y="128017"/>
            <a:ext cx="10694925" cy="7499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50899" y="1143001"/>
            <a:ext cx="10934700" cy="2084316"/>
          </a:xfrm>
          <a:noFill/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buFont typeface="Wingdings" pitchFamily="2" charset="2"/>
              <a:buChar char="§"/>
              <a:defRPr/>
            </a:lvl2pPr>
            <a:lvl3pPr>
              <a:buClr>
                <a:schemeClr val="accent2"/>
              </a:buClr>
              <a:buFont typeface="Arial" pitchFamily="34" charset="0"/>
              <a:buChar char="»"/>
              <a:defRPr/>
            </a:lvl3pPr>
            <a:lvl4pPr>
              <a:buClr>
                <a:schemeClr val="accent2"/>
              </a:buClr>
              <a:buFont typeface="Arial" pitchFamily="34" charset="0"/>
              <a:buChar char="»"/>
              <a:defRPr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2545918"/>
      </p:ext>
    </p:extLst>
  </p:cSld>
  <p:clrMapOvr>
    <a:masterClrMapping/>
  </p:clrMapOvr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5C0C-1C63-E140-B432-5F70B92D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149088"/>
            <a:ext cx="10515600" cy="59838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30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9148C-B165-A644-829D-E97C13335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217" y="936313"/>
            <a:ext cx="10515600" cy="4351338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7620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74917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tif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A157A-951D-6241-BA46-26919E038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0762"/>
            <a:ext cx="12192000" cy="6767238"/>
          </a:xfrm>
          <a:prstGeom prst="rect">
            <a:avLst/>
          </a:prstGeom>
          <a:blipFill>
            <a:blip r:embed="rId15"/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84F870-C1E6-D440-AFA8-3F48B28AF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396" y="49431"/>
            <a:ext cx="11346848" cy="687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Slide Title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4FDA5E-04CE-6B42-A3C1-3304024872A6}"/>
              </a:ext>
            </a:extLst>
          </p:cNvPr>
          <p:cNvSpPr/>
          <p:nvPr userDrawn="1"/>
        </p:nvSpPr>
        <p:spPr>
          <a:xfrm>
            <a:off x="-38288" y="6452187"/>
            <a:ext cx="12192000" cy="336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1200" b="1" baseline="0" dirty="0" err="1">
                <a:solidFill>
                  <a:srgbClr val="0070C0"/>
                </a:solidFill>
                <a:latin typeface="Consolas" panose="020B0609020204030204" pitchFamily="49" charset="0"/>
              </a:rPr>
              <a:t>getskillsnow.com</a:t>
            </a:r>
            <a:r>
              <a:rPr lang="en-US" sz="1200" b="1" baseline="0" dirty="0">
                <a:solidFill>
                  <a:srgbClr val="0070C0"/>
                </a:solidFill>
                <a:latin typeface="Consolas" panose="020B0609020204030204" pitchFamily="49" charset="0"/>
              </a:rPr>
              <a:t> | techskillstransformations.com</a:t>
            </a:r>
          </a:p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5E45D-7B95-F34C-922E-CD512986D553}"/>
              </a:ext>
            </a:extLst>
          </p:cNvPr>
          <p:cNvSpPr txBox="1"/>
          <p:nvPr userDrawn="1"/>
        </p:nvSpPr>
        <p:spPr>
          <a:xfrm>
            <a:off x="9731928" y="6422324"/>
            <a:ext cx="2252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aseline="0" dirty="0">
                <a:solidFill>
                  <a:schemeClr val="tx1"/>
                </a:solidFill>
              </a:rPr>
              <a:t>© 2026 Brent C. Laster &amp; 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75F918A-108F-8345-B3C6-704523C1A92D}"/>
              </a:ext>
            </a:extLst>
          </p:cNvPr>
          <p:cNvSpPr txBox="1">
            <a:spLocks/>
          </p:cNvSpPr>
          <p:nvPr userDrawn="1"/>
        </p:nvSpPr>
        <p:spPr>
          <a:xfrm>
            <a:off x="503583" y="6551446"/>
            <a:ext cx="2743200" cy="1726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r>
              <a:rPr lang="en-US" sz="1200" i="1" baseline="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@techupskills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DE2AB4-6E56-F34C-B480-2C330D43EA1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clrChange>
              <a:clrFrom>
                <a:srgbClr val="011936"/>
              </a:clrFrom>
              <a:clrTo>
                <a:srgbClr val="01193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" y="118270"/>
            <a:ext cx="805396" cy="60884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C3BA2D-0AF4-4244-B4E5-52AD6249F917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945219" y="6452187"/>
            <a:ext cx="3140765" cy="33635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D2E128-FED2-5B4B-B513-E85C03C1BB85}"/>
              </a:ext>
            </a:extLst>
          </p:cNvPr>
          <p:cNvSpPr/>
          <p:nvPr userDrawn="1"/>
        </p:nvSpPr>
        <p:spPr>
          <a:xfrm>
            <a:off x="11356916" y="50475"/>
            <a:ext cx="4972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1284E9-94DB-4DD1-A409-7E35AAE7ECDF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ＭＳ Ｐゴシック" pitchFamily="34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 pitchFamily="34" charset="-128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96A077-1177-F8B5-F75F-71B1A4F06E07}"/>
              </a:ext>
            </a:extLst>
          </p:cNvPr>
          <p:cNvCxnSpPr/>
          <p:nvPr userDrawn="1"/>
        </p:nvCxnSpPr>
        <p:spPr>
          <a:xfrm>
            <a:off x="261257" y="6422324"/>
            <a:ext cx="11592911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16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</p:sldLayoutIdLst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200" kern="1200" baseline="0">
          <a:solidFill>
            <a:srgbClr val="0053C3"/>
          </a:solidFill>
          <a:latin typeface="Avenir Next" panose="020B05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tiff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png"/><Relationship Id="rId18" Type="http://schemas.microsoft.com/office/2007/relationships/hdphoto" Target="../media/hdphoto1.wdp"/><Relationship Id="rId3" Type="http://schemas.openxmlformats.org/officeDocument/2006/relationships/image" Target="../media/image7.png"/><Relationship Id="rId21" Type="http://schemas.openxmlformats.org/officeDocument/2006/relationships/image" Target="../media/image22.png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microsoft.com/office/2007/relationships/hdphoto" Target="../media/hdphoto2.wdp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jpeg"/><Relationship Id="rId19" Type="http://schemas.openxmlformats.org/officeDocument/2006/relationships/image" Target="../media/image21.png"/><Relationship Id="rId4" Type="http://schemas.openxmlformats.org/officeDocument/2006/relationships/hyperlink" Target="mailto:info@getskillsnow.com" TargetMode="External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9.xml.rels><?xml version="1.0" encoding="UTF-8"?>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?>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11.jpeg"/><Relationship Id="rId4" Type="http://schemas.openxmlformats.org/officeDocument/2006/relationships/image" Target="../media/image4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B36DAF-BCFD-4CD5-8AC7-A341B075B0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6525"/>
            <a:ext cx="10515600" cy="584200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Version 2.8</a:t>
            </a:r>
            <a:br>
              <a:rPr lang="en-US" b="1" dirty="0"/>
            </a:br>
            <a:r>
              <a:rPr lang="en-US" b="1" dirty="0"/>
              <a:t>	04/03/26</a:t>
            </a:r>
          </a:p>
        </p:txBody>
      </p:sp>
    </p:spTree>
    <p:extLst>
      <p:ext uri="{BB962C8B-B14F-4D97-AF65-F5344CB8AC3E}">
        <p14:creationId xmlns:p14="http://schemas.microsoft.com/office/powerpoint/2010/main" val="386571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0B30B-BF59-58F0-A0E3-089D5D32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37C34A4-2F7C-3F02-8AD8-4A34F1B82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algn="ctr"/>
            <a:endParaRPr lang="en-US" sz="4400" b="1" dirty="0">
              <a:solidFill>
                <a:schemeClr val="accent1"/>
              </a:solidFill>
            </a:endParaRPr>
          </a:p>
          <a:p>
            <a:pPr algn="ctr"/>
            <a:r>
              <a:rPr lang="en-US" sz="4400" b="1" dirty="0">
                <a:solidFill>
                  <a:schemeClr val="accent1"/>
                </a:solidFill>
              </a:rPr>
              <a:t>CAI</a:t>
            </a:r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Presented by Brent Laster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C1DA5D-C67D-6BA2-0803-A6B239279D8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84617" y="5845563"/>
            <a:ext cx="1609181" cy="671833"/>
          </a:xfrm>
          <a:prstGeom prst="rect">
            <a:avLst/>
          </a:prstGeom>
        </p:spPr>
      </p:pic>
      <p:pic>
        <p:nvPicPr>
          <p:cNvPr id="1026" name="Picture 2" descr="Problems Using the Registered Trademark Symbol with Products ...">
            <a:extLst>
              <a:ext uri="{FF2B5EF4-FFF2-40B4-BE49-F238E27FC236}">
                <a16:creationId xmlns:a16="http://schemas.microsoft.com/office/drawing/2014/main" id="{AF0D5608-BB5A-4B83-D7C1-1348449F6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663" y="6067740"/>
            <a:ext cx="433635" cy="227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C7ABC5-29F2-E664-C631-2175C945FF35}"/>
              </a:ext>
            </a:extLst>
          </p:cNvPr>
          <p:cNvSpPr txBox="1"/>
          <p:nvPr/>
        </p:nvSpPr>
        <p:spPr>
          <a:xfrm>
            <a:off x="3750121" y="5014934"/>
            <a:ext cx="4583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Tech Skills Transformations LLC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436E77-E431-164E-85BC-6A926AD989C8}"/>
              </a:ext>
            </a:extLst>
          </p:cNvPr>
          <p:cNvSpPr txBox="1"/>
          <p:nvPr/>
        </p:nvSpPr>
        <p:spPr>
          <a:xfrm>
            <a:off x="3858379" y="5673646"/>
            <a:ext cx="44752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© 2026 Brent C. Laster &amp; Tech Skills Transformations LLC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All rights reserved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55B8A-1AB3-1253-2400-0CF37CFDE8E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11936"/>
              </a:clrFrom>
              <a:clrTo>
                <a:srgbClr val="01193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83558" y="6029754"/>
            <a:ext cx="301059" cy="303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83F00E-5055-9E06-307D-85D5C5ACD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397" y="168691"/>
            <a:ext cx="4072313" cy="70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03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B595A-78FB-36CD-C0A6-4B73E133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64E648-8425-9C8A-5EB1-04E7A5A11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240"/>
            <a:ext cx="12192000" cy="635222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1C8E79-98ED-8174-AFD6-675BCF42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0718" y="9995"/>
            <a:ext cx="3034897" cy="12648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  <a:latin typeface="+mj-lt"/>
              </a:rPr>
              <a:t>About me</a:t>
            </a:r>
            <a:br>
              <a:rPr lang="en-US" sz="3500" dirty="0">
                <a:solidFill>
                  <a:srgbClr val="FFFFFF"/>
                </a:solidFill>
                <a:latin typeface="+mj-lt"/>
              </a:rPr>
            </a:br>
            <a:r>
              <a:rPr lang="en-US" sz="3500" dirty="0">
                <a:solidFill>
                  <a:srgbClr val="FFFFFF"/>
                </a:solidFill>
                <a:latin typeface="+mj-lt"/>
              </a:rPr>
              <a:t>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510CD7-0F27-2BC3-36BB-66ECE0B27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6607" y="238708"/>
            <a:ext cx="3314931" cy="18618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Founder, Tech Skills Transformations LLC</a:t>
            </a:r>
          </a:p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  <a:hlinkClick r:id="" action="ppaction://noaction"/>
              </a:rPr>
              <a:t>https://getskillsnow.com</a:t>
            </a:r>
          </a:p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  <a:hlinkClick r:id="rId4"/>
              </a:rPr>
              <a:t>info@getskillsnow.com</a:t>
            </a:r>
            <a:br>
              <a:rPr lang="en-US" sz="1400" dirty="0"/>
            </a:br>
            <a:endParaRPr lang="en-US" sz="1400" dirty="0"/>
          </a:p>
          <a:p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4D54D8-822E-0C57-B74B-5675B46525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2060" y="3934684"/>
            <a:ext cx="1278206" cy="1605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D73E8F-1A63-64BF-3010-1C3F170E7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42" y="4914520"/>
            <a:ext cx="1201008" cy="1555404"/>
          </a:xfrm>
          <a:prstGeom prst="rect">
            <a:avLst/>
          </a:prstGeom>
        </p:spPr>
      </p:pic>
      <p:pic>
        <p:nvPicPr>
          <p:cNvPr id="14" name="Picture 2" descr="Learning GitHub Actions: Automation and Integration of CI/CD with GitHub">
            <a:extLst>
              <a:ext uri="{FF2B5EF4-FFF2-40B4-BE49-F238E27FC236}">
                <a16:creationId xmlns:a16="http://schemas.microsoft.com/office/drawing/2014/main" id="{A3AF8EA2-164C-3EC0-A5A1-92861633C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086" y="1470997"/>
            <a:ext cx="1142134" cy="149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earning GitHub Copilot: Multiplying Your Coding Productivity Using AI">
            <a:extLst>
              <a:ext uri="{FF2B5EF4-FFF2-40B4-BE49-F238E27FC236}">
                <a16:creationId xmlns:a16="http://schemas.microsoft.com/office/drawing/2014/main" id="{F66E18C2-382D-2A81-7B9D-BE7F1C42E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291" y="2040327"/>
            <a:ext cx="1211745" cy="1591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F4A36A1-8C72-6154-F2F9-C6871B97E5FA}"/>
              </a:ext>
            </a:extLst>
          </p:cNvPr>
          <p:cNvSpPr txBox="1">
            <a:spLocks/>
          </p:cNvSpPr>
          <p:nvPr/>
        </p:nvSpPr>
        <p:spPr>
          <a:xfrm>
            <a:off x="378805" y="4045644"/>
            <a:ext cx="3286712" cy="2244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>LinkedIn: 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brentlaster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>X: @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BrentCLaster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>Bluesky: 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brentclaster.bsky.social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>GitHub: 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brentlaster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</a:pP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D7AB8B-83FC-8E53-3B03-78D99B8604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9361" y="1657568"/>
            <a:ext cx="4297363" cy="3489903"/>
          </a:xfrm>
          <a:prstGeom prst="rect">
            <a:avLst/>
          </a:prstGeom>
        </p:spPr>
      </p:pic>
      <p:pic>
        <p:nvPicPr>
          <p:cNvPr id="1028" name="Picture 4" descr="profile image">
            <a:extLst>
              <a:ext uri="{FF2B5EF4-FFF2-40B4-BE49-F238E27FC236}">
                <a16:creationId xmlns:a16="http://schemas.microsoft.com/office/drawing/2014/main" id="{938A2ED0-8DA9-27A5-8E2D-BC2D9C4A1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08" y="927115"/>
            <a:ext cx="2475405" cy="247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49E5341-0291-957E-09FF-DA8D5DA88D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1086" y="3080123"/>
            <a:ext cx="1142134" cy="17091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2F932C1-1365-4788-3A8B-DFA9E4DF5951}"/>
              </a:ext>
            </a:extLst>
          </p:cNvPr>
          <p:cNvSpPr txBox="1"/>
          <p:nvPr/>
        </p:nvSpPr>
        <p:spPr>
          <a:xfrm>
            <a:off x="4072829" y="236746"/>
            <a:ext cx="40749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Long career in corporate:</a:t>
            </a:r>
          </a:p>
          <a:p>
            <a:endParaRPr lang="en-US" sz="1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Principal Dev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Manager/Senior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Director</a:t>
            </a:r>
          </a:p>
          <a:p>
            <a:endParaRPr lang="en-US" sz="1400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8D4627-8D0D-2EE3-DECD-28C082557C06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171717"/>
              </a:clrFrom>
              <a:clrTo>
                <a:srgbClr val="17171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66500" y="5036696"/>
            <a:ext cx="3959435" cy="6082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889065-7A82-C736-9E01-630D9E00F21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47550" y="2561056"/>
            <a:ext cx="1484588" cy="1484588"/>
          </a:xfrm>
          <a:prstGeom prst="rect">
            <a:avLst/>
          </a:prstGeom>
        </p:spPr>
      </p:pic>
      <p:pic>
        <p:nvPicPr>
          <p:cNvPr id="1026" name="Picture 2" descr="Devices and Solutions at CES ...">
            <a:extLst>
              <a:ext uri="{FF2B5EF4-FFF2-40B4-BE49-F238E27FC236}">
                <a16:creationId xmlns:a16="http://schemas.microsoft.com/office/drawing/2014/main" id="{83163FFA-5EAE-6110-1CBA-F5AE80A6E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072" y="5966299"/>
            <a:ext cx="1103826" cy="55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andwidth Announces Integration with ...">
            <a:extLst>
              <a:ext uri="{FF2B5EF4-FFF2-40B4-BE49-F238E27FC236}">
                <a16:creationId xmlns:a16="http://schemas.microsoft.com/office/drawing/2014/main" id="{3550BE15-6BE4-3B18-FBEF-FC5C36638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361" y="6118194"/>
            <a:ext cx="1145769" cy="24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9C2264-01D0-F542-B68A-2921CA6C44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44073" y="165991"/>
            <a:ext cx="1678547" cy="16785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D9CF9D-8FD6-2E2E-FB98-0F1920C3DB5B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47772" y="5500739"/>
            <a:ext cx="1240963" cy="522919"/>
          </a:xfrm>
          <a:prstGeom prst="rect">
            <a:avLst/>
          </a:prstGeom>
        </p:spPr>
      </p:pic>
      <p:pic>
        <p:nvPicPr>
          <p:cNvPr id="1030" name="Picture 6" descr="&lt;div class=&quot;ctd-news-title&quot;&gt;NC IDEA spotlights partnership with Code the Dream&lt;/div&gt;">
            <a:extLst>
              <a:ext uri="{FF2B5EF4-FFF2-40B4-BE49-F238E27FC236}">
                <a16:creationId xmlns:a16="http://schemas.microsoft.com/office/drawing/2014/main" id="{7A16581D-3E96-62DC-8040-7E2CB4AD0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503" y="5826553"/>
            <a:ext cx="605151" cy="72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UT Southwestern biochemist, molecular ...">
            <a:extLst>
              <a:ext uri="{FF2B5EF4-FFF2-40B4-BE49-F238E27FC236}">
                <a16:creationId xmlns:a16="http://schemas.microsoft.com/office/drawing/2014/main" id="{A79D8D05-037E-AC75-D2C7-8BAC707DF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859" y="5594789"/>
            <a:ext cx="2119631" cy="34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421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Pipeline Is Still Dumb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609600" y="1341120"/>
            <a:ext cx="10972800" cy="426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609600" y="1341120"/>
            <a:ext cx="97536" cy="42672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975360" y="15849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Today's CI/CD pipelines:</a:t>
            </a:r>
            <a:endParaRPr lang="en-US" sz="2133" dirty="0"/>
          </a:p>
          <a:p>
            <a:endParaRPr lang="en-US" sz="2133" dirty="0"/>
          </a:p>
          <a:p>
            <a:r>
              <a:rPr lang="en-US" sz="1867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→ Test → Pass/Fail → Deploy or Don't</a:t>
            </a:r>
            <a:endParaRPr lang="en-US" sz="2133" dirty="0"/>
          </a:p>
          <a:p>
            <a:endParaRPr lang="en-US" sz="2133" dirty="0"/>
          </a:p>
          <a:p>
            <a:r>
              <a:rPr lang="en-US" sz="2000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Binary. No reasoning. No learning. No memory.</a:t>
            </a:r>
            <a:endParaRPr lang="en-US" sz="2133" dirty="0"/>
          </a:p>
          <a:p>
            <a:endParaRPr lang="en-US" sz="2133" dirty="0"/>
          </a:p>
          <a:p>
            <a:r>
              <a:rPr lang="en-US" sz="18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Meanwhile, developers are using AI for code gen, testing, docs — but the pipeline itself hasn't learned a thing.</a:t>
            </a:r>
            <a:endParaRPr lang="en-US" sz="2133" dirty="0"/>
          </a:p>
          <a:p>
            <a:endParaRPr lang="en-US" sz="2133" dirty="0"/>
          </a:p>
          <a:p>
            <a:r>
              <a:rPr lang="en-US" sz="1867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CI/CD pipeline is the natural home for AI — it already touches every stage of delivery.</a:t>
            </a:r>
            <a:endParaRPr lang="en-US" sz="2133" dirty="0"/>
          </a:p>
        </p:txBody>
      </p:sp>
      <p:sp>
        <p:nvSpPr>
          <p:cNvPr id="6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29808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CI/CD to CI/CD + CAI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609600" y="1341120"/>
            <a:ext cx="51206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609600" y="1341120"/>
            <a:ext cx="97536" cy="36576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975360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CI/CD Today</a:t>
            </a:r>
            <a:endParaRPr lang="en-US" sz="2133" dirty="0"/>
          </a:p>
        </p:txBody>
      </p:sp>
      <p:sp>
        <p:nvSpPr>
          <p:cNvPr id="6" name="Text 4"/>
          <p:cNvSpPr/>
          <p:nvPr/>
        </p:nvSpPr>
        <p:spPr>
          <a:xfrm>
            <a:off x="975360" y="2011680"/>
            <a:ext cx="4389120" cy="2682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→ Test → Deploy</a:t>
            </a:r>
            <a:endParaRPr lang="en-US" sz="1733" dirty="0"/>
          </a:p>
          <a:p>
            <a:endParaRPr lang="en-US" sz="1733" dirty="0"/>
          </a:p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but unintelligent</a:t>
            </a:r>
            <a:endParaRPr lang="en-US" sz="1733" dirty="0"/>
          </a:p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pipeline for every change</a:t>
            </a:r>
            <a:endParaRPr lang="en-US" sz="1733" dirty="0"/>
          </a:p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reasoning, no adaptation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6461760" y="1341120"/>
            <a:ext cx="51206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6461760" y="1341120"/>
            <a:ext cx="97536" cy="36576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827520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CI/CD + CAI</a:t>
            </a:r>
            <a:endParaRPr lang="en-US" sz="2133" dirty="0"/>
          </a:p>
        </p:txBody>
      </p:sp>
      <p:sp>
        <p:nvSpPr>
          <p:cNvPr id="10" name="Text 8"/>
          <p:cNvSpPr/>
          <p:nvPr/>
        </p:nvSpPr>
        <p:spPr>
          <a:xfrm>
            <a:off x="6827520" y="2011680"/>
            <a:ext cx="4389120" cy="2682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→ AI Analysis → Test → AI Triage → Deploy → AI Monitor</a:t>
            </a:r>
            <a:endParaRPr lang="en-US" sz="1467" dirty="0"/>
          </a:p>
          <a:p>
            <a:endParaRPr lang="en-US" sz="1467" dirty="0"/>
          </a:p>
          <a:p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Adds a reasoning layer</a:t>
            </a:r>
            <a:endParaRPr lang="en-US" sz="1467" dirty="0"/>
          </a:p>
          <a:p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Adapts to each change</a:t>
            </a:r>
            <a:endParaRPr lang="en-US" sz="1467" dirty="0"/>
          </a:p>
          <a:p>
            <a:r>
              <a:rPr lang="en-US" sz="1733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Captures signal from every run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09600" y="536448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coding assistants boost output 21%, but organizational delivery gains require pipeline intelligence.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" y="627888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DORA State of AI-Assisted Software Development, 2025</a:t>
            </a:r>
            <a:endParaRPr lang="en-US" sz="1333" dirty="0"/>
          </a:p>
        </p:txBody>
      </p:sp>
      <p:sp>
        <p:nvSpPr>
          <p:cNvPr id="13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7924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Early Adopters Are Reporting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609600" y="1463040"/>
            <a:ext cx="2560320" cy="3413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706880"/>
            <a:ext cx="256032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 to 80%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804160"/>
            <a:ext cx="231648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cycle time reduction (reported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specific contexts)*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1463040"/>
            <a:ext cx="2560320" cy="3413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3474720" y="1706880"/>
            <a:ext cx="256032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21%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596640" y="2804160"/>
            <a:ext cx="231648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tasks completed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AI coding assistants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39840" y="1463040"/>
            <a:ext cx="2560320" cy="3413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339840" y="1706880"/>
            <a:ext cx="256032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25-40%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461760" y="2804160"/>
            <a:ext cx="231648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MTTR reduction with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AIOps (enterprise case studies)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04960" y="1463040"/>
            <a:ext cx="2560320" cy="3413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9204960" y="1706880"/>
            <a:ext cx="256032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98%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9326880" y="2804160"/>
            <a:ext cx="231648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PRs merged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AI assistants (DORA)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627888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Reported results from reviewed literature and case studies — directional examples, not universal benchmarks | Sources: DORA 2025, MDPI 2025, Enterprise AIOps</a:t>
            </a:r>
            <a:endParaRPr lang="en-US" sz="1333" dirty="0"/>
          </a:p>
        </p:txBody>
      </p:sp>
      <p:sp>
        <p:nvSpPr>
          <p:cNvPr id="16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84940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Is Continuous AI?</a:t>
            </a:r>
            <a:endParaRPr lang="en-US" sz="4533" dirty="0"/>
          </a:p>
          <a:p>
            <a:r>
              <a:rPr lang="en-US" sz="1867" i="1" dirty="0">
                <a:solidFill>
                  <a:srgbClr val="999999"/>
                </a:solidFill>
                <a:latin typeface="Poppins" pitchFamily="34" charset="0"/>
              </a:rPr>
              <a:t>A practical framing for AI-augmented delivery systems</a:t>
            </a:r>
          </a:p>
        </p:txBody>
      </p:sp>
      <p:sp>
        <p:nvSpPr>
          <p:cNvPr id="3" name="Shape 1"/>
          <p:cNvSpPr/>
          <p:nvPr/>
        </p:nvSpPr>
        <p:spPr>
          <a:xfrm>
            <a:off x="609600" y="1402080"/>
            <a:ext cx="10972800" cy="1584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609600" y="1402080"/>
            <a:ext cx="97536" cy="158496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1036320" y="146304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i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Continuous AI is the use of AI inside software delivery workflows to continuously analyze changes, adapt validation, improve triage, and learn from outcomes across repeated pipeline runs.</a:t>
            </a:r>
            <a:endParaRPr lang="en-US" sz="2133" dirty="0"/>
          </a:p>
          <a:p>
            <a:r>
              <a:rPr lang="en-US" sz="1467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working pattern name for this talk, not a formal industry standard.</a:t>
            </a:r>
            <a:endParaRPr lang="en-US" sz="1467" dirty="0"/>
          </a:p>
        </p:txBody>
      </p:sp>
      <p:sp>
        <p:nvSpPr>
          <p:cNvPr id="6" name="Shape 4"/>
          <p:cNvSpPr/>
          <p:nvPr/>
        </p:nvSpPr>
        <p:spPr>
          <a:xfrm>
            <a:off x="609600" y="3352800"/>
            <a:ext cx="34747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09600" y="3352800"/>
            <a:ext cx="3474720" cy="73152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4084320" y="4267200"/>
            <a:ext cx="30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53440" y="3596640"/>
            <a:ext cx="2987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 pipeline</a:t>
            </a:r>
            <a:endParaRPr lang="en-US" sz="2133" dirty="0"/>
          </a:p>
        </p:txBody>
      </p:sp>
      <p:sp>
        <p:nvSpPr>
          <p:cNvPr id="10" name="Text 8"/>
          <p:cNvSpPr/>
          <p:nvPr/>
        </p:nvSpPr>
        <p:spPr>
          <a:xfrm>
            <a:off x="853440" y="4267200"/>
            <a:ext cx="298704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One-shot: add a ChatGPT call to one step</a:t>
            </a:r>
            <a:endParaRPr lang="en-US" sz="1867" dirty="0"/>
          </a:p>
        </p:txBody>
      </p:sp>
      <p:sp>
        <p:nvSpPr>
          <p:cNvPr id="11" name="Shape 9"/>
          <p:cNvSpPr/>
          <p:nvPr/>
        </p:nvSpPr>
        <p:spPr>
          <a:xfrm>
            <a:off x="4389120" y="3352800"/>
            <a:ext cx="34747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4389120" y="3352800"/>
            <a:ext cx="3474720" cy="73152"/>
          </a:xfrm>
          <a:prstGeom prst="rect">
            <a:avLst/>
          </a:prstGeom>
          <a:solidFill>
            <a:srgbClr val="D4EFD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7863840" y="4267200"/>
            <a:ext cx="30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32960" y="3596640"/>
            <a:ext cx="2987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AI-assisted CI/CD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4632960" y="4267200"/>
            <a:ext cx="298704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Multi-step: AI helps at build, test, deploy stages</a:t>
            </a:r>
            <a:endParaRPr lang="en-US" sz="1867" dirty="0"/>
          </a:p>
        </p:txBody>
      </p:sp>
      <p:sp>
        <p:nvSpPr>
          <p:cNvPr id="16" name="Shape 14"/>
          <p:cNvSpPr/>
          <p:nvPr/>
        </p:nvSpPr>
        <p:spPr>
          <a:xfrm>
            <a:off x="8168640" y="3352800"/>
            <a:ext cx="34747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8168640" y="3352800"/>
            <a:ext cx="347472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8412480" y="3596640"/>
            <a:ext cx="2987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Continuous AI (CAI)</a:t>
            </a:r>
            <a:endParaRPr lang="en-US" sz="2133" dirty="0"/>
          </a:p>
        </p:txBody>
      </p:sp>
      <p:sp>
        <p:nvSpPr>
          <p:cNvPr id="19" name="Text 17"/>
          <p:cNvSpPr/>
          <p:nvPr/>
        </p:nvSpPr>
        <p:spPr>
          <a:xfrm>
            <a:off x="8412480" y="4267200"/>
            <a:ext cx="298704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Feedback system: every run makes the pipeline smarter</a:t>
            </a:r>
            <a:endParaRPr lang="en-US" sz="1867" dirty="0"/>
          </a:p>
        </p:txBody>
      </p:sp>
      <p:sp>
        <p:nvSpPr>
          <p:cNvPr id="20" name="Text 18"/>
          <p:cNvSpPr/>
          <p:nvPr/>
        </p:nvSpPr>
        <p:spPr>
          <a:xfrm>
            <a:off x="609600" y="627888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CAI learning types: inference-only (analysis) → retrieval-updated (RAG enrichment) → policy-refined (threshold calibration from outcomes)</a:t>
            </a:r>
            <a:endParaRPr lang="en-US" sz="1600" dirty="0"/>
          </a:p>
        </p:txBody>
      </p:sp>
      <p:sp>
        <p:nvSpPr>
          <p:cNvPr id="21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31722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Where AI Fits in the Pipeline</a:t>
            </a:r>
            <a:endParaRPr lang="en-US" sz="4533" dirty="0"/>
          </a:p>
        </p:txBody>
      </p:sp>
      <p:pic>
        <p:nvPicPr>
          <p:cNvPr id="3" name="Image 0" descr="/sessions/intelligent-gifted-keller/deck3/images/diagram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19200"/>
            <a:ext cx="1072896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475488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Seven integration points — each one is an opportunity to add intelligence.</a:t>
            </a:r>
            <a:endParaRPr lang="en-US" sz="1867" dirty="0"/>
          </a:p>
        </p:txBody>
      </p:sp>
      <p:sp>
        <p:nvSpPr>
          <p:cNvPr id="5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54744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Seven AI Integration Points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609600" y="1341120"/>
            <a:ext cx="548640" cy="54864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/sessions/intelligent-gifted-keller/deck3/images/icon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96" y="14234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1120" y="1341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Code</a:t>
            </a:r>
            <a:endParaRPr lang="en-US" sz="1867" dirty="0"/>
          </a:p>
        </p:txBody>
      </p:sp>
      <p:sp>
        <p:nvSpPr>
          <p:cNvPr id="6" name="Text 3"/>
          <p:cNvSpPr/>
          <p:nvPr/>
        </p:nvSpPr>
        <p:spPr>
          <a:xfrm>
            <a:off x="2804160" y="134112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code review, style checks, vulnerability detection</a:t>
            </a:r>
            <a:endParaRPr lang="en-US" sz="1733" dirty="0"/>
          </a:p>
        </p:txBody>
      </p:sp>
      <p:sp>
        <p:nvSpPr>
          <p:cNvPr id="7" name="Shape 4"/>
          <p:cNvSpPr/>
          <p:nvPr/>
        </p:nvSpPr>
        <p:spPr>
          <a:xfrm>
            <a:off x="609600" y="2072640"/>
            <a:ext cx="548640" cy="54864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8" name="Image 1" descr="/sessions/intelligent-gifted-keller/deck3/images/icon-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96" y="215493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41120" y="2072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</a:t>
            </a:r>
            <a:endParaRPr lang="en-US" sz="1867" dirty="0"/>
          </a:p>
        </p:txBody>
      </p:sp>
      <p:sp>
        <p:nvSpPr>
          <p:cNvPr id="10" name="Text 6"/>
          <p:cNvSpPr/>
          <p:nvPr/>
        </p:nvSpPr>
        <p:spPr>
          <a:xfrm>
            <a:off x="2804160" y="207264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dependency analysis, compatibility prediction</a:t>
            </a:r>
            <a:endParaRPr lang="en-US" sz="1733" dirty="0"/>
          </a:p>
        </p:txBody>
      </p:sp>
      <p:sp>
        <p:nvSpPr>
          <p:cNvPr id="11" name="Shape 7"/>
          <p:cNvSpPr/>
          <p:nvPr/>
        </p:nvSpPr>
        <p:spPr>
          <a:xfrm>
            <a:off x="609600" y="2804160"/>
            <a:ext cx="548640" cy="54864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2" name="Image 2" descr="/sessions/intelligent-gifted-keller/deck3/images/icon-t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96" y="288645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41120" y="2804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</a:t>
            </a:r>
            <a:endParaRPr lang="en-US" sz="1867" dirty="0"/>
          </a:p>
        </p:txBody>
      </p:sp>
      <p:sp>
        <p:nvSpPr>
          <p:cNvPr id="14" name="Text 9"/>
          <p:cNvSpPr/>
          <p:nvPr/>
        </p:nvSpPr>
        <p:spPr>
          <a:xfrm>
            <a:off x="2804160" y="28041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test synthesis, intelligent selection, self-healing</a:t>
            </a:r>
            <a:endParaRPr lang="en-US" sz="1733" dirty="0"/>
          </a:p>
        </p:txBody>
      </p:sp>
      <p:sp>
        <p:nvSpPr>
          <p:cNvPr id="15" name="Shape 10"/>
          <p:cNvSpPr/>
          <p:nvPr/>
        </p:nvSpPr>
        <p:spPr>
          <a:xfrm>
            <a:off x="609600" y="3535680"/>
            <a:ext cx="548640" cy="54864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6" name="Image 3" descr="/sessions/intelligent-gifted-keller/deck3/images/icon-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896" y="361797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41120" y="3535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</a:t>
            </a:r>
            <a:endParaRPr lang="en-US" sz="1867" dirty="0"/>
          </a:p>
        </p:txBody>
      </p:sp>
      <p:sp>
        <p:nvSpPr>
          <p:cNvPr id="18" name="Text 12"/>
          <p:cNvSpPr/>
          <p:nvPr/>
        </p:nvSpPr>
        <p:spPr>
          <a:xfrm>
            <a:off x="2804160" y="353568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vulnerability triage, risk prioritization</a:t>
            </a:r>
            <a:endParaRPr lang="en-US" sz="1733" dirty="0"/>
          </a:p>
        </p:txBody>
      </p:sp>
      <p:sp>
        <p:nvSpPr>
          <p:cNvPr id="19" name="Shape 13"/>
          <p:cNvSpPr/>
          <p:nvPr/>
        </p:nvSpPr>
        <p:spPr>
          <a:xfrm>
            <a:off x="609600" y="4267200"/>
            <a:ext cx="548640" cy="54864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20" name="Image 4" descr="/sessions/intelligent-gifted-keller/deck3/images/icon-stag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896" y="4349496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41120" y="4267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Stage</a:t>
            </a:r>
            <a:endParaRPr lang="en-US" sz="1867" dirty="0"/>
          </a:p>
        </p:txBody>
      </p:sp>
      <p:sp>
        <p:nvSpPr>
          <p:cNvPr id="22" name="Text 15"/>
          <p:cNvSpPr/>
          <p:nvPr/>
        </p:nvSpPr>
        <p:spPr>
          <a:xfrm>
            <a:off x="2804160" y="42672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validation, log summarization, canary analysis</a:t>
            </a:r>
            <a:endParaRPr lang="en-US" sz="1733" dirty="0"/>
          </a:p>
        </p:txBody>
      </p:sp>
      <p:sp>
        <p:nvSpPr>
          <p:cNvPr id="23" name="Shape 16"/>
          <p:cNvSpPr/>
          <p:nvPr/>
        </p:nvSpPr>
        <p:spPr>
          <a:xfrm>
            <a:off x="609600" y="4998720"/>
            <a:ext cx="548640" cy="54864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24" name="Image 5" descr="/sessions/intelligent-gifted-keller/deck3/images/icon-deplo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896" y="5081016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41120" y="4998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Release</a:t>
            </a:r>
            <a:endParaRPr lang="en-US" sz="1867" dirty="0"/>
          </a:p>
        </p:txBody>
      </p:sp>
      <p:sp>
        <p:nvSpPr>
          <p:cNvPr id="26" name="Text 18"/>
          <p:cNvSpPr/>
          <p:nvPr/>
        </p:nvSpPr>
        <p:spPr>
          <a:xfrm>
            <a:off x="2804160" y="499872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release gates, risk-based deployment decisions</a:t>
            </a:r>
            <a:endParaRPr lang="en-US" sz="1733" dirty="0"/>
          </a:p>
        </p:txBody>
      </p:sp>
      <p:sp>
        <p:nvSpPr>
          <p:cNvPr id="27" name="Shape 19"/>
          <p:cNvSpPr/>
          <p:nvPr/>
        </p:nvSpPr>
        <p:spPr>
          <a:xfrm>
            <a:off x="609600" y="5730240"/>
            <a:ext cx="548640" cy="54864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28" name="Image 6" descr="/sessions/intelligent-gifted-keller/deck3/images/icon-moni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896" y="5812536"/>
            <a:ext cx="384048" cy="38404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41120" y="5730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Monitor</a:t>
            </a:r>
            <a:endParaRPr lang="en-US" sz="1867" dirty="0"/>
          </a:p>
        </p:txBody>
      </p:sp>
      <p:sp>
        <p:nvSpPr>
          <p:cNvPr id="30" name="Text 21"/>
          <p:cNvSpPr/>
          <p:nvPr/>
        </p:nvSpPr>
        <p:spPr>
          <a:xfrm>
            <a:off x="2804160" y="573024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anomaly detection, auto-remediation, feedback</a:t>
            </a:r>
            <a:endParaRPr lang="en-US" sz="1733" dirty="0"/>
          </a:p>
        </p:txBody>
      </p:sp>
      <p:sp>
        <p:nvSpPr>
          <p:cNvPr id="31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24719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5619750" y="2709862"/>
            <a:ext cx="952500" cy="47625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/>
          </a:p>
        </p:txBody>
      </p:sp>
      <p:sp>
        <p:nvSpPr>
          <p:cNvPr id="11" name="Divider Title"/>
          <p:cNvSpPr txBox="1"/>
          <p:nvPr/>
        </p:nvSpPr>
        <p:spPr>
          <a:xfrm>
            <a:off x="907627" y="3125613"/>
            <a:ext cx="1037674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500" b="1" dirty="0">
                <a:solidFill>
                  <a:srgbClr val="003366"/>
                </a:solidFill>
                <a:latin typeface="Poppins"/>
                <a:cs typeface="Poppins"/>
                <a:sym typeface="Poppins"/>
              </a:rPr>
              <a:t>Six Patterns for Continuous AI Practical ways to embed AI into your build and deployment workflows</a:t>
            </a:r>
            <a:endParaRPr dirty="0"/>
          </a:p>
        </p:txBody>
      </p:sp>
      <p:sp>
        <p:nvSpPr>
          <p:cNvPr id="12" name="Overlay"/>
          <p:cNvSpPr/>
          <p:nvPr/>
        </p:nvSpPr>
        <p:spPr>
          <a:xfrm>
            <a:off x="0" y="42861"/>
            <a:ext cx="12192000" cy="6858000"/>
          </a:xfrm>
          <a:prstGeom prst="rect">
            <a:avLst/>
          </a:prstGeom>
          <a:solidFill>
            <a:srgbClr val="EBE3D0">
              <a:alpha val="1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Pattern 1: AI-Assisted Test Synthesis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10972800" y="341376"/>
            <a:ext cx="609600" cy="60960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/sessions/intelligent-gifted-keller/deck3/images/icon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32816"/>
            <a:ext cx="426720" cy="426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1582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 AI write the tests you're not writing.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09600" y="1706880"/>
            <a:ext cx="1097280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8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Traditional: developers write tests manually → coverage gaps everywhere</a:t>
            </a:r>
            <a:endParaRPr lang="en-US" sz="1867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8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test synthesis: analyze code changes, generate targeted tests</a:t>
            </a:r>
            <a:endParaRPr lang="en-US" sz="1867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8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intelligence: only run tests impacted by the change → </a:t>
            </a:r>
            <a:r>
              <a:rPr lang="en-US" sz="1867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 to 80% cycle time reduction*</a:t>
            </a:r>
            <a:endParaRPr lang="en-US" sz="1867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8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Self-healing tests: detect UI/env changes, auto-repair broken scripts → </a:t>
            </a:r>
            <a:r>
              <a:rPr lang="en-US" sz="1867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significant maintenance reduction*</a:t>
            </a:r>
            <a:endParaRPr lang="en-US" sz="1867" dirty="0"/>
          </a:p>
        </p:txBody>
      </p:sp>
      <p:sp>
        <p:nvSpPr>
          <p:cNvPr id="7" name="Text 4"/>
          <p:cNvSpPr/>
          <p:nvPr/>
        </p:nvSpPr>
        <p:spPr>
          <a:xfrm>
            <a:off x="609600" y="627888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Reported in specific contexts — directional, not universal | Source: MDPI CI/CD Optimization Study, 2025</a:t>
            </a:r>
            <a:endParaRPr lang="en-US" sz="1333" dirty="0"/>
          </a:p>
        </p:txBody>
      </p:sp>
      <p:sp>
        <p:nvSpPr>
          <p:cNvPr id="8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14509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Test Synthesis in GitHub Actions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6705600" cy="512064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92480" y="1341120"/>
            <a:ext cx="6339840" cy="487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AI Test Synthesis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[pull_request]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ai-tests: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Get changed files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id: diff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|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git diff --name-only origin/main &gt; changed.txt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AI generates tests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|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cat changed.txt | ai-test-gen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--model claude-sonnet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--context ./src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--output ./tests/generated/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Run all tests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pytest tests/ --tb=short</a:t>
            </a:r>
            <a:endParaRPr lang="en-US" sz="1333" dirty="0"/>
          </a:p>
        </p:txBody>
      </p:sp>
      <p:sp>
        <p:nvSpPr>
          <p:cNvPr id="5" name="Shape 3"/>
          <p:cNvSpPr/>
          <p:nvPr/>
        </p:nvSpPr>
        <p:spPr>
          <a:xfrm>
            <a:off x="7680960" y="1219200"/>
            <a:ext cx="402336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7680960" y="1219200"/>
            <a:ext cx="97536" cy="51206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7924800" y="1341120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How it works: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7924800" y="1828800"/>
            <a:ext cx="353568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67"/>
              </a:spcAft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PR triggers workflow</a:t>
            </a:r>
            <a:endParaRPr lang="en-US" sz="1600" dirty="0"/>
          </a:p>
          <a:p>
            <a:pPr>
              <a:spcAft>
                <a:spcPts val="267"/>
              </a:spcAft>
            </a:pPr>
            <a:endParaRPr lang="en-US" sz="1600" dirty="0"/>
          </a:p>
          <a:p>
            <a:pPr>
              <a:spcAft>
                <a:spcPts val="267"/>
              </a:spcAft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Diff identifies changed files</a:t>
            </a:r>
            <a:endParaRPr lang="en-US" sz="1600" dirty="0"/>
          </a:p>
          <a:p>
            <a:pPr>
              <a:spcAft>
                <a:spcPts val="267"/>
              </a:spcAft>
            </a:pPr>
            <a:endParaRPr lang="en-US" sz="1600" dirty="0"/>
          </a:p>
          <a:p>
            <a:pPr>
              <a:spcAft>
                <a:spcPts val="267"/>
              </a:spcAft>
            </a:pPr>
            <a:r>
              <a:rPr lang="en-US" sz="16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AI analyzes changes + codebase context</a:t>
            </a:r>
            <a:endParaRPr lang="en-US" sz="1600" dirty="0"/>
          </a:p>
          <a:p>
            <a:pPr>
              <a:spcAft>
                <a:spcPts val="267"/>
              </a:spcAft>
            </a:pPr>
            <a:endParaRPr lang="en-US" sz="1600" dirty="0"/>
          </a:p>
          <a:p>
            <a:pPr>
              <a:spcAft>
                <a:spcPts val="267"/>
              </a:spcAft>
            </a:pPr>
            <a:r>
              <a:rPr lang="en-US" sz="16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Generates targeted test cases for new/modified code</a:t>
            </a:r>
            <a:endParaRPr lang="en-US" sz="1600" dirty="0"/>
          </a:p>
          <a:p>
            <a:pPr>
              <a:spcAft>
                <a:spcPts val="267"/>
              </a:spcAft>
            </a:pPr>
            <a:endParaRPr lang="en-US" sz="1600" dirty="0"/>
          </a:p>
          <a:p>
            <a:pPr>
              <a:spcAft>
                <a:spcPts val="267"/>
              </a:spcAft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Runs full suite including generated tests</a:t>
            </a:r>
            <a:endParaRPr lang="en-US" sz="1600" dirty="0"/>
          </a:p>
        </p:txBody>
      </p:sp>
      <p:sp>
        <p:nvSpPr>
          <p:cNvPr id="99" name="PatternLabel"/>
          <p:cNvSpPr/>
          <p:nvPr/>
        </p:nvSpPr>
        <p:spPr>
          <a:xfrm>
            <a:off x="609600" y="6400800"/>
            <a:ext cx="426720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200" i="1" dirty="0">
                <a:solidFill>
                  <a:srgbClr val="999999"/>
                </a:solidFill>
                <a:latin typeface="Poppins" pitchFamily="34" charset="0"/>
              </a:rPr>
              <a:t>Pattern sketch — not production hardening</a:t>
            </a:r>
          </a:p>
        </p:txBody>
      </p:sp>
      <p:sp>
        <p:nvSpPr>
          <p:cNvPr id="100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905176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Testing Tools Landscape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609600" y="1463040"/>
            <a:ext cx="2560320" cy="3048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1706880"/>
            <a:ext cx="23164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Mabl</a:t>
            </a:r>
            <a:endParaRPr lang="en-US" sz="2133" dirty="0"/>
          </a:p>
        </p:txBody>
      </p:sp>
      <p:sp>
        <p:nvSpPr>
          <p:cNvPr id="5" name="Text 3"/>
          <p:cNvSpPr/>
          <p:nvPr/>
        </p:nvSpPr>
        <p:spPr>
          <a:xfrm>
            <a:off x="731520" y="2316480"/>
            <a:ext cx="231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AI-generated UI tests, auto-healing, CI/CD native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1463040"/>
            <a:ext cx="2560320" cy="3048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3596640" y="1706880"/>
            <a:ext cx="23164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Qodo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3596640" y="2316480"/>
            <a:ext cx="231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test generation from code analysis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39840" y="1463040"/>
            <a:ext cx="2560320" cy="3048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461760" y="1706880"/>
            <a:ext cx="23164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DiffBlue Cover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6461760" y="2316480"/>
            <a:ext cx="231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Java unit test generation at scale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04960" y="1463040"/>
            <a:ext cx="2560320" cy="3048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9326880" y="1706880"/>
            <a:ext cx="23164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BrowserStack</a:t>
            </a:r>
            <a:endParaRPr lang="en-US" sz="2133" dirty="0"/>
          </a:p>
        </p:txBody>
      </p:sp>
      <p:sp>
        <p:nvSpPr>
          <p:cNvPr id="14" name="Text 12"/>
          <p:cNvSpPr/>
          <p:nvPr/>
        </p:nvSpPr>
        <p:spPr>
          <a:xfrm>
            <a:off x="9326880" y="2316480"/>
            <a:ext cx="231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observability + auto root-cause analysis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487680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GitHub Copilot, Cursor, Claude Code for AI-assisted test writing in your IDE</a:t>
            </a:r>
            <a:endParaRPr lang="en-US" sz="1733" dirty="0"/>
          </a:p>
        </p:txBody>
      </p:sp>
      <p:sp>
        <p:nvSpPr>
          <p:cNvPr id="16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7831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Pattern 2: Intelligent Failure Classification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10972800" y="341376"/>
            <a:ext cx="609600" cy="6096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/sessions/intelligent-gifted-keller/deck3/images/icon-b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32816"/>
            <a:ext cx="426720" cy="426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1582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 manually triaging build failures.</a:t>
            </a:r>
            <a:endParaRPr lang="en-US" sz="2000" dirty="0"/>
          </a:p>
        </p:txBody>
      </p:sp>
      <p:pic>
        <p:nvPicPr>
          <p:cNvPr id="6" name="Image 1" descr="/sessions/intelligent-gifted-keller/deck3/images/diagram-failure-taxon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06880"/>
            <a:ext cx="6096000" cy="3901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27520" y="1706880"/>
            <a:ext cx="4876800" cy="3901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4"/>
          <p:cNvSpPr/>
          <p:nvPr/>
        </p:nvSpPr>
        <p:spPr>
          <a:xfrm>
            <a:off x="6827520" y="1706880"/>
            <a:ext cx="97536" cy="39014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5"/>
          <p:cNvSpPr/>
          <p:nvPr/>
        </p:nvSpPr>
        <p:spPr>
          <a:xfrm>
            <a:off x="707136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classifies every failure:</a:t>
            </a:r>
            <a:endParaRPr lang="en-US" sz="1867" dirty="0"/>
          </a:p>
        </p:txBody>
      </p:sp>
      <p:sp>
        <p:nvSpPr>
          <p:cNvPr id="10" name="Text 6"/>
          <p:cNvSpPr/>
          <p:nvPr/>
        </p:nvSpPr>
        <p:spPr>
          <a:xfrm>
            <a:off x="7071360" y="2316480"/>
            <a:ext cx="438912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Type: env, flaky, real bug, deps, config</a:t>
            </a:r>
            <a:endParaRPr lang="en-US" sz="16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Severity: P0-P4 auto-assignment</a:t>
            </a:r>
            <a:endParaRPr lang="en-US" sz="16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Root cause: grouped + linked</a:t>
            </a:r>
            <a:endParaRPr lang="en-US" sz="1600" dirty="0"/>
          </a:p>
          <a:p>
            <a:pPr>
              <a:spcAft>
                <a:spcPts val="400"/>
              </a:spcAft>
            </a:pPr>
            <a:endParaRPr lang="en-US" sz="1600" dirty="0"/>
          </a:p>
          <a:p>
            <a:pPr>
              <a:spcAft>
                <a:spcPts val="400"/>
              </a:spcAft>
            </a:pPr>
            <a:r>
              <a:rPr lang="en-US" sz="1867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MTTR: 30-50% faster</a:t>
            </a:r>
            <a:endParaRPr lang="en-US" sz="1600" dirty="0"/>
          </a:p>
          <a:p>
            <a:pPr>
              <a:spcAft>
                <a:spcPts val="400"/>
              </a:spcAft>
            </a:pPr>
            <a:endParaRPr lang="en-US" sz="1600" dirty="0"/>
          </a:p>
          <a:p>
            <a:pPr>
              <a:spcAft>
                <a:spcPts val="400"/>
              </a:spcAft>
            </a:pPr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LogSage (2025): LLM-based framework for CI/CD failure detection + remediation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09600" y="627888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Case-study ranges — results vary by context | Sources: DevOps.com, 2025 | arXiv (LogSage), 2025</a:t>
            </a:r>
            <a:endParaRPr lang="en-US" sz="1333" dirty="0"/>
          </a:p>
        </p:txBody>
      </p:sp>
      <p:sp>
        <p:nvSpPr>
          <p:cNvPr id="12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78209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Failure Triage: Before &amp; After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609600" y="1341120"/>
            <a:ext cx="5120640" cy="4511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609600" y="1341120"/>
            <a:ext cx="97536" cy="45110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975360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 (Manual)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5360" y="2011680"/>
            <a:ext cx="4389120" cy="3413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33"/>
              </a:spcAft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Build fails</a:t>
            </a:r>
            <a:endParaRPr lang="en-US" sz="1600" dirty="0"/>
          </a:p>
          <a:p>
            <a:pPr>
              <a:spcAft>
                <a:spcPts val="533"/>
              </a:spcAft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Dev reads 10,000-line log</a:t>
            </a:r>
            <a:endParaRPr lang="en-US" sz="1600" dirty="0"/>
          </a:p>
          <a:p>
            <a:pPr>
              <a:spcAft>
                <a:spcPts val="533"/>
              </a:spcAft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Googles error message</a:t>
            </a:r>
            <a:endParaRPr lang="en-US" sz="1600" dirty="0"/>
          </a:p>
          <a:p>
            <a:pPr>
              <a:spcAft>
                <a:spcPts val="533"/>
              </a:spcAft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Figures out: env issue</a:t>
            </a:r>
            <a:endParaRPr lang="en-US" sz="1600" dirty="0"/>
          </a:p>
          <a:p>
            <a:pPr>
              <a:spcAft>
                <a:spcPts val="533"/>
              </a:spcAft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Restarts pipeline manually</a:t>
            </a:r>
            <a:endParaRPr lang="en-US" sz="1600" dirty="0"/>
          </a:p>
          <a:p>
            <a:pPr>
              <a:spcAft>
                <a:spcPts val="533"/>
              </a:spcAft>
            </a:pPr>
            <a:endParaRPr lang="en-US" sz="1600" dirty="0"/>
          </a:p>
          <a:p>
            <a:pPr>
              <a:spcAft>
                <a:spcPts val="533"/>
              </a:spcAft>
            </a:pPr>
            <a:r>
              <a:rPr lang="en-US" sz="1733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Time: 30-60 minutes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61760" y="1341120"/>
            <a:ext cx="5120640" cy="4511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6461760" y="1341120"/>
            <a:ext cx="97536" cy="45110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827520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 (AI Triage)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27520" y="2011680"/>
            <a:ext cx="4389120" cy="3413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33"/>
              </a:spcAft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Build fails</a:t>
            </a:r>
            <a:endParaRPr lang="en-US" sz="1600" dirty="0"/>
          </a:p>
          <a:p>
            <a:pPr>
              <a:spcAft>
                <a:spcPts val="533"/>
              </a:spcAft>
            </a:pPr>
            <a:r>
              <a:rPr lang="en-US" sz="16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AI reads full log in seconds</a:t>
            </a:r>
            <a:endParaRPr lang="en-US" sz="1600" dirty="0"/>
          </a:p>
          <a:p>
            <a:pPr>
              <a:spcAft>
                <a:spcPts val="533"/>
              </a:spcAft>
            </a:pPr>
            <a:r>
              <a:rPr lang="en-US" sz="16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Classifies: "env issue — Docker image cache stale"</a:t>
            </a:r>
            <a:endParaRPr lang="en-US" sz="1600" dirty="0"/>
          </a:p>
          <a:p>
            <a:pPr>
              <a:spcAft>
                <a:spcPts val="533"/>
              </a:spcAft>
            </a:pPr>
            <a:r>
              <a:rPr lang="en-US" sz="16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Auto-restarts with cache clear</a:t>
            </a:r>
            <a:endParaRPr lang="en-US" sz="1600" dirty="0"/>
          </a:p>
          <a:p>
            <a:pPr>
              <a:spcAft>
                <a:spcPts val="533"/>
              </a:spcAft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Comments on PR with summary</a:t>
            </a:r>
            <a:endParaRPr lang="en-US" sz="1600" dirty="0"/>
          </a:p>
          <a:p>
            <a:pPr>
              <a:spcAft>
                <a:spcPts val="533"/>
              </a:spcAft>
            </a:pPr>
            <a:endParaRPr lang="en-US" sz="1600" dirty="0"/>
          </a:p>
          <a:p>
            <a:pPr>
              <a:spcAft>
                <a:spcPts val="533"/>
              </a:spcAft>
            </a:pPr>
            <a:r>
              <a:rPr lang="en-US" sz="1733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Time: 2-3 minutes</a:t>
            </a:r>
            <a:endParaRPr lang="en-US" sz="1600" dirty="0"/>
          </a:p>
        </p:txBody>
      </p:sp>
      <p:sp>
        <p:nvSpPr>
          <p:cNvPr id="11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652665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Failure Classification: Code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7315200" cy="512064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92480" y="1341120"/>
            <a:ext cx="6949440" cy="487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AI Failure Classification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if: failure()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|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Extract last 500 lines of log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tail -500 build.log &gt; failure.txt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AI classifies the failure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RESULT=$(curl -s https://api.anthropic.com/v1/messages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-H "x-api-key: ${{ secrets.CLAUDE_KEY }}"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-d '{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"model": "claude-sonnet-4-6",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"messages": [{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"role": "user",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"content": "Classify this CI failure.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Categories: env|flaky|bug|deps|config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Output JSON: {type, severity, summary,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suggested_action}\n'"$(cat failure.txt)"'"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}]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}')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Post to PR as comment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gh pr comment $PR --body "$RESULT"</a:t>
            </a:r>
            <a:endParaRPr lang="en-US" sz="1333" dirty="0"/>
          </a:p>
        </p:txBody>
      </p:sp>
      <p:sp>
        <p:nvSpPr>
          <p:cNvPr id="5" name="Shape 3"/>
          <p:cNvSpPr/>
          <p:nvPr/>
        </p:nvSpPr>
        <p:spPr>
          <a:xfrm>
            <a:off x="8290560" y="1219200"/>
            <a:ext cx="341376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8290560" y="1219200"/>
            <a:ext cx="97536" cy="51206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8534400" y="1341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points: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8534400" y="182880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4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Runs only on failure</a:t>
            </a:r>
            <a:endParaRPr lang="en-US" sz="14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4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Extracts relevant log tail</a:t>
            </a:r>
            <a:endParaRPr lang="en-US" sz="14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467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LLM classifies with structured JSON</a:t>
            </a:r>
            <a:endParaRPr lang="en-US" sz="14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4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Posts result as PR comment</a:t>
            </a:r>
            <a:endParaRPr lang="en-US" sz="14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4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Could also auto-retry for env issues</a:t>
            </a:r>
            <a:endParaRPr lang="en-US" sz="1467" dirty="0"/>
          </a:p>
        </p:txBody>
      </p:sp>
      <p:sp>
        <p:nvSpPr>
          <p:cNvPr id="99" name="PatternLabel"/>
          <p:cNvSpPr/>
          <p:nvPr/>
        </p:nvSpPr>
        <p:spPr>
          <a:xfrm>
            <a:off x="609600" y="6400800"/>
            <a:ext cx="426720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200" i="1" dirty="0">
                <a:solidFill>
                  <a:srgbClr val="999999"/>
                </a:solidFill>
                <a:latin typeface="Poppins" pitchFamily="34" charset="0"/>
              </a:rPr>
              <a:t>Pattern sketch — not production hardening</a:t>
            </a:r>
          </a:p>
        </p:txBody>
      </p:sp>
      <p:sp>
        <p:nvSpPr>
          <p:cNvPr id="100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90750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Pattern 3: Automated Log Summarization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10972800" y="341376"/>
            <a:ext cx="609600" cy="60960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/sessions/intelligent-gifted-keller/deck3/images/icon-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32816"/>
            <a:ext cx="426720" cy="426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1341120"/>
            <a:ext cx="51206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3"/>
          <p:cNvSpPr/>
          <p:nvPr/>
        </p:nvSpPr>
        <p:spPr>
          <a:xfrm>
            <a:off x="609600" y="1341120"/>
            <a:ext cx="97536" cy="36576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975360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75360" y="2011680"/>
            <a:ext cx="4511040" cy="219456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6"/>
          <p:cNvSpPr/>
          <p:nvPr/>
        </p:nvSpPr>
        <p:spPr>
          <a:xfrm>
            <a:off x="1158240" y="2133600"/>
            <a:ext cx="4145280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[2026-03-17 14:23:01] npm WARN</a:t>
            </a:r>
            <a:endParaRPr lang="en-US" sz="1200" dirty="0"/>
          </a:p>
          <a:p>
            <a:r>
              <a:rPr lang="en-US" sz="120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[2026-03-17 14:23:01] npm WARN</a:t>
            </a:r>
            <a:endParaRPr lang="en-US" sz="1200" dirty="0"/>
          </a:p>
          <a:p>
            <a:r>
              <a:rPr lang="en-US" sz="120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[...10,847 more lines...]</a:t>
            </a:r>
            <a:endParaRPr lang="en-US" sz="1200" dirty="0"/>
          </a:p>
          <a:p>
            <a:r>
              <a:rPr lang="en-US" sz="120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[2026-03-17 14:28:15] Error:</a:t>
            </a:r>
            <a:endParaRPr lang="en-US" sz="1200" dirty="0"/>
          </a:p>
          <a:p>
            <a:r>
              <a:rPr lang="en-US" sz="120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ENOMEM: not enough memory</a:t>
            </a:r>
            <a:endParaRPr lang="en-US" sz="1200" dirty="0"/>
          </a:p>
          <a:p>
            <a:r>
              <a:rPr lang="en-US" sz="120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[2026-03-17 14:28:15] Build failed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5360" y="4389120"/>
            <a:ext cx="451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spends 15-30 min reading logs</a:t>
            </a:r>
            <a:endParaRPr lang="en-US" sz="1467" dirty="0"/>
          </a:p>
        </p:txBody>
      </p:sp>
      <p:sp>
        <p:nvSpPr>
          <p:cNvPr id="11" name="Shape 8"/>
          <p:cNvSpPr/>
          <p:nvPr/>
        </p:nvSpPr>
        <p:spPr>
          <a:xfrm>
            <a:off x="6461760" y="1341120"/>
            <a:ext cx="51206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Shape 9"/>
          <p:cNvSpPr/>
          <p:nvPr/>
        </p:nvSpPr>
        <p:spPr>
          <a:xfrm>
            <a:off x="6461760" y="1341120"/>
            <a:ext cx="97536" cy="36576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6827520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 (AI Summary)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827520" y="2011680"/>
            <a:ext cx="4511040" cy="219456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7010400" y="2133600"/>
            <a:ext cx="4145280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failed: out of memory
</a:t>
            </a:r>
            <a:r>
              <a:rPr lang="en-US" sz="1333" b="1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cause: </a:t>
            </a:r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process exceeded
4GB limit during TypeScript
compilation of 847 files.
</a:t>
            </a:r>
            <a:r>
              <a:rPr lang="en-US" sz="1333" b="1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</a:t>
            </a:r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Increase runner memory or</a:t>
            </a:r>
            <a:endParaRPr lang="en-US" sz="1467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 compilation into chunks.</a:t>
            </a:r>
            <a:endParaRPr lang="en-US" sz="1467" dirty="0"/>
          </a:p>
        </p:txBody>
      </p:sp>
      <p:sp>
        <p:nvSpPr>
          <p:cNvPr id="16" name="Text 13"/>
          <p:cNvSpPr/>
          <p:nvPr/>
        </p:nvSpPr>
        <p:spPr>
          <a:xfrm>
            <a:off x="6827520" y="4389120"/>
            <a:ext cx="451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3-sentence summary in 5 seconds</a:t>
            </a:r>
            <a:endParaRPr lang="en-US" sz="1467" dirty="0"/>
          </a:p>
        </p:txBody>
      </p:sp>
      <p:sp>
        <p:nvSpPr>
          <p:cNvPr id="17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46082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 Summarization + Slack Notification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7315200" cy="48768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92480" y="1341120"/>
            <a:ext cx="6949440" cy="463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Summarize failure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if: failure()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|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SUMMARY=$(cat build.log | tail -200 |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claude --model sonnet -p "Summarize this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 failure in 3 sentences: root cause,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impact, suggested fix. Be specific.")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Post to Slack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 -X POST $SLACK_WEBHOOK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-d "{\"text\": \"🔴 Build #$RUN failed\n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$SUMMARY\"}"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Also comment on PR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gh pr comment $PR_NUM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--body "## AI Build Summary\n$SUMMARY"</a:t>
            </a:r>
            <a:endParaRPr lang="en-US" sz="1333" dirty="0"/>
          </a:p>
        </p:txBody>
      </p:sp>
      <p:sp>
        <p:nvSpPr>
          <p:cNvPr id="5" name="Shape 3"/>
          <p:cNvSpPr/>
          <p:nvPr/>
        </p:nvSpPr>
        <p:spPr>
          <a:xfrm>
            <a:off x="8290560" y="1219200"/>
            <a:ext cx="3413760" cy="4876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8290560" y="1219200"/>
            <a:ext cx="97536" cy="48768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8534400" y="1341120"/>
            <a:ext cx="292608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67"/>
              </a:spcAft>
            </a:pPr>
            <a:r>
              <a:rPr lang="en-US" sz="1733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Lowest effort, highest visibility win.</a:t>
            </a:r>
            <a:endParaRPr lang="en-US" sz="1733" dirty="0"/>
          </a:p>
          <a:p>
            <a:pPr>
              <a:spcAft>
                <a:spcPts val="267"/>
              </a:spcAft>
            </a:pPr>
            <a:endParaRPr lang="en-US" sz="1733" dirty="0"/>
          </a:p>
          <a:p>
            <a:pPr>
              <a:spcAft>
                <a:spcPts val="267"/>
              </a:spcAft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the #1 pattern I recommend starting with. It's:</a:t>
            </a:r>
            <a:endParaRPr lang="en-US" sz="1733" dirty="0"/>
          </a:p>
          <a:p>
            <a:pPr>
              <a:spcAft>
                <a:spcPts val="267"/>
              </a:spcAft>
            </a:pPr>
            <a:endParaRPr lang="en-US" sz="1733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Simple to implement</a:t>
            </a:r>
            <a:endParaRPr lang="en-US" sz="1733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Immediately visible to the team</a:t>
            </a:r>
            <a:endParaRPr lang="en-US" sz="1733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Saves real time every day</a:t>
            </a:r>
            <a:endParaRPr lang="en-US" sz="1733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6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Builds trust in AI pipeline steps</a:t>
            </a:r>
            <a:endParaRPr lang="en-US" sz="1733" dirty="0"/>
          </a:p>
        </p:txBody>
      </p:sp>
      <p:sp>
        <p:nvSpPr>
          <p:cNvPr id="8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249372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Pattern 4: RAG-Driven Debugging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10972800" y="341376"/>
            <a:ext cx="609600" cy="60960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/sessions/intelligent-gifted-keller/deck3/images/icon-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32816"/>
            <a:ext cx="426720" cy="426720"/>
          </a:xfrm>
          <a:prstGeom prst="rect">
            <a:avLst/>
          </a:prstGeom>
        </p:spPr>
      </p:pic>
      <p:pic>
        <p:nvPicPr>
          <p:cNvPr id="5" name="Image 1" descr="/sessions/intelligent-gifted-keller/deck3/images/diagram-rag-de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19200"/>
            <a:ext cx="11460480" cy="4876800"/>
          </a:xfrm>
          <a:prstGeom prst="rect">
            <a:avLst/>
          </a:prstGeom>
        </p:spPr>
      </p:pic>
      <p:sp>
        <p:nvSpPr>
          <p:cNvPr id="6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31863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Give Your Pipeline Memory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21920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a build fails, the first question is always: </a:t>
            </a:r>
            <a:r>
              <a:rPr lang="en-US" sz="1867" b="1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"Have we seen this before?"</a:t>
            </a:r>
            <a:endParaRPr lang="en-US" sz="1867" dirty="0"/>
          </a:p>
          <a:p>
            <a:endParaRPr lang="en-US" sz="1867" dirty="0"/>
          </a:p>
          <a:p>
            <a:r>
              <a:rPr lang="en-US" sz="18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RAG debugging answers that question with your actual history — not guesses.</a:t>
            </a:r>
            <a:endParaRPr lang="en-US" sz="1867" dirty="0"/>
          </a:p>
        </p:txBody>
      </p:sp>
      <p:sp>
        <p:nvSpPr>
          <p:cNvPr id="4" name="Shape 2"/>
          <p:cNvSpPr/>
          <p:nvPr/>
        </p:nvSpPr>
        <p:spPr>
          <a:xfrm>
            <a:off x="609600" y="268224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09600" y="2682240"/>
            <a:ext cx="609600" cy="6096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268224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667" dirty="0"/>
          </a:p>
        </p:txBody>
      </p:sp>
      <p:sp>
        <p:nvSpPr>
          <p:cNvPr id="7" name="Text 5"/>
          <p:cNvSpPr/>
          <p:nvPr/>
        </p:nvSpPr>
        <p:spPr>
          <a:xfrm>
            <a:off x="1280160" y="2682240"/>
            <a:ext cx="1706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Index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413760"/>
            <a:ext cx="231648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a vector DB of past CI failures, PRs, runbooks, incident reports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3474720" y="268224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3474720" y="2682240"/>
            <a:ext cx="609600" cy="6096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3474720" y="268224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667" dirty="0"/>
          </a:p>
        </p:txBody>
      </p:sp>
      <p:sp>
        <p:nvSpPr>
          <p:cNvPr id="12" name="Text 10"/>
          <p:cNvSpPr/>
          <p:nvPr/>
        </p:nvSpPr>
        <p:spPr>
          <a:xfrm>
            <a:off x="4145280" y="2682240"/>
            <a:ext cx="1706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Embed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96640" y="3413760"/>
            <a:ext cx="231648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a failure occurs, extract the error + embed it as a query vector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6339840" y="268224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6339840" y="2682240"/>
            <a:ext cx="609600" cy="6096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6339840" y="268224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667" dirty="0"/>
          </a:p>
        </p:txBody>
      </p:sp>
      <p:sp>
        <p:nvSpPr>
          <p:cNvPr id="17" name="Text 15"/>
          <p:cNvSpPr/>
          <p:nvPr/>
        </p:nvSpPr>
        <p:spPr>
          <a:xfrm>
            <a:off x="7010400" y="2682240"/>
            <a:ext cx="1706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61760" y="3413760"/>
            <a:ext cx="231648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 similar past failures in your history — "this looks like PR #4521"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9204960" y="268224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9204960" y="2682240"/>
            <a:ext cx="609600" cy="6096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9204960" y="268224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2667" dirty="0"/>
          </a:p>
        </p:txBody>
      </p:sp>
      <p:sp>
        <p:nvSpPr>
          <p:cNvPr id="22" name="Text 20"/>
          <p:cNvSpPr/>
          <p:nvPr/>
        </p:nvSpPr>
        <p:spPr>
          <a:xfrm>
            <a:off x="9875520" y="2682240"/>
            <a:ext cx="1706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Synthesize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26880" y="3413760"/>
            <a:ext cx="231648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LLM reads the matches + proposes a fix, linking to past resolutions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609600" y="585216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the institutional memory most teams lose when people leave.</a:t>
            </a:r>
            <a:endParaRPr lang="en-US" sz="1867" dirty="0"/>
          </a:p>
        </p:txBody>
      </p:sp>
      <p:sp>
        <p:nvSpPr>
          <p:cNvPr id="25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63334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RAG Debug Pipeline Step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7315200" cy="512064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92480" y="1341120"/>
            <a:ext cx="6949440" cy="487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RAG Debug Lookup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if: failure()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env: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PINECONE_KEY: ${{ secrets.PINECONE_KEY }}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|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Extract error signature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ERROR=$(grep -A5 "Error:" build.log | head -10)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Embed and search past failures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MATCHES=$(python rag_search.py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--query "$ERROR"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--index ci-failures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--top-k 3)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LLM synthesizes fix from matches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FIX=$(echo "$MATCHES" | claude -p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"Based on these past failures and their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resolutions, suggest a fix for the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current error. Link to past PRs.")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gh pr comment $PR --body "## 🔍 RAG Debug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$FIX"</a:t>
            </a:r>
            <a:endParaRPr lang="en-US" sz="1333" dirty="0"/>
          </a:p>
        </p:txBody>
      </p:sp>
      <p:sp>
        <p:nvSpPr>
          <p:cNvPr id="5" name="Shape 3"/>
          <p:cNvSpPr/>
          <p:nvPr/>
        </p:nvSpPr>
        <p:spPr>
          <a:xfrm>
            <a:off x="8290560" y="1219200"/>
            <a:ext cx="341376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8290560" y="1219200"/>
            <a:ext cx="97536" cy="51206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8534400" y="1341120"/>
            <a:ext cx="2926080" cy="463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267"/>
              </a:spcAft>
            </a:pPr>
            <a:r>
              <a:rPr lang="en-US" sz="1733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power: </a:t>
            </a:r>
            <a:endParaRPr lang="en-US" sz="1733" dirty="0"/>
          </a:p>
          <a:p>
            <a:pPr>
              <a:spcAft>
                <a:spcPts val="267"/>
              </a:spcAft>
            </a:pPr>
            <a:endParaRPr lang="en-US" sz="1733" dirty="0"/>
          </a:p>
          <a:p>
            <a:pPr>
              <a:spcAft>
                <a:spcPts val="267"/>
              </a:spcAft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pipeline learns from every failure. The more it runs, the smarter it gets.</a:t>
            </a:r>
            <a:endParaRPr lang="en-US" sz="1733" dirty="0"/>
          </a:p>
          <a:p>
            <a:pPr>
              <a:spcAft>
                <a:spcPts val="267"/>
              </a:spcAft>
            </a:pPr>
            <a:endParaRPr lang="en-US" sz="1733" dirty="0"/>
          </a:p>
          <a:p>
            <a:pPr>
              <a:spcAft>
                <a:spcPts val="267"/>
              </a:spcAft>
            </a:pPr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Vector DB sources:</a:t>
            </a:r>
            <a:endParaRPr lang="en-US" sz="1733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Past CI logs</a:t>
            </a:r>
            <a:endParaRPr lang="en-US" sz="1733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Resolved PRs</a:t>
            </a:r>
            <a:endParaRPr lang="en-US" sz="1733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Incident reports</a:t>
            </a:r>
            <a:endParaRPr lang="en-US" sz="1733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Runbook docs</a:t>
            </a:r>
            <a:endParaRPr lang="en-US" sz="1733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Stack Overflow answers</a:t>
            </a:r>
            <a:endParaRPr lang="en-US" sz="1733" dirty="0"/>
          </a:p>
        </p:txBody>
      </p:sp>
      <p:sp>
        <p:nvSpPr>
          <p:cNvPr id="99" name="PatternLabel"/>
          <p:cNvSpPr/>
          <p:nvPr/>
        </p:nvSpPr>
        <p:spPr>
          <a:xfrm>
            <a:off x="609600" y="6400800"/>
            <a:ext cx="426720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200" i="1" dirty="0">
                <a:solidFill>
                  <a:srgbClr val="999999"/>
                </a:solidFill>
                <a:latin typeface="Poppins" pitchFamily="34" charset="0"/>
              </a:rPr>
              <a:t>Pattern sketch — not production hardening</a:t>
            </a:r>
          </a:p>
        </p:txBody>
      </p:sp>
      <p:sp>
        <p:nvSpPr>
          <p:cNvPr id="100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81386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Pattern 5: Risk Scoring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10972800" y="341376"/>
            <a:ext cx="609600" cy="60960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/sessions/intelligent-gifted-keller/deck3/images/icon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32816"/>
            <a:ext cx="426720" cy="426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1582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all changes are created equal. Why give every PR the same pipeline?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09600" y="1706880"/>
            <a:ext cx="670560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33"/>
              </a:spcAft>
            </a:pPr>
            <a:r>
              <a:rPr lang="en-US" sz="1867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analyzes each change for risk:</a:t>
            </a:r>
            <a:endParaRPr lang="en-US" sz="1867" dirty="0"/>
          </a:p>
          <a:p>
            <a:pPr>
              <a:spcAft>
                <a:spcPts val="533"/>
              </a:spcAft>
            </a:pP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Files touched — core logic vs. docs vs. config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Blast radius — how many services/users affected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coverage — new code with zero tests = high risk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 failure similarity — does this change resemble past incidents?</a:t>
            </a:r>
            <a:endParaRPr lang="en-US" sz="1867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Change complexity — lines changed, cyclomatic complexity delta</a:t>
            </a:r>
            <a:endParaRPr lang="en-US" sz="1867" dirty="0"/>
          </a:p>
        </p:txBody>
      </p:sp>
      <p:sp>
        <p:nvSpPr>
          <p:cNvPr id="7" name="Shape 4"/>
          <p:cNvSpPr/>
          <p:nvPr/>
        </p:nvSpPr>
        <p:spPr>
          <a:xfrm>
            <a:off x="7680960" y="170688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5"/>
          <p:cNvSpPr/>
          <p:nvPr/>
        </p:nvSpPr>
        <p:spPr>
          <a:xfrm>
            <a:off x="7924800" y="1828800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 Risk</a:t>
            </a:r>
            <a:endParaRPr lang="en-US" sz="1867" dirty="0"/>
          </a:p>
        </p:txBody>
      </p:sp>
      <p:sp>
        <p:nvSpPr>
          <p:cNvPr id="9" name="Text 6"/>
          <p:cNvSpPr/>
          <p:nvPr/>
        </p:nvSpPr>
        <p:spPr>
          <a:xfrm>
            <a:off x="7924800" y="2255520"/>
            <a:ext cx="3535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suite + security + manual gate</a:t>
            </a:r>
            <a:endParaRPr lang="en-US" sz="1467" dirty="0"/>
          </a:p>
        </p:txBody>
      </p:sp>
      <p:sp>
        <p:nvSpPr>
          <p:cNvPr id="10" name="Shape 7"/>
          <p:cNvSpPr/>
          <p:nvPr/>
        </p:nvSpPr>
        <p:spPr>
          <a:xfrm>
            <a:off x="7924800" y="2804160"/>
            <a:ext cx="3535680" cy="3657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8"/>
          <p:cNvSpPr/>
          <p:nvPr/>
        </p:nvSpPr>
        <p:spPr>
          <a:xfrm>
            <a:off x="7924800" y="2926080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Medium Risk</a:t>
            </a:r>
            <a:endParaRPr lang="en-US" sz="1867" dirty="0"/>
          </a:p>
        </p:txBody>
      </p:sp>
      <p:sp>
        <p:nvSpPr>
          <p:cNvPr id="12" name="Text 9"/>
          <p:cNvSpPr/>
          <p:nvPr/>
        </p:nvSpPr>
        <p:spPr>
          <a:xfrm>
            <a:off x="7924800" y="3352800"/>
            <a:ext cx="3535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Targeted tests + standard checks</a:t>
            </a:r>
            <a:endParaRPr lang="en-US" sz="1467" dirty="0"/>
          </a:p>
        </p:txBody>
      </p:sp>
      <p:sp>
        <p:nvSpPr>
          <p:cNvPr id="13" name="Shape 10"/>
          <p:cNvSpPr/>
          <p:nvPr/>
        </p:nvSpPr>
        <p:spPr>
          <a:xfrm>
            <a:off x="7924800" y="3901440"/>
            <a:ext cx="3535680" cy="3657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1"/>
          <p:cNvSpPr/>
          <p:nvPr/>
        </p:nvSpPr>
        <p:spPr>
          <a:xfrm>
            <a:off x="7924800" y="4023360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 Risk</a:t>
            </a:r>
            <a:endParaRPr lang="en-US" sz="1867" dirty="0"/>
          </a:p>
        </p:txBody>
      </p:sp>
      <p:sp>
        <p:nvSpPr>
          <p:cNvPr id="15" name="Text 12"/>
          <p:cNvSpPr/>
          <p:nvPr/>
        </p:nvSpPr>
        <p:spPr>
          <a:xfrm>
            <a:off x="7924800" y="4450080"/>
            <a:ext cx="3535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Fast-track: smoke tests only</a:t>
            </a:r>
            <a:endParaRPr lang="en-US" sz="1467" dirty="0"/>
          </a:p>
        </p:txBody>
      </p:sp>
      <p:sp>
        <p:nvSpPr>
          <p:cNvPr id="16" name="Text 13"/>
          <p:cNvSpPr/>
          <p:nvPr/>
        </p:nvSpPr>
        <p:spPr>
          <a:xfrm>
            <a:off x="609600" y="573024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Teams report significant build time savings by focusing CI resources on high-risk changes.</a:t>
            </a:r>
            <a:endParaRPr lang="en-US" sz="1733" dirty="0"/>
          </a:p>
        </p:txBody>
      </p:sp>
      <p:sp>
        <p:nvSpPr>
          <p:cNvPr id="17" name="Text 14"/>
          <p:cNvSpPr/>
          <p:nvPr/>
        </p:nvSpPr>
        <p:spPr>
          <a:xfrm>
            <a:off x="609600" y="627888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Enterprise CI/CD case studies, 2025</a:t>
            </a:r>
            <a:endParaRPr lang="en-US" sz="1333" dirty="0"/>
          </a:p>
        </p:txBody>
      </p:sp>
      <p:sp>
        <p:nvSpPr>
          <p:cNvPr id="18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2488497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Risk-Based Pipeline Routing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7315200" cy="512064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92480" y="1341120"/>
            <a:ext cx="6949440" cy="487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Calculate risk score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risk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|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SCORE=$(python risk_scorer.py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--pr $PR_NUM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--factors files,coverage,author,complexity)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"score=$SCORE" &gt;&gt; $GITHUB_OUTPUT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"level=$([ $SCORE -gt 7 ] &amp;&amp; echo high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|| ([ $SCORE -gt 3 ] &amp;&amp; echo medium \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|| echo low))" &gt;&gt; $GITHUB_OUTPUT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Full test suite (high risk only)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if: steps.risk.outputs.level == 'high'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pytest tests/ --full-suite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Smoke tests (low risk)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if: steps.risk.outputs.level == 'low'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pytest tests/smoke/ --fast</a:t>
            </a:r>
            <a:endParaRPr lang="en-US" sz="1333" dirty="0"/>
          </a:p>
        </p:txBody>
      </p:sp>
      <p:sp>
        <p:nvSpPr>
          <p:cNvPr id="5" name="Shape 3"/>
          <p:cNvSpPr/>
          <p:nvPr/>
        </p:nvSpPr>
        <p:spPr>
          <a:xfrm>
            <a:off x="8290560" y="1219200"/>
            <a:ext cx="341376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8290560" y="1219200"/>
            <a:ext cx="97536" cy="51206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8534400" y="134112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Intelligent resource allocation:</a:t>
            </a:r>
            <a:endParaRPr lang="en-US" sz="1733" dirty="0"/>
          </a:p>
          <a:p>
            <a:endParaRPr lang="en-US" sz="1733" dirty="0"/>
          </a:p>
          <a:p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Spend CI time where it matters most.</a:t>
            </a:r>
            <a:endParaRPr lang="en-US" sz="1733" dirty="0"/>
          </a:p>
          <a:p>
            <a:endParaRPr lang="en-US" sz="1733" dirty="0"/>
          </a:p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High-risk PRs get the full treatment. Low-risk docs changes don't wait 45 min for tests they don't need.</a:t>
            </a:r>
            <a:endParaRPr lang="en-US" sz="1733" dirty="0"/>
          </a:p>
        </p:txBody>
      </p:sp>
      <p:sp>
        <p:nvSpPr>
          <p:cNvPr id="8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48918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Pattern 6: AI-Powered Release Gates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10972800" y="341376"/>
            <a:ext cx="609600" cy="60960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/sessions/intelligent-gifted-keller/deck3/images/icon-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32816"/>
            <a:ext cx="426720" cy="426720"/>
          </a:xfrm>
          <a:prstGeom prst="rect">
            <a:avLst/>
          </a:prstGeom>
        </p:spPr>
      </p:pic>
      <p:pic>
        <p:nvPicPr>
          <p:cNvPr id="5" name="Image 1" descr="/sessions/intelligent-gifted-keller/deck3/images/diagram-release-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19200"/>
            <a:ext cx="11460480" cy="43037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573024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"Ship or hold?" becomes a data-driven recommendation, not a gut feeling.</a:t>
            </a:r>
            <a:endParaRPr lang="en-US" sz="1867" dirty="0"/>
          </a:p>
        </p:txBody>
      </p:sp>
      <p:sp>
        <p:nvSpPr>
          <p:cNvPr id="7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247202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Multi-Signal Release Assessment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21920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Traditional gates: </a:t>
            </a:r>
            <a:r>
              <a:rPr lang="en-US" sz="18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binary pass/fail on tests + coverage threshold.</a:t>
            </a:r>
            <a:endParaRPr lang="en-US" sz="1867" dirty="0"/>
          </a:p>
          <a:p>
            <a:r>
              <a:rPr lang="en-US" sz="1867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gates: </a:t>
            </a:r>
            <a:r>
              <a:rPr lang="en-US" sz="18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multi-signal assessment across all available data.</a:t>
            </a:r>
            <a:endParaRPr lang="en-US" sz="1867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438400"/>
          <a:ext cx="10972800" cy="3048000"/>
        </p:xfrm>
        <a:graphic>
          <a:graphicData uri="http://schemas.openxmlformats.org/drawingml/2006/table">
            <a:tbl>
              <a:tblPr/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4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Signal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Threshold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Current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Test pass rate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343A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&gt;= 99.5%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6A08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99.8%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Error trend (24h)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343A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Decreasing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6A08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-12%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4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Risk score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343A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&lt; 7/10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6A08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4/10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4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Change scope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343A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&lt; 500 lines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6A08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127 lines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4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Security vulns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343A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 critical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6A08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0 found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4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Canary health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343A4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&gt; 95%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6A08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✓ 98.2%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600" y="560832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 policy output | 5/6 signals favorable | </a:t>
            </a:r>
            <a:r>
              <a:rPr lang="en-US" sz="2133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Confidence: HIGH — Recommend: SHIP</a:t>
            </a:r>
            <a:endParaRPr lang="en-US" sz="2133" dirty="0"/>
          </a:p>
        </p:txBody>
      </p:sp>
      <p:sp>
        <p:nvSpPr>
          <p:cNvPr id="25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12418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Release Gate Configuration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7315200" cy="512064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92480" y="1341120"/>
            <a:ext cx="6949440" cy="487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release_gate: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 claude-sonnet-4-6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signals: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test_results: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source: junit-results.xml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threshold: pass_rate &gt;= 99.5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error_trend: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source: datadog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window: 24h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threshold: trend == "decreasing"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risk_score: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source: risk_scorer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threshold: score &lt; 7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security: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source: snyk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threshold: critical == 0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canary: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source: launchdarkly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threshold: health &gt;= 95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decision: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ship_if: all_pass AND confidence_band == HIGH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hold_if: any_critical_fail</a:t>
            </a:r>
            <a:endParaRPr lang="en-US" sz="1333" dirty="0"/>
          </a:p>
          <a:p>
            <a:r>
              <a:rPr lang="en-US" sz="1333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escalate_if: confidence_band == MEDIUM</a:t>
            </a:r>
            <a:endParaRPr lang="en-US" sz="1333" dirty="0"/>
          </a:p>
        </p:txBody>
      </p:sp>
      <p:sp>
        <p:nvSpPr>
          <p:cNvPr id="5" name="Shape 3"/>
          <p:cNvSpPr/>
          <p:nvPr/>
        </p:nvSpPr>
        <p:spPr>
          <a:xfrm>
            <a:off x="8290560" y="1219200"/>
            <a:ext cx="341376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8290560" y="1219200"/>
            <a:ext cx="97536" cy="51206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8534400" y="134112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Declarative config</a:t>
            </a:r>
            <a:endParaRPr lang="en-US" sz="1733" dirty="0"/>
          </a:p>
          <a:p>
            <a:endParaRPr lang="en-US" sz="1733" dirty="0"/>
          </a:p>
          <a:p>
            <a:r>
              <a:rPr lang="en-US" sz="14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Define your signals and thresholds. The AI evaluates them as a whole — not just individual pass/fail, but the </a:t>
            </a:r>
            <a:r>
              <a:rPr lang="en-US" sz="1467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combination and context.</a:t>
            </a:r>
            <a:endParaRPr lang="en-US" sz="1733" dirty="0"/>
          </a:p>
        </p:txBody>
      </p:sp>
      <p:sp>
        <p:nvSpPr>
          <p:cNvPr id="99" name="PatternLabel"/>
          <p:cNvSpPr/>
          <p:nvPr/>
        </p:nvSpPr>
        <p:spPr>
          <a:xfrm>
            <a:off x="609600" y="6400800"/>
            <a:ext cx="426720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200" i="1" dirty="0">
                <a:solidFill>
                  <a:srgbClr val="999999"/>
                </a:solidFill>
                <a:latin typeface="Poppins" pitchFamily="34" charset="0"/>
              </a:rPr>
              <a:t>Pattern sketch — not production hardening</a:t>
            </a:r>
          </a:p>
        </p:txBody>
      </p:sp>
      <p:sp>
        <p:nvSpPr>
          <p:cNvPr id="100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266768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Where CAI Can Go Wrong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Failure modes every team should plan for</a:t>
            </a:r>
            <a:endParaRPr lang="en-US" sz="2133" dirty="0"/>
          </a:p>
        </p:txBody>
      </p:sp>
      <p:sp>
        <p:nvSpPr>
          <p:cNvPr id="4" name="Shape 2"/>
          <p:cNvSpPr/>
          <p:nvPr/>
        </p:nvSpPr>
        <p:spPr>
          <a:xfrm>
            <a:off x="609600" y="170688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09600" y="1706880"/>
            <a:ext cx="347472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53440" y="1889760"/>
            <a:ext cx="298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Hallucinated triage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853440" y="2377440"/>
            <a:ext cx="29870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misclassifies a real bug as a flaky test — team ignores a production issue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70688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4389120" y="1706880"/>
            <a:ext cx="347472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4632960" y="1889760"/>
            <a:ext cx="298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False gate confidence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4632960" y="2377440"/>
            <a:ext cx="29870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94% confidence score hides a critical edge case the model didn't evaluate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68640" y="170688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8168640" y="1706880"/>
            <a:ext cx="347472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412480" y="1889760"/>
            <a:ext cx="298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Secret leakage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8412480" y="2377440"/>
            <a:ext cx="29870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Logs and diffs sent to external AI contain tokens, keys, or internal architecture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39624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609600" y="3962400"/>
            <a:ext cx="347472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853440" y="4145280"/>
            <a:ext cx="298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Stale RAG data</a:t>
            </a:r>
            <a:endParaRPr lang="en-US" sz="1867" dirty="0"/>
          </a:p>
        </p:txBody>
      </p:sp>
      <p:sp>
        <p:nvSpPr>
          <p:cNvPr id="19" name="Text 17"/>
          <p:cNvSpPr/>
          <p:nvPr/>
        </p:nvSpPr>
        <p:spPr>
          <a:xfrm>
            <a:off x="853440" y="4632960"/>
            <a:ext cx="29870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Knowledge base returns outdated fixes — bad historical data gets amplified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89120" y="39624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4389120" y="3962400"/>
            <a:ext cx="347472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4632960" y="4145280"/>
            <a:ext cx="298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Cost and latency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4632960" y="4632960"/>
            <a:ext cx="29870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calls in hot CI paths add 30-60s per step — multiplied across all PRs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68640" y="39624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8168640" y="3962400"/>
            <a:ext cx="347472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8412480" y="4145280"/>
            <a:ext cx="298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Autonomy creep</a:t>
            </a:r>
            <a:endParaRPr lang="en-US" sz="1867" dirty="0"/>
          </a:p>
        </p:txBody>
      </p:sp>
      <p:sp>
        <p:nvSpPr>
          <p:cNvPr id="27" name="Text 25"/>
          <p:cNvSpPr/>
          <p:nvPr/>
        </p:nvSpPr>
        <p:spPr>
          <a:xfrm>
            <a:off x="8412480" y="4632960"/>
            <a:ext cx="29870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moves from advisory to auto-remediation without explicit governance approval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9600" y="627888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Mitigation: Start every AI step as advisory. Add guardrails before granting autonomy.</a:t>
            </a:r>
            <a:endParaRPr lang="en-US" sz="1600" dirty="0"/>
          </a:p>
        </p:txBody>
      </p:sp>
      <p:sp>
        <p:nvSpPr>
          <p:cNvPr id="29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568085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Guardrails Every CAI Pipeline Needs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2801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Autonomy Ladder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1889760"/>
            <a:ext cx="3474720" cy="1584960"/>
          </a:xfrm>
          <a:prstGeom prst="rect">
            <a:avLst/>
          </a:prstGeom>
          <a:solidFill>
            <a:srgbClr val="D5F5E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792480" y="2011680"/>
            <a:ext cx="426720" cy="42672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41120" y="2011680"/>
            <a:ext cx="2499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Advisory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853440" y="2560320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suggests, human decides. Start here.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4084320" y="2255520"/>
            <a:ext cx="30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389120" y="1889760"/>
            <a:ext cx="3474720" cy="1584960"/>
          </a:xfrm>
          <a:prstGeom prst="rect">
            <a:avLst/>
          </a:prstGeom>
          <a:solidFill>
            <a:srgbClr val="AED6F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4572000" y="2011680"/>
            <a:ext cx="426720" cy="42672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120640" y="2011680"/>
            <a:ext cx="2499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Approval Assist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4632960" y="2560320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recommends, human approves or overrides.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7863840" y="2255520"/>
            <a:ext cx="30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8168640" y="1889760"/>
            <a:ext cx="3474720" cy="1584960"/>
          </a:xfrm>
          <a:prstGeom prst="rect">
            <a:avLst/>
          </a:prstGeom>
          <a:solidFill>
            <a:srgbClr val="FADBD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8351520" y="2011680"/>
            <a:ext cx="426720" cy="42672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900160" y="2011680"/>
            <a:ext cx="2499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Enforced Gate</a:t>
            </a:r>
            <a:endParaRPr lang="en-US" sz="2133" dirty="0"/>
          </a:p>
        </p:txBody>
      </p:sp>
      <p:sp>
        <p:nvSpPr>
          <p:cNvPr id="17" name="Text 15"/>
          <p:cNvSpPr/>
          <p:nvPr/>
        </p:nvSpPr>
        <p:spPr>
          <a:xfrm>
            <a:off x="8412480" y="2560320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decides within policy bounds. Human override always available.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609600" y="377952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Essential Guardrails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09600" y="4328160"/>
            <a:ext cx="10972800" cy="2072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853440" y="4389120"/>
            <a:ext cx="10485120" cy="188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 override on every AI decision — always available, clearly surfaced</a:t>
            </a:r>
            <a:endParaRPr lang="en-US" sz="17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trail — log every AI recommendation, confidence score, and outcome</a:t>
            </a:r>
            <a:endParaRPr lang="en-US" sz="17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Secret filtering — scrub tokens, keys, and PII before sending data to models</a:t>
            </a:r>
            <a:endParaRPr lang="en-US" sz="17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Latency budgets — set hard limits on model call time per pipeline step</a:t>
            </a:r>
            <a:endParaRPr lang="en-US" sz="17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 metrics — measure precision/recall of triage, track false positive rates</a:t>
            </a:r>
            <a:endParaRPr lang="en-US" sz="17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Rollback strategy — if the AI layer misbehaves, the pipeline still works without it</a:t>
            </a:r>
            <a:endParaRPr lang="en-US" sz="17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Deterministic first — use AI only where interpretation, synthesis, or ranking adds value</a:t>
            </a:r>
            <a:endParaRPr lang="en-US" sz="1733" dirty="0"/>
          </a:p>
        </p:txBody>
      </p:sp>
      <p:sp>
        <p:nvSpPr>
          <p:cNvPr id="21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396819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84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Common CAI Anti-Patterns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not to do — lessons from failed implementations</a:t>
            </a:r>
            <a:endParaRPr lang="en-US" sz="1867" dirty="0"/>
          </a:p>
        </p:txBody>
      </p:sp>
      <p:sp>
        <p:nvSpPr>
          <p:cNvPr id="4" name="Shape 2"/>
          <p:cNvSpPr/>
          <p:nvPr/>
        </p:nvSpPr>
        <p:spPr>
          <a:xfrm>
            <a:off x="609600" y="1706880"/>
            <a:ext cx="2072640" cy="188976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09600" y="1706880"/>
            <a:ext cx="207264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853184"/>
            <a:ext cx="2072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🔓</a:t>
            </a:r>
            <a:endParaRPr lang="en-US" sz="2933" dirty="0"/>
          </a:p>
        </p:txBody>
      </p:sp>
      <p:sp>
        <p:nvSpPr>
          <p:cNvPr id="7" name="Text 5"/>
          <p:cNvSpPr/>
          <p:nvPr/>
        </p:nvSpPr>
        <p:spPr>
          <a:xfrm>
            <a:off x="707136" y="2255520"/>
            <a:ext cx="1877568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Raw Logs to Public LLMs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707136" y="2682240"/>
            <a:ext cx="1877568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Sending unredacted build logs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(with secrets) to external APIs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65120" y="1706880"/>
            <a:ext cx="2072640" cy="188976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2865120" y="1706880"/>
            <a:ext cx="207264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2865120" y="1853184"/>
            <a:ext cx="2072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🤖</a:t>
            </a:r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2962656" y="2255520"/>
            <a:ext cx="1877568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Skip Advisory Mode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2962656" y="2682240"/>
            <a:ext cx="1877568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Letting AI auto-remediate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humans trust the outputs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1706880"/>
            <a:ext cx="2072640" cy="188976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5120640" y="1706880"/>
            <a:ext cx="207264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5120640" y="1853184"/>
            <a:ext cx="2072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🎯</a:t>
            </a:r>
            <a:endParaRPr lang="en-US" sz="2933" dirty="0"/>
          </a:p>
        </p:txBody>
      </p:sp>
      <p:sp>
        <p:nvSpPr>
          <p:cNvPr id="17" name="Text 15"/>
          <p:cNvSpPr/>
          <p:nvPr/>
        </p:nvSpPr>
        <p:spPr>
          <a:xfrm>
            <a:off x="5218176" y="2255520"/>
            <a:ext cx="1877568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Trust Confidence Blindly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5218176" y="2682240"/>
            <a:ext cx="1877568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Treating heuristic scores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probabilistic truth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37360" y="3840480"/>
            <a:ext cx="2072640" cy="188976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1737360" y="3840480"/>
            <a:ext cx="207264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1737360" y="3986784"/>
            <a:ext cx="2072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🌊</a:t>
            </a:r>
            <a:endParaRPr lang="en-US" sz="2933" dirty="0"/>
          </a:p>
        </p:txBody>
      </p:sp>
      <p:sp>
        <p:nvSpPr>
          <p:cNvPr id="22" name="Text 20"/>
          <p:cNvSpPr/>
          <p:nvPr/>
        </p:nvSpPr>
        <p:spPr>
          <a:xfrm>
            <a:off x="1834896" y="4389120"/>
            <a:ext cx="1877568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Five Steps Before One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1834896" y="4815840"/>
            <a:ext cx="1877568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Adding all AI patterns at once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instead of validating each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92880" y="3840480"/>
            <a:ext cx="2072640" cy="188976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3992880" y="3840480"/>
            <a:ext cx="207264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3992880" y="3986784"/>
            <a:ext cx="2072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📦</a:t>
            </a:r>
            <a:endParaRPr lang="en-US" sz="2933" dirty="0"/>
          </a:p>
        </p:txBody>
      </p:sp>
      <p:sp>
        <p:nvSpPr>
          <p:cNvPr id="27" name="Text 25"/>
          <p:cNvSpPr/>
          <p:nvPr/>
        </p:nvSpPr>
        <p:spPr>
          <a:xfrm>
            <a:off x="4090416" y="4389120"/>
            <a:ext cx="1877568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Uncurated RAG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4090416" y="4815840"/>
            <a:ext cx="1877568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Using RAG without version tags,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recency weighting, or curation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9600" y="60350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i="1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you recognize any of these in your current setup, fix them before adding more AI steps.</a:t>
            </a:r>
            <a:endParaRPr lang="en-US" sz="1467" dirty="0"/>
          </a:p>
        </p:txBody>
      </p:sp>
      <p:sp>
        <p:nvSpPr>
          <p:cNvPr id="30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283055818"/>
      </p:ext>
    </p:extLst>
  </p:cSld>
  <p:clrMapOvr>
    <a:masterClrMapping/>
  </p:clrMapOvr>
</p:sld>
</file>

<file path=ppt/slides/slide3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Safe Auto-Remediation for Known Failures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15824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Constrained automation for failure classes with proven, repeatable fixes</a:t>
            </a:r>
            <a:endParaRPr lang="en-US" sz="1867" dirty="0"/>
          </a:p>
        </p:txBody>
      </p:sp>
      <p:sp>
        <p:nvSpPr>
          <p:cNvPr id="4" name="Shape 2"/>
          <p:cNvSpPr/>
          <p:nvPr/>
        </p:nvSpPr>
        <p:spPr>
          <a:xfrm>
            <a:off x="609600" y="1889760"/>
            <a:ext cx="5486400" cy="9753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09600" y="1889760"/>
            <a:ext cx="97536" cy="97536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53440" y="1950720"/>
            <a:ext cx="609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🔄</a:t>
            </a:r>
            <a:endParaRPr lang="en-US" sz="2933" dirty="0"/>
          </a:p>
        </p:txBody>
      </p:sp>
      <p:sp>
        <p:nvSpPr>
          <p:cNvPr id="7" name="Text 5"/>
          <p:cNvSpPr/>
          <p:nvPr/>
        </p:nvSpPr>
        <p:spPr>
          <a:xfrm>
            <a:off x="1524000" y="1950720"/>
            <a:ext cx="4267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Stale Docker Cache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1524000" y="2353056"/>
            <a:ext cx="4267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Auto-clear + rebuild on known</a:t>
            </a:r>
            <a:endParaRPr lang="en-US" sz="1333" dirty="0"/>
          </a:p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cache-invalidation patterns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609600" y="2987040"/>
            <a:ext cx="5486400" cy="9753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609600" y="2987040"/>
            <a:ext cx="97536" cy="97536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853440" y="3048000"/>
            <a:ext cx="609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🔐</a:t>
            </a:r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1524000" y="3048000"/>
            <a:ext cx="4267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Expired Test Fixture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1524000" y="3450336"/>
            <a:ext cx="4267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Regenerate from fixture template</a:t>
            </a:r>
            <a:endParaRPr lang="en-US" sz="1333" dirty="0"/>
          </a:p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TTL exceeded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09600" y="4084320"/>
            <a:ext cx="5486400" cy="9753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609600" y="4084320"/>
            <a:ext cx="97536" cy="97536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853440" y="4145280"/>
            <a:ext cx="609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⚙️</a:t>
            </a:r>
            <a:endParaRPr lang="en-US" sz="2933" dirty="0"/>
          </a:p>
        </p:txBody>
      </p:sp>
      <p:sp>
        <p:nvSpPr>
          <p:cNvPr id="17" name="Text 15"/>
          <p:cNvSpPr/>
          <p:nvPr/>
        </p:nvSpPr>
        <p:spPr>
          <a:xfrm>
            <a:off x="1524000" y="4145280"/>
            <a:ext cx="4267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Missing Staging Config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1524000" y="4547616"/>
            <a:ext cx="4267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Pull from vault + inject when</a:t>
            </a:r>
            <a:endParaRPr lang="en-US" sz="1333" dirty="0"/>
          </a:p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non-secret env var absent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609600" y="5181600"/>
            <a:ext cx="5486400" cy="9753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609600" y="5181600"/>
            <a:ext cx="97536" cy="97536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853440" y="5242560"/>
            <a:ext cx="609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🛡️</a:t>
            </a:r>
            <a:endParaRPr lang="en-US" sz="2933" dirty="0"/>
          </a:p>
        </p:txBody>
      </p:sp>
      <p:sp>
        <p:nvSpPr>
          <p:cNvPr id="22" name="Text 20"/>
          <p:cNvSpPr/>
          <p:nvPr/>
        </p:nvSpPr>
        <p:spPr>
          <a:xfrm>
            <a:off x="1524000" y="5242560"/>
            <a:ext cx="4267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CVE Auto-Triage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1524000" y="5644896"/>
            <a:ext cx="4267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Cluster vulns by reachability</a:t>
            </a:r>
            <a:endParaRPr lang="en-US" sz="1333" dirty="0"/>
          </a:p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suppress known false positives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6461760" y="1889760"/>
            <a:ext cx="5120640" cy="268224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705600" y="2011680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Remediation Guardrails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6705600" y="2438400"/>
            <a:ext cx="4632960" cy="2072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4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✅  Only for classified, repeatable failure types</a:t>
            </a:r>
            <a:endParaRPr lang="en-US" sz="1467" dirty="0"/>
          </a:p>
          <a:p>
            <a:pPr>
              <a:lnSpc>
                <a:spcPct val="150000"/>
              </a:lnSpc>
            </a:pPr>
            <a:r>
              <a:rPr lang="en-US" sz="14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✅  Rollback on remediation failure</a:t>
            </a:r>
            <a:endParaRPr lang="en-US" sz="1467" dirty="0"/>
          </a:p>
          <a:p>
            <a:pPr>
              <a:lnSpc>
                <a:spcPct val="150000"/>
              </a:lnSpc>
            </a:pPr>
            <a:r>
              <a:rPr lang="en-US" sz="14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✅  Audit trail: what was auto-fixed and why</a:t>
            </a:r>
            <a:endParaRPr lang="en-US" sz="1467" dirty="0"/>
          </a:p>
          <a:p>
            <a:pPr>
              <a:lnSpc>
                <a:spcPct val="150000"/>
              </a:lnSpc>
            </a:pPr>
            <a:r>
              <a:rPr lang="en-US" sz="14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✅  Human notification on every auto-action</a:t>
            </a:r>
            <a:endParaRPr lang="en-US" sz="1467" dirty="0"/>
          </a:p>
          <a:p>
            <a:pPr>
              <a:lnSpc>
                <a:spcPct val="150000"/>
              </a:lnSpc>
            </a:pPr>
            <a:r>
              <a:rPr lang="en-US" sz="14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✅  Max 1 auto-retry per failure per run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6461760" y="4815840"/>
            <a:ext cx="5120640" cy="1463040"/>
          </a:xfrm>
          <a:prstGeom prst="roundRect">
            <a:avLst>
              <a:gd name="adj" fmla="val 4167"/>
            </a:avLst>
          </a:prstGeom>
          <a:solidFill>
            <a:srgbClr val="011936"/>
          </a:solidFill>
          <a:ln/>
          <a:effectLst>
            <a:outerShdw blurRad="38100" dist="12700" dir="16200000" algn="bl" rotWithShape="0">
              <a:srgbClr val="999999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6705600" y="487680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Autonomy Progression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05600" y="5242560"/>
            <a:ext cx="4632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Suggest fix → Auto-fix + notify → Auto-fix + audit only</a:t>
            </a:r>
            <a:endParaRPr lang="en-US" sz="1467" dirty="0"/>
          </a:p>
          <a:p>
            <a:pPr>
              <a:lnSpc>
                <a:spcPct val="130000"/>
              </a:lnSpc>
            </a:pPr>
            <a:endParaRPr lang="en-US" sz="1467" dirty="0"/>
          </a:p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left. Move right only with data.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6096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Constrained remediation pattern — start advisory, prove reliability, then automate</a:t>
            </a:r>
            <a:endParaRPr lang="en-US" sz="1333" dirty="0"/>
          </a:p>
        </p:txBody>
      </p:sp>
      <p:sp>
        <p:nvSpPr>
          <p:cNvPr id="31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29</a:t>
            </a:r>
          </a:p>
        </p:txBody>
      </p:sp>
    </p:spTree>
    <p:extLst>
      <p:ext uri="{BB962C8B-B14F-4D97-AF65-F5344CB8AC3E}">
        <ns2:creationId val="2253121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CAI in Action: One PR, Six Patterns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developer pushes a risky config change to the payment service...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26720" y="1767840"/>
            <a:ext cx="1706880" cy="4145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426720" y="1767840"/>
            <a:ext cx="170688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1036320" y="1950720"/>
            <a:ext cx="487680" cy="48768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036320" y="195072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463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 Synthesis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30880"/>
            <a:ext cx="146304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generates 12 edge-case tests for the config parser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2109216" y="3230880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867" dirty="0"/>
          </a:p>
        </p:txBody>
      </p:sp>
      <p:sp>
        <p:nvSpPr>
          <p:cNvPr id="11" name="Shape 9"/>
          <p:cNvSpPr/>
          <p:nvPr/>
        </p:nvSpPr>
        <p:spPr>
          <a:xfrm>
            <a:off x="2353056" y="1767840"/>
            <a:ext cx="1706880" cy="4145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2353056" y="1767840"/>
            <a:ext cx="170688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2962656" y="1950720"/>
            <a:ext cx="487680" cy="48768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2962656" y="195072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2474976" y="2560320"/>
            <a:ext cx="1463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Fails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74976" y="3230880"/>
            <a:ext cx="146304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new tests fail on an env variable mismatch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4035552" y="3230880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867" dirty="0"/>
          </a:p>
        </p:txBody>
      </p:sp>
      <p:sp>
        <p:nvSpPr>
          <p:cNvPr id="18" name="Shape 16"/>
          <p:cNvSpPr/>
          <p:nvPr/>
        </p:nvSpPr>
        <p:spPr>
          <a:xfrm>
            <a:off x="4279392" y="1767840"/>
            <a:ext cx="1706880" cy="4145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4279392" y="1767840"/>
            <a:ext cx="170688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4888992" y="1950720"/>
            <a:ext cx="487680" cy="48768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4888992" y="195072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133" dirty="0"/>
          </a:p>
        </p:txBody>
      </p:sp>
      <p:sp>
        <p:nvSpPr>
          <p:cNvPr id="22" name="Text 20"/>
          <p:cNvSpPr/>
          <p:nvPr/>
        </p:nvSpPr>
        <p:spPr>
          <a:xfrm>
            <a:off x="4401312" y="2560320"/>
            <a:ext cx="1463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Classifies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01312" y="3230880"/>
            <a:ext cx="146304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Failure type: config error. Severity: P2. Not flaky.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5961888" y="3230880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867" dirty="0"/>
          </a:p>
        </p:txBody>
      </p:sp>
      <p:sp>
        <p:nvSpPr>
          <p:cNvPr id="25" name="Shape 23"/>
          <p:cNvSpPr/>
          <p:nvPr/>
        </p:nvSpPr>
        <p:spPr>
          <a:xfrm>
            <a:off x="6205728" y="1767840"/>
            <a:ext cx="1706880" cy="4145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6205728" y="1767840"/>
            <a:ext cx="170688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6815328" y="1950720"/>
            <a:ext cx="487680" cy="48768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6815328" y="195072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2133" dirty="0"/>
          </a:p>
        </p:txBody>
      </p:sp>
      <p:sp>
        <p:nvSpPr>
          <p:cNvPr id="29" name="Text 27"/>
          <p:cNvSpPr/>
          <p:nvPr/>
        </p:nvSpPr>
        <p:spPr>
          <a:xfrm>
            <a:off x="6327648" y="2560320"/>
            <a:ext cx="1463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 Summary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27648" y="3230880"/>
            <a:ext cx="146304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Posted to Slack: "Config KEY_VAULT_URL missing in staging"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7888224" y="3230880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867" dirty="0"/>
          </a:p>
        </p:txBody>
      </p:sp>
      <p:sp>
        <p:nvSpPr>
          <p:cNvPr id="32" name="Shape 30"/>
          <p:cNvSpPr/>
          <p:nvPr/>
        </p:nvSpPr>
        <p:spPr>
          <a:xfrm>
            <a:off x="8132064" y="1767840"/>
            <a:ext cx="1706880" cy="4145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3" name="Shape 31"/>
          <p:cNvSpPr/>
          <p:nvPr/>
        </p:nvSpPr>
        <p:spPr>
          <a:xfrm>
            <a:off x="8132064" y="1767840"/>
            <a:ext cx="170688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8741664" y="1950720"/>
            <a:ext cx="487680" cy="48768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8741664" y="195072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2133" dirty="0"/>
          </a:p>
        </p:txBody>
      </p:sp>
      <p:sp>
        <p:nvSpPr>
          <p:cNvPr id="36" name="Text 34"/>
          <p:cNvSpPr/>
          <p:nvPr/>
        </p:nvSpPr>
        <p:spPr>
          <a:xfrm>
            <a:off x="8253984" y="2560320"/>
            <a:ext cx="1463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RAG Finds Fix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53984" y="3230880"/>
            <a:ext cx="146304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Similar issue in PR #3847 — resolved by adding env to deploy manifest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9814560" y="3230880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867" dirty="0"/>
          </a:p>
        </p:txBody>
      </p:sp>
      <p:sp>
        <p:nvSpPr>
          <p:cNvPr id="39" name="Shape 37"/>
          <p:cNvSpPr/>
          <p:nvPr/>
        </p:nvSpPr>
        <p:spPr>
          <a:xfrm>
            <a:off x="10058400" y="1767840"/>
            <a:ext cx="1706880" cy="4145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10058400" y="1767840"/>
            <a:ext cx="170688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1" name="Shape 39"/>
          <p:cNvSpPr/>
          <p:nvPr/>
        </p:nvSpPr>
        <p:spPr>
          <a:xfrm>
            <a:off x="10668000" y="1950720"/>
            <a:ext cx="487680" cy="48768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" name="Text 40"/>
          <p:cNvSpPr/>
          <p:nvPr/>
        </p:nvSpPr>
        <p:spPr>
          <a:xfrm>
            <a:off x="10668000" y="195072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2133" dirty="0"/>
          </a:p>
        </p:txBody>
      </p:sp>
      <p:sp>
        <p:nvSpPr>
          <p:cNvPr id="43" name="Text 41"/>
          <p:cNvSpPr/>
          <p:nvPr/>
        </p:nvSpPr>
        <p:spPr>
          <a:xfrm>
            <a:off x="10180320" y="2560320"/>
            <a:ext cx="1463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Gate Holds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180320" y="3230880"/>
            <a:ext cx="146304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score 8/10. Release gate: HOLD. Dev fixes and re-runs.</a:t>
            </a:r>
            <a:endParaRPr lang="en-US" sz="1467" dirty="0"/>
          </a:p>
        </p:txBody>
      </p:sp>
      <p:sp>
        <p:nvSpPr>
          <p:cNvPr id="45" name="Text 43"/>
          <p:cNvSpPr/>
          <p:nvPr/>
        </p:nvSpPr>
        <p:spPr>
          <a:xfrm>
            <a:off x="609600" y="6096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Feedback loop: The resolved config fix enriches the RAG knowledge base. Next time, the fix is suggested instantly.</a:t>
            </a:r>
            <a:endParaRPr lang="en-US" sz="1600" dirty="0"/>
          </a:p>
        </p:txBody>
      </p:sp>
      <p:sp>
        <p:nvSpPr>
          <p:cNvPr id="46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0072300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5619750" y="2709862"/>
            <a:ext cx="952500" cy="47625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/>
          </a:p>
        </p:txBody>
      </p:sp>
      <p:sp>
        <p:nvSpPr>
          <p:cNvPr id="11" name="Divider Title"/>
          <p:cNvSpPr txBox="1"/>
          <p:nvPr/>
        </p:nvSpPr>
        <p:spPr>
          <a:xfrm>
            <a:off x="907627" y="3125613"/>
            <a:ext cx="1037674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500" b="1" dirty="0">
                <a:solidFill>
                  <a:srgbClr val="003366"/>
                </a:solidFill>
                <a:latin typeface="Poppins"/>
                <a:cs typeface="Poppins"/>
                <a:sym typeface="Poppins"/>
              </a:rPr>
              <a:t>Putting It All Together The complete CAI pipeline — from commit to production</a:t>
            </a:r>
            <a:endParaRPr dirty="0"/>
          </a:p>
        </p:txBody>
      </p:sp>
      <p:sp>
        <p:nvSpPr>
          <p:cNvPr id="12" name="Overlay"/>
          <p:cNvSpPr/>
          <p:nvPr/>
        </p:nvSpPr>
        <p:spPr>
          <a:xfrm>
            <a:off x="0" y="42861"/>
            <a:ext cx="12192000" cy="6858000"/>
          </a:xfrm>
          <a:prstGeom prst="rect">
            <a:avLst/>
          </a:prstGeom>
          <a:solidFill>
            <a:srgbClr val="EBE3D0">
              <a:alpha val="1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Complete CAI Pipeline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365760" y="1463040"/>
            <a:ext cx="1767840" cy="6096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1767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Commit</a:t>
            </a:r>
            <a:endParaRPr lang="en-US" sz="1600" dirty="0"/>
          </a:p>
        </p:txBody>
      </p:sp>
      <p:pic>
        <p:nvPicPr>
          <p:cNvPr id="5" name="Image 0" descr="/sessions/intelligent-gifted-keller/deck3/images/icon-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176" y="1584960"/>
            <a:ext cx="243840" cy="243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2255520"/>
            <a:ext cx="1767840" cy="853440"/>
          </a:xfrm>
          <a:prstGeom prst="rect">
            <a:avLst/>
          </a:prstGeom>
          <a:solidFill>
            <a:srgbClr val="D5F5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365760" y="2255520"/>
            <a:ext cx="17678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Code Review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Vuln Detection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243584" y="2072640"/>
            <a:ext cx="0" cy="182880"/>
          </a:xfrm>
          <a:prstGeom prst="line">
            <a:avLst/>
          </a:prstGeom>
          <a:noFill/>
          <a:ln w="12700">
            <a:solidFill>
              <a:srgbClr val="16A085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6"/>
          <p:cNvSpPr/>
          <p:nvPr/>
        </p:nvSpPr>
        <p:spPr>
          <a:xfrm>
            <a:off x="2340864" y="1463040"/>
            <a:ext cx="1767840" cy="609600"/>
          </a:xfrm>
          <a:prstGeom prst="rect">
            <a:avLst/>
          </a:prstGeom>
          <a:solidFill>
            <a:srgbClr val="00A79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2340864" y="1463040"/>
            <a:ext cx="1767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</a:t>
            </a:r>
            <a:endParaRPr lang="en-US" sz="1600" dirty="0"/>
          </a:p>
        </p:txBody>
      </p:sp>
      <p:pic>
        <p:nvPicPr>
          <p:cNvPr id="11" name="Image 1" descr="/sessions/intelligent-gifted-keller/deck3/images/icon-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280" y="1584960"/>
            <a:ext cx="243840" cy="2438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340864" y="2255520"/>
            <a:ext cx="1767840" cy="853440"/>
          </a:xfrm>
          <a:prstGeom prst="rect">
            <a:avLst/>
          </a:prstGeom>
          <a:solidFill>
            <a:srgbClr val="D5F5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9"/>
          <p:cNvSpPr/>
          <p:nvPr/>
        </p:nvSpPr>
        <p:spPr>
          <a:xfrm>
            <a:off x="2340864" y="2255520"/>
            <a:ext cx="17678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Deps Analysis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Scoring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18688" y="2072640"/>
            <a:ext cx="0" cy="182880"/>
          </a:xfrm>
          <a:prstGeom prst="line">
            <a:avLst/>
          </a:prstGeom>
          <a:noFill/>
          <a:ln w="12700">
            <a:solidFill>
              <a:srgbClr val="16A085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1"/>
          <p:cNvSpPr/>
          <p:nvPr/>
        </p:nvSpPr>
        <p:spPr>
          <a:xfrm>
            <a:off x="4315968" y="1463040"/>
            <a:ext cx="1767840" cy="6096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2"/>
          <p:cNvSpPr/>
          <p:nvPr/>
        </p:nvSpPr>
        <p:spPr>
          <a:xfrm>
            <a:off x="4315968" y="1463040"/>
            <a:ext cx="1767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</a:t>
            </a:r>
            <a:endParaRPr lang="en-US" sz="1600" dirty="0"/>
          </a:p>
        </p:txBody>
      </p:sp>
      <p:pic>
        <p:nvPicPr>
          <p:cNvPr id="17" name="Image 2" descr="/sessions/intelligent-gifted-keller/deck3/images/icon-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384" y="1584960"/>
            <a:ext cx="243840" cy="2438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315968" y="2255520"/>
            <a:ext cx="1767840" cy="853440"/>
          </a:xfrm>
          <a:prstGeom prst="rect">
            <a:avLst/>
          </a:prstGeom>
          <a:solidFill>
            <a:srgbClr val="D5F5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4"/>
          <p:cNvSpPr/>
          <p:nvPr/>
        </p:nvSpPr>
        <p:spPr>
          <a:xfrm>
            <a:off x="4315968" y="2255520"/>
            <a:ext cx="17678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Test Synthesis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Failure Classification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193792" y="2072640"/>
            <a:ext cx="0" cy="182880"/>
          </a:xfrm>
          <a:prstGeom prst="line">
            <a:avLst/>
          </a:prstGeom>
          <a:noFill/>
          <a:ln w="12700">
            <a:solidFill>
              <a:srgbClr val="16A085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6"/>
          <p:cNvSpPr/>
          <p:nvPr/>
        </p:nvSpPr>
        <p:spPr>
          <a:xfrm>
            <a:off x="6291072" y="1463040"/>
            <a:ext cx="1767840" cy="609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17"/>
          <p:cNvSpPr/>
          <p:nvPr/>
        </p:nvSpPr>
        <p:spPr>
          <a:xfrm>
            <a:off x="6291072" y="1463040"/>
            <a:ext cx="1767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Validate</a:t>
            </a:r>
            <a:endParaRPr lang="en-US" sz="1600" dirty="0"/>
          </a:p>
        </p:txBody>
      </p:sp>
      <p:pic>
        <p:nvPicPr>
          <p:cNvPr id="23" name="Image 3" descr="/sessions/intelligent-gifted-keller/deck3/images/icon-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488" y="1584960"/>
            <a:ext cx="243840" cy="24384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291072" y="2255520"/>
            <a:ext cx="1767840" cy="853440"/>
          </a:xfrm>
          <a:prstGeom prst="rect">
            <a:avLst/>
          </a:prstGeom>
          <a:solidFill>
            <a:srgbClr val="D5F5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19"/>
          <p:cNvSpPr/>
          <p:nvPr/>
        </p:nvSpPr>
        <p:spPr>
          <a:xfrm>
            <a:off x="6291072" y="2255520"/>
            <a:ext cx="17678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 Summarization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RAG Debug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168896" y="2072640"/>
            <a:ext cx="0" cy="182880"/>
          </a:xfrm>
          <a:prstGeom prst="line">
            <a:avLst/>
          </a:prstGeom>
          <a:noFill/>
          <a:ln w="12700">
            <a:solidFill>
              <a:srgbClr val="16A085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Shape 21"/>
          <p:cNvSpPr/>
          <p:nvPr/>
        </p:nvSpPr>
        <p:spPr>
          <a:xfrm>
            <a:off x="8266176" y="1463040"/>
            <a:ext cx="1767840" cy="6096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2"/>
          <p:cNvSpPr/>
          <p:nvPr/>
        </p:nvSpPr>
        <p:spPr>
          <a:xfrm>
            <a:off x="8266176" y="1463040"/>
            <a:ext cx="1767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Release</a:t>
            </a:r>
            <a:endParaRPr lang="en-US" sz="1600" dirty="0"/>
          </a:p>
        </p:txBody>
      </p:sp>
      <p:pic>
        <p:nvPicPr>
          <p:cNvPr id="29" name="Image 4" descr="/sessions/intelligent-gifted-keller/deck3/images/icon-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592" y="1584960"/>
            <a:ext cx="243840" cy="24384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266176" y="2255520"/>
            <a:ext cx="1767840" cy="853440"/>
          </a:xfrm>
          <a:prstGeom prst="rect">
            <a:avLst/>
          </a:prstGeom>
          <a:solidFill>
            <a:srgbClr val="D5F5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1" name="Text 24"/>
          <p:cNvSpPr/>
          <p:nvPr/>
        </p:nvSpPr>
        <p:spPr>
          <a:xfrm>
            <a:off x="8266176" y="2255520"/>
            <a:ext cx="17678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Release Gate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Confidence Score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9144000" y="2072640"/>
            <a:ext cx="0" cy="182880"/>
          </a:xfrm>
          <a:prstGeom prst="line">
            <a:avLst/>
          </a:prstGeom>
          <a:noFill/>
          <a:ln w="12700">
            <a:solidFill>
              <a:srgbClr val="16A085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Shape 26"/>
          <p:cNvSpPr/>
          <p:nvPr/>
        </p:nvSpPr>
        <p:spPr>
          <a:xfrm>
            <a:off x="10241280" y="1463040"/>
            <a:ext cx="1767840" cy="609600"/>
          </a:xfrm>
          <a:prstGeom prst="rect">
            <a:avLst/>
          </a:prstGeom>
          <a:solidFill>
            <a:srgbClr val="00A79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4" name="Text 27"/>
          <p:cNvSpPr/>
          <p:nvPr/>
        </p:nvSpPr>
        <p:spPr>
          <a:xfrm>
            <a:off x="10241280" y="1463040"/>
            <a:ext cx="1767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Deploy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10241280" y="2255520"/>
            <a:ext cx="1767840" cy="853440"/>
          </a:xfrm>
          <a:prstGeom prst="rect">
            <a:avLst/>
          </a:prstGeom>
          <a:solidFill>
            <a:srgbClr val="D5F5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Text 29"/>
          <p:cNvSpPr/>
          <p:nvPr/>
        </p:nvSpPr>
        <p:spPr>
          <a:xfrm>
            <a:off x="10241280" y="2255520"/>
            <a:ext cx="17678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Canary Analysis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Auto-Rollback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11119104" y="2072640"/>
            <a:ext cx="0" cy="182880"/>
          </a:xfrm>
          <a:prstGeom prst="line">
            <a:avLst/>
          </a:prstGeom>
          <a:noFill/>
          <a:ln w="12700">
            <a:solidFill>
              <a:srgbClr val="16A085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Shape 31"/>
          <p:cNvSpPr/>
          <p:nvPr/>
        </p:nvSpPr>
        <p:spPr>
          <a:xfrm>
            <a:off x="365760" y="3657600"/>
            <a:ext cx="11460480" cy="609600"/>
          </a:xfrm>
          <a:prstGeom prst="rect">
            <a:avLst/>
          </a:prstGeom>
          <a:solidFill>
            <a:srgbClr val="01193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" name="Text 32"/>
          <p:cNvSpPr/>
          <p:nvPr/>
        </p:nvSpPr>
        <p:spPr>
          <a:xfrm>
            <a:off x="365760" y="3657600"/>
            <a:ext cx="114604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Feedback Loop: every failure, fix, and deployment outcome feeds back into the system</a:t>
            </a:r>
            <a:endParaRPr lang="en-US" sz="1600" dirty="0"/>
          </a:p>
        </p:txBody>
      </p:sp>
      <p:sp>
        <p:nvSpPr>
          <p:cNvPr id="40" name="Text 33"/>
          <p:cNvSpPr/>
          <p:nvPr/>
        </p:nvSpPr>
        <p:spPr>
          <a:xfrm>
            <a:off x="609600" y="463296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pipeline gets smarter over time — this is "continuous" in the truest sense.</a:t>
            </a:r>
            <a:endParaRPr lang="en-US" sz="1867" dirty="0"/>
          </a:p>
        </p:txBody>
      </p:sp>
      <p:sp>
        <p:nvSpPr>
          <p:cNvPr id="41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32</a:t>
            </a:r>
          </a:p>
        </p:txBody>
      </p:sp>
    </p:spTree>
    <p:extLst>
      <p:ext uri="{BB962C8B-B14F-4D97-AF65-F5344CB8AC3E}">
        <ns3:creationId val="28627602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Feedback Loop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341120"/>
            <a:ext cx="1097280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8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stage generates data that makes the next run smarter:</a:t>
            </a:r>
            <a:endParaRPr lang="en-US" sz="1867" dirty="0"/>
          </a:p>
          <a:p>
            <a:pPr>
              <a:spcAft>
                <a:spcPts val="800"/>
              </a:spcAft>
            </a:pPr>
            <a:endParaRPr lang="en-US" sz="1867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8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Failed tests → train the failure classifier</a:t>
            </a:r>
            <a:endParaRPr lang="en-US" sz="1867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8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Resolved PRs → enrich the RAG debugging knowledge base</a:t>
            </a:r>
            <a:endParaRPr lang="en-US" sz="1867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8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Deployment outcomes → refine the risk scoring model</a:t>
            </a:r>
            <a:endParaRPr lang="en-US" sz="1867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867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Rollbacks → update release gate thresholds</a:t>
            </a:r>
            <a:endParaRPr lang="en-US" sz="1867" dirty="0"/>
          </a:p>
          <a:p>
            <a:pPr>
              <a:spcAft>
                <a:spcPts val="800"/>
              </a:spcAft>
            </a:pPr>
            <a:endParaRPr lang="en-US" sz="1867" dirty="0"/>
          </a:p>
          <a:p>
            <a:pPr>
              <a:spcAft>
                <a:spcPts val="800"/>
              </a:spcAft>
            </a:pPr>
            <a:r>
              <a:rPr lang="en-US" sz="1867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what separates CAI from "AI in CI" — it's not a one-shot addition. It's a learning system that improves with every cycle.</a:t>
            </a:r>
            <a:endParaRPr lang="en-US" sz="1867" dirty="0"/>
          </a:p>
        </p:txBody>
      </p:sp>
      <p:sp>
        <p:nvSpPr>
          <p:cNvPr id="4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8795031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84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Smallest Useful CAI Stack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609600" y="1341120"/>
            <a:ext cx="1645920" cy="21945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609600" y="1341120"/>
            <a:ext cx="1645920" cy="426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09600" y="1341120"/>
            <a:ext cx="1645920" cy="548640"/>
          </a:xfrm>
          <a:prstGeom prst="roundRect">
            <a:avLst>
              <a:gd name="adj" fmla="val 11111"/>
            </a:avLst>
          </a:prstGeom>
          <a:solidFill>
            <a:srgbClr val="00336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365504"/>
            <a:ext cx="1645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 Runner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707136" y="1950720"/>
            <a:ext cx="14508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Actions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GitLab CI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Jenkins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55520" y="2072640"/>
            <a:ext cx="243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6A085"/>
                </a:solidFill>
              </a:rPr>
              <a:t>→</a:t>
            </a:r>
            <a:endParaRPr lang="en-US" sz="2133" dirty="0"/>
          </a:p>
        </p:txBody>
      </p:sp>
      <p:sp>
        <p:nvSpPr>
          <p:cNvPr id="9" name="Shape 7"/>
          <p:cNvSpPr/>
          <p:nvPr/>
        </p:nvSpPr>
        <p:spPr>
          <a:xfrm>
            <a:off x="2438400" y="1341120"/>
            <a:ext cx="1645920" cy="21945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2438400" y="1341120"/>
            <a:ext cx="1645920" cy="42672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2438400" y="1341120"/>
            <a:ext cx="1645920" cy="548640"/>
          </a:xfrm>
          <a:prstGeom prst="roundRect">
            <a:avLst>
              <a:gd name="adj" fmla="val 11111"/>
            </a:avLst>
          </a:prstGeom>
          <a:solidFill>
            <a:srgbClr val="8B00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2438400" y="1365504"/>
            <a:ext cx="1645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Redaction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2535936" y="1950720"/>
            <a:ext cx="14508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Strip secrets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Sanitize logs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Mask PII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84320" y="2072640"/>
            <a:ext cx="243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6A085"/>
                </a:solidFill>
              </a:rPr>
              <a:t>→</a:t>
            </a:r>
            <a:endParaRPr lang="en-US" sz="2133" dirty="0"/>
          </a:p>
        </p:txBody>
      </p:sp>
      <p:sp>
        <p:nvSpPr>
          <p:cNvPr id="15" name="Shape 13"/>
          <p:cNvSpPr/>
          <p:nvPr/>
        </p:nvSpPr>
        <p:spPr>
          <a:xfrm>
            <a:off x="4267200" y="1341120"/>
            <a:ext cx="1645920" cy="21945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4267200" y="1341120"/>
            <a:ext cx="1645920" cy="42672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4267200" y="1341120"/>
            <a:ext cx="1645920" cy="548640"/>
          </a:xfrm>
          <a:prstGeom prst="roundRect">
            <a:avLst>
              <a:gd name="adj" fmla="val 11111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4267200" y="1365504"/>
            <a:ext cx="1645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Gateway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4364736" y="1950720"/>
            <a:ext cx="14508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limits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Retry logic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Fallback rules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13120" y="2072640"/>
            <a:ext cx="243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6A085"/>
                </a:solidFill>
              </a:rPr>
              <a:t>→</a:t>
            </a:r>
            <a:endParaRPr lang="en-US" sz="2133" dirty="0"/>
          </a:p>
        </p:txBody>
      </p:sp>
      <p:sp>
        <p:nvSpPr>
          <p:cNvPr id="21" name="Shape 19"/>
          <p:cNvSpPr/>
          <p:nvPr/>
        </p:nvSpPr>
        <p:spPr>
          <a:xfrm>
            <a:off x="6096000" y="1341120"/>
            <a:ext cx="1645920" cy="21945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6096000" y="1341120"/>
            <a:ext cx="1645920" cy="42672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6096000" y="1341120"/>
            <a:ext cx="1645920" cy="548640"/>
          </a:xfrm>
          <a:prstGeom prst="roundRect">
            <a:avLst>
              <a:gd name="adj" fmla="val 11111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6096000" y="1365504"/>
            <a:ext cx="1645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Vector Store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6193536" y="1950720"/>
            <a:ext cx="14508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Past failures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Resolutions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Runbooks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41920" y="2072640"/>
            <a:ext cx="243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6A085"/>
                </a:solidFill>
              </a:rPr>
              <a:t>→</a:t>
            </a:r>
            <a:endParaRPr lang="en-US" sz="2133" dirty="0"/>
          </a:p>
        </p:txBody>
      </p:sp>
      <p:sp>
        <p:nvSpPr>
          <p:cNvPr id="27" name="Shape 25"/>
          <p:cNvSpPr/>
          <p:nvPr/>
        </p:nvSpPr>
        <p:spPr>
          <a:xfrm>
            <a:off x="7924800" y="1341120"/>
            <a:ext cx="1645920" cy="21945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7924800" y="1341120"/>
            <a:ext cx="1645920" cy="426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9" name="Shape 27"/>
          <p:cNvSpPr/>
          <p:nvPr/>
        </p:nvSpPr>
        <p:spPr>
          <a:xfrm>
            <a:off x="7924800" y="1341120"/>
            <a:ext cx="1645920" cy="548640"/>
          </a:xfrm>
          <a:prstGeom prst="roundRect">
            <a:avLst>
              <a:gd name="adj" fmla="val 11111"/>
            </a:avLst>
          </a:prstGeom>
          <a:solidFill>
            <a:srgbClr val="00336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7924800" y="1365504"/>
            <a:ext cx="1645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Policy Engine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8022336" y="1950720"/>
            <a:ext cx="14508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Thresholds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Approval rules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70720" y="2072640"/>
            <a:ext cx="243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6A085"/>
                </a:solidFill>
              </a:rPr>
              <a:t>→</a:t>
            </a:r>
            <a:endParaRPr lang="en-US" sz="2133" dirty="0"/>
          </a:p>
        </p:txBody>
      </p:sp>
      <p:sp>
        <p:nvSpPr>
          <p:cNvPr id="33" name="Shape 31"/>
          <p:cNvSpPr/>
          <p:nvPr/>
        </p:nvSpPr>
        <p:spPr>
          <a:xfrm>
            <a:off x="9753600" y="1341120"/>
            <a:ext cx="1645920" cy="21945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9753600" y="1341120"/>
            <a:ext cx="1645920" cy="426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9753600" y="1341120"/>
            <a:ext cx="1645920" cy="548640"/>
          </a:xfrm>
          <a:prstGeom prst="roundRect">
            <a:avLst>
              <a:gd name="adj" fmla="val 11111"/>
            </a:avLst>
          </a:prstGeom>
          <a:solidFill>
            <a:srgbClr val="00336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9753600" y="1365504"/>
            <a:ext cx="1645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 Log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9851136" y="1950720"/>
            <a:ext cx="14508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decision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Inputs + outputs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Override history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9600" y="3901440"/>
            <a:ext cx="10972800" cy="8534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16A085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853440" y="3962400"/>
            <a:ext cx="1048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 Approval Point  </a:t>
            </a:r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AI decision flows through a human review gate. The stack above handles the plumbing — redaction, routing, caching, audit. Humans handle judgment.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9600" y="49987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decisions: </a:t>
            </a:r>
            <a:r>
              <a:rPr lang="en-US" sz="1333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Hosted API vs. private model  |  Log retention policy  |  Prompt versioning  |  Fallback when model unavailable  |  Data residency</a:t>
            </a:r>
            <a:endParaRPr lang="en-US" sz="1333" dirty="0"/>
          </a:p>
        </p:txBody>
      </p:sp>
      <p:sp>
        <p:nvSpPr>
          <p:cNvPr id="41" name="Text 39"/>
          <p:cNvSpPr/>
          <p:nvPr/>
        </p:nvSpPr>
        <p:spPr>
          <a:xfrm>
            <a:off x="609600" y="5608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i="1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Minimum infrastructure for production CAI | Not shown: secret redaction, cost controls, model fallback, timeout handling</a:t>
            </a:r>
            <a:endParaRPr lang="en-US" sz="1333" dirty="0"/>
          </a:p>
        </p:txBody>
      </p:sp>
      <p:sp>
        <p:nvSpPr>
          <p:cNvPr id="42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2075653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Minimal CAI Workflow in One Repo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15824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the file tree looks like when you put it all together</a:t>
            </a:r>
            <a:endParaRPr lang="en-US" sz="1867" dirty="0"/>
          </a:p>
        </p:txBody>
      </p:sp>
      <p:sp>
        <p:nvSpPr>
          <p:cNvPr id="4" name="Shape 2"/>
          <p:cNvSpPr/>
          <p:nvPr/>
        </p:nvSpPr>
        <p:spPr>
          <a:xfrm>
            <a:off x="609600" y="1889760"/>
            <a:ext cx="5852160" cy="4267200"/>
          </a:xfrm>
          <a:prstGeom prst="roundRect">
            <a:avLst>
              <a:gd name="adj" fmla="val 2286"/>
            </a:avLst>
          </a:prstGeom>
          <a:solidFill>
            <a:srgbClr val="1D1D1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53440" y="2011680"/>
            <a:ext cx="5364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my-service/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.github/workflows/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ci.yml            # standard CI + AI steps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release-gate.yml   # multi-signal gate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scripts/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redact_logs.py     # strip secrets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classify_failure.py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summarize_log.py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risk_scorer.py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rag/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index_failure.py   # ingest to vector DB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query_similar.py   # semantic search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policy/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release_gate.yaml  # thresholds + rules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risk_weights.yaml  # scoring config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metrics/</a:t>
            </a:r>
            <a:endParaRPr lang="en-US" sz="1467" dirty="0"/>
          </a:p>
          <a:p>
            <a:pPr>
              <a:lnSpc>
                <a:spcPct val="115000"/>
              </a:lnSpc>
            </a:pPr>
            <a:r>
              <a:rPr lang="en-US" sz="1467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cai_dashboard.json # eval tracking</a:t>
            </a:r>
            <a:endParaRPr lang="en-US" sz="1467" dirty="0"/>
          </a:p>
        </p:txBody>
      </p:sp>
      <p:sp>
        <p:nvSpPr>
          <p:cNvPr id="6" name="Shape 4"/>
          <p:cNvSpPr/>
          <p:nvPr/>
        </p:nvSpPr>
        <p:spPr>
          <a:xfrm>
            <a:off x="6827520" y="1889760"/>
            <a:ext cx="4754880" cy="7315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827520" y="1889760"/>
            <a:ext cx="73152" cy="73152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7071360" y="1914144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 Workflow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71360" y="2231136"/>
            <a:ext cx="4267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Actions YAML with AI steps wired in as failure handlers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6827520" y="2804160"/>
            <a:ext cx="4754880" cy="7315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6827520" y="2804160"/>
            <a:ext cx="73152" cy="73152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071360" y="2828544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Scripts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71360" y="3145536"/>
            <a:ext cx="4267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CLI tools — each one is a single-purpose AI step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827520" y="3718560"/>
            <a:ext cx="4754880" cy="7315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6827520" y="3718560"/>
            <a:ext cx="73152" cy="731520"/>
          </a:xfrm>
          <a:prstGeom prst="rect">
            <a:avLst/>
          </a:prstGeom>
          <a:solidFill>
            <a:srgbClr val="00A79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7071360" y="3742944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RAG 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71360" y="4059936"/>
            <a:ext cx="4267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Vector DB indexing + retrieval for institutional memory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6827520" y="4632960"/>
            <a:ext cx="4754880" cy="7315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6827520" y="4632960"/>
            <a:ext cx="73152" cy="731520"/>
          </a:xfrm>
          <a:prstGeom prst="rect">
            <a:avLst/>
          </a:prstGeom>
          <a:solidFill>
            <a:srgbClr val="00A79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7071360" y="4657344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Policy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71360" y="4974336"/>
            <a:ext cx="4267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Declarative YAML — version-controlled, auditable, reviewable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6827520" y="5364480"/>
            <a:ext cx="4754880" cy="7315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6827520" y="5364480"/>
            <a:ext cx="73152" cy="73152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7071360" y="5388864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Metrics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71360" y="5705856"/>
            <a:ext cx="42672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triage time, summary accuracy, gate overrides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6096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 here is a text file in your repo — no special infrastructure on day one</a:t>
            </a:r>
            <a:endParaRPr lang="en-US" sz="1333" dirty="0"/>
          </a:p>
        </p:txBody>
      </p:sp>
      <p:sp>
        <p:nvSpPr>
          <p:cNvPr id="27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2804295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84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Where CAI Pays for Itself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 AI investment to pipeline value — not every step needs a frontier model</a:t>
            </a:r>
            <a:endParaRPr lang="en-US" sz="1867" dirty="0"/>
          </a:p>
        </p:txBody>
      </p:sp>
      <p:sp>
        <p:nvSpPr>
          <p:cNvPr id="4" name="Text 2"/>
          <p:cNvSpPr/>
          <p:nvPr/>
        </p:nvSpPr>
        <p:spPr>
          <a:xfrm>
            <a:off x="609600" y="1645920"/>
            <a:ext cx="2438400" cy="426720"/>
          </a:xfrm>
          <a:prstGeom prst="rect">
            <a:avLst/>
          </a:prstGeom>
          <a:solidFill>
            <a:srgbClr val="011936"/>
          </a:solidFill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CAI Task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69920" y="1645920"/>
            <a:ext cx="2621280" cy="426720"/>
          </a:xfrm>
          <a:prstGeom prst="rect">
            <a:avLst/>
          </a:prstGeom>
          <a:solidFill>
            <a:srgbClr val="011936"/>
          </a:solidFill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Tier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13120" y="1645920"/>
            <a:ext cx="1767840" cy="426720"/>
          </a:xfrm>
          <a:prstGeom prst="rect">
            <a:avLst/>
          </a:prstGeom>
          <a:solidFill>
            <a:srgbClr val="011936"/>
          </a:solidFill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Latency Budget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02880" y="1645920"/>
            <a:ext cx="3779520" cy="426720"/>
          </a:xfrm>
          <a:prstGeom prst="rect">
            <a:avLst/>
          </a:prstGeom>
          <a:solidFill>
            <a:srgbClr val="011936"/>
          </a:solidFill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ROI Signal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2109216"/>
            <a:ext cx="24384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135467" rIns="0" bIns="0" rtlCol="0" anchor="ctr"/>
          <a:lstStyle/>
          <a:p>
            <a:r>
              <a:rPr lang="en-US" sz="1467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 Summarization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3169920" y="2109216"/>
            <a:ext cx="262128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Small / Fast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5913120" y="2109216"/>
            <a:ext cx="176784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Async OK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7802880" y="2109216"/>
            <a:ext cx="97536" cy="585216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949184" y="2109216"/>
            <a:ext cx="3633216" cy="5852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 — saves every developer minutes daily</a:t>
            </a:r>
            <a:endParaRPr lang="en-US" sz="1267" dirty="0"/>
          </a:p>
        </p:txBody>
      </p:sp>
      <p:sp>
        <p:nvSpPr>
          <p:cNvPr id="13" name="Text 11"/>
          <p:cNvSpPr/>
          <p:nvPr/>
        </p:nvSpPr>
        <p:spPr>
          <a:xfrm>
            <a:off x="609600" y="2743200"/>
            <a:ext cx="2438400" cy="585216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0" tIns="135467" rIns="0" bIns="0" rtlCol="0" anchor="ctr"/>
          <a:lstStyle/>
          <a:p>
            <a:r>
              <a:rPr lang="en-US" sz="1467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Failure Classification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3169920" y="2743200"/>
            <a:ext cx="2621280" cy="585216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Small / Fast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5913120" y="2743200"/>
            <a:ext cx="1767840" cy="585216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30s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7802880" y="2743200"/>
            <a:ext cx="97536" cy="585216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7949184" y="2743200"/>
            <a:ext cx="3633216" cy="585216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 — eliminates manual triage</a:t>
            </a:r>
            <a:endParaRPr lang="en-US" sz="1267" dirty="0"/>
          </a:p>
        </p:txBody>
      </p:sp>
      <p:sp>
        <p:nvSpPr>
          <p:cNvPr id="18" name="Text 16"/>
          <p:cNvSpPr/>
          <p:nvPr/>
        </p:nvSpPr>
        <p:spPr>
          <a:xfrm>
            <a:off x="609600" y="3377184"/>
            <a:ext cx="24384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135467" rIns="0" bIns="0" rtlCol="0" anchor="ctr"/>
          <a:lstStyle/>
          <a:p>
            <a:r>
              <a:rPr lang="en-US" sz="1467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RAG Debug Lookup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3169920" y="3377184"/>
            <a:ext cx="262128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Embedding + retrieval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5913120" y="3377184"/>
            <a:ext cx="176784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10s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7802880" y="3377184"/>
            <a:ext cx="97536" cy="58521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7949184" y="3377184"/>
            <a:ext cx="3633216" cy="5852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 — compounds over time</a:t>
            </a:r>
            <a:endParaRPr lang="en-US" sz="1267" dirty="0"/>
          </a:p>
        </p:txBody>
      </p:sp>
      <p:sp>
        <p:nvSpPr>
          <p:cNvPr id="23" name="Text 21"/>
          <p:cNvSpPr/>
          <p:nvPr/>
        </p:nvSpPr>
        <p:spPr>
          <a:xfrm>
            <a:off x="609600" y="4011168"/>
            <a:ext cx="2438400" cy="585216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0" tIns="135467" rIns="0" bIns="0" rtlCol="0" anchor="ctr"/>
          <a:lstStyle/>
          <a:p>
            <a:r>
              <a:rPr lang="en-US" sz="1467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Synthesis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3169920" y="4011168"/>
            <a:ext cx="2621280" cy="585216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Frontier model</a:t>
            </a:r>
            <a:endParaRPr lang="en-US" sz="1333" dirty="0"/>
          </a:p>
        </p:txBody>
      </p:sp>
      <p:sp>
        <p:nvSpPr>
          <p:cNvPr id="25" name="Text 23"/>
          <p:cNvSpPr/>
          <p:nvPr/>
        </p:nvSpPr>
        <p:spPr>
          <a:xfrm>
            <a:off x="5913120" y="4011168"/>
            <a:ext cx="1767840" cy="585216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Minutes OK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7802880" y="4011168"/>
            <a:ext cx="97536" cy="58521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7949184" y="4011168"/>
            <a:ext cx="3633216" cy="585216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 — quality varies by codebase</a:t>
            </a:r>
            <a:endParaRPr lang="en-US" sz="1267" dirty="0"/>
          </a:p>
        </p:txBody>
      </p:sp>
      <p:sp>
        <p:nvSpPr>
          <p:cNvPr id="28" name="Text 26"/>
          <p:cNvSpPr/>
          <p:nvPr/>
        </p:nvSpPr>
        <p:spPr>
          <a:xfrm>
            <a:off x="609600" y="4645152"/>
            <a:ext cx="24384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135467" rIns="0" bIns="0" rtlCol="0" anchor="ctr"/>
          <a:lstStyle/>
          <a:p>
            <a:r>
              <a:rPr lang="en-US" sz="1467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Scoring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3169920" y="4645152"/>
            <a:ext cx="262128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Small model or heuristic</a:t>
            </a:r>
            <a:endParaRPr lang="en-US" sz="1333" dirty="0"/>
          </a:p>
        </p:txBody>
      </p:sp>
      <p:sp>
        <p:nvSpPr>
          <p:cNvPr id="30" name="Text 28"/>
          <p:cNvSpPr/>
          <p:nvPr/>
        </p:nvSpPr>
        <p:spPr>
          <a:xfrm>
            <a:off x="5913120" y="4645152"/>
            <a:ext cx="176784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5s</a:t>
            </a:r>
            <a:endParaRPr lang="en-US" sz="1333" dirty="0"/>
          </a:p>
        </p:txBody>
      </p:sp>
      <p:sp>
        <p:nvSpPr>
          <p:cNvPr id="31" name="Shape 29"/>
          <p:cNvSpPr/>
          <p:nvPr/>
        </p:nvSpPr>
        <p:spPr>
          <a:xfrm>
            <a:off x="7802880" y="4645152"/>
            <a:ext cx="97536" cy="585216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7949184" y="4645152"/>
            <a:ext cx="3633216" cy="5852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 — immediate pipeline routing</a:t>
            </a:r>
            <a:endParaRPr lang="en-US" sz="1267" dirty="0"/>
          </a:p>
        </p:txBody>
      </p:sp>
      <p:sp>
        <p:nvSpPr>
          <p:cNvPr id="33" name="Text 31"/>
          <p:cNvSpPr/>
          <p:nvPr/>
        </p:nvSpPr>
        <p:spPr>
          <a:xfrm>
            <a:off x="609600" y="5279136"/>
            <a:ext cx="2438400" cy="585216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0" tIns="135467" rIns="0" bIns="0" rtlCol="0" anchor="ctr"/>
          <a:lstStyle/>
          <a:p>
            <a:r>
              <a:rPr lang="en-US" sz="1467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Release Gate</a:t>
            </a:r>
            <a:endParaRPr lang="en-US" sz="1467" dirty="0"/>
          </a:p>
        </p:txBody>
      </p:sp>
      <p:sp>
        <p:nvSpPr>
          <p:cNvPr id="34" name="Text 32"/>
          <p:cNvSpPr/>
          <p:nvPr/>
        </p:nvSpPr>
        <p:spPr>
          <a:xfrm>
            <a:off x="3169920" y="5279136"/>
            <a:ext cx="2621280" cy="585216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Frontier (high-stakes)</a:t>
            </a:r>
            <a:endParaRPr lang="en-US" sz="1333" dirty="0"/>
          </a:p>
        </p:txBody>
      </p:sp>
      <p:sp>
        <p:nvSpPr>
          <p:cNvPr id="35" name="Text 33"/>
          <p:cNvSpPr/>
          <p:nvPr/>
        </p:nvSpPr>
        <p:spPr>
          <a:xfrm>
            <a:off x="5913120" y="5279136"/>
            <a:ext cx="1767840" cy="585216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60s</a:t>
            </a:r>
            <a:endParaRPr lang="en-US" sz="1333" dirty="0"/>
          </a:p>
        </p:txBody>
      </p:sp>
      <p:sp>
        <p:nvSpPr>
          <p:cNvPr id="36" name="Shape 34"/>
          <p:cNvSpPr/>
          <p:nvPr/>
        </p:nvSpPr>
        <p:spPr>
          <a:xfrm>
            <a:off x="7802880" y="5279136"/>
            <a:ext cx="97536" cy="585216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7949184" y="5279136"/>
            <a:ext cx="3633216" cy="585216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 — but only after trust is built</a:t>
            </a:r>
            <a:endParaRPr lang="en-US" sz="1267" dirty="0"/>
          </a:p>
        </p:txBody>
      </p:sp>
      <p:sp>
        <p:nvSpPr>
          <p:cNvPr id="38" name="Text 36"/>
          <p:cNvSpPr/>
          <p:nvPr/>
        </p:nvSpPr>
        <p:spPr>
          <a:xfrm>
            <a:off x="609600" y="591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i="1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with high-ROI, low-cost tasks (log summarization, failure classification). Reserve frontier models for high-stakes decisions.</a:t>
            </a:r>
            <a:endParaRPr lang="en-US" sz="1467" dirty="0"/>
          </a:p>
        </p:txBody>
      </p:sp>
      <p:sp>
        <p:nvSpPr>
          <p:cNvPr id="39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4424704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 Tools for Real Pipelines</a:t>
            </a:r>
            <a:endParaRPr lang="en-US" sz="4533" dirty="0"/>
          </a:p>
          <a:p>
            <a:r>
              <a:rPr lang="en-US" sz="1867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 mature tooling for standard stages | Build custom AI for your specific patterns</a:t>
            </a:r>
            <a:endParaRPr lang="en-US" sz="1867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41120"/>
          <a:ext cx="10972800" cy="42672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Pipeline Stage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Tools Available Today</a:t>
                      </a:r>
                      <a:endParaRPr lang="en-US" sz="1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Code Review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GitHub Copilot, Claude Code, Cursor, CodeRabbit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Testing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Mabl, BrowserStack, Cypress AI, Qodo, DiffBlue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Security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Snyk, Checkmarx, SonarQube AI, Semgrep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Feature Flags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LaunchDarkly, Split, Flagsmith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Custom AI Steps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OpenAI API, Anthropic API, Claude CLI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Monitoring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Datadog AI, New Relic AIOps, Grafana ML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Integration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MCP (Model Context Protocol) — leading standard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585216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don't need to build everything from scratch. The ecosystem is here.</a:t>
            </a:r>
            <a:endParaRPr lang="en-US" sz="1733" dirty="0"/>
          </a:p>
        </p:txBody>
      </p:sp>
      <p:sp>
        <p:nvSpPr>
          <p:cNvPr id="30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41040174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CAI Needs a Standard Tool Interface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609600" y="1341120"/>
            <a:ext cx="10972800" cy="2438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609600" y="1341120"/>
            <a:ext cx="97536" cy="24384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975360" y="1584960"/>
            <a:ext cx="1036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Context Protocol (MCP) </a:t>
            </a:r>
            <a:r>
              <a:rPr lang="en-US" sz="20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becoming a leading standard for connecting AI to enterprise tools.</a:t>
            </a:r>
            <a:endParaRPr lang="en-US" sz="2000" dirty="0"/>
          </a:p>
          <a:p>
            <a:endParaRPr lang="en-US" sz="2000" dirty="0"/>
          </a:p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Problem: Each AI step needs different data — code, logs, metrics, configs. Without a standard, you write custom integrations for every tool. MCP solves this with one protocol for all AI-to-tool connections.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600" y="426720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Broad ecosystem support across major AI platforms</a:t>
            </a: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| Adopted by Anthropic, OpenAI, Google, Microsoft</a:t>
            </a:r>
            <a:endParaRPr lang="en-US" sz="1867" dirty="0"/>
          </a:p>
        </p:txBody>
      </p:sp>
      <p:sp>
        <p:nvSpPr>
          <p:cNvPr id="7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2543548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7315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Getting Started: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97536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Monday Morning Plan</a:t>
            </a:r>
            <a:endParaRPr lang="en-US" sz="2133" dirty="0"/>
          </a:p>
        </p:txBody>
      </p:sp>
      <p:sp>
        <p:nvSpPr>
          <p:cNvPr id="4" name="Shape 2"/>
          <p:cNvSpPr/>
          <p:nvPr/>
        </p:nvSpPr>
        <p:spPr>
          <a:xfrm>
            <a:off x="609600" y="1645920"/>
            <a:ext cx="548640" cy="5486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096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41120" y="164592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 Summarization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4389120" y="1645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Lowest effort, highest visibility. Start here.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19360" y="1743456"/>
            <a:ext cx="1463040" cy="36576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10119360" y="174345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Easy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609600" y="2438400"/>
            <a:ext cx="548640" cy="5486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2438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41120" y="243840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Failure Classification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4389120" y="2438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 to your flakiest pipeline first.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19360" y="2535936"/>
            <a:ext cx="1463040" cy="36576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10119360" y="253593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Easy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609600" y="3230880"/>
            <a:ext cx="548640" cy="5486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609600" y="3230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41120" y="323088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RAG Debug Knowledge Base</a:t>
            </a:r>
            <a:endParaRPr lang="en-US" sz="1867" dirty="0"/>
          </a:p>
        </p:txBody>
      </p:sp>
      <p:sp>
        <p:nvSpPr>
          <p:cNvPr id="19" name="Text 17"/>
          <p:cNvSpPr/>
          <p:nvPr/>
        </p:nvSpPr>
        <p:spPr>
          <a:xfrm>
            <a:off x="4389120" y="3230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indexing past failures today.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19360" y="3328416"/>
            <a:ext cx="1463040" cy="3657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10119360" y="332841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609600" y="4023360"/>
            <a:ext cx="548640" cy="5486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60960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41120" y="402336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 Scoring</a:t>
            </a:r>
            <a:endParaRPr lang="en-US" sz="1867" dirty="0"/>
          </a:p>
        </p:txBody>
      </p:sp>
      <p:sp>
        <p:nvSpPr>
          <p:cNvPr id="25" name="Text 23"/>
          <p:cNvSpPr/>
          <p:nvPr/>
        </p:nvSpPr>
        <p:spPr>
          <a:xfrm>
            <a:off x="4389120" y="4023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 a simple heuristic beats treating all PRs the same.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119360" y="4120896"/>
            <a:ext cx="1463040" cy="3657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10119360" y="41208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609600" y="4815840"/>
            <a:ext cx="548640" cy="5486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609600" y="481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341120" y="481584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Test Synthesis</a:t>
            </a:r>
            <a:endParaRPr lang="en-US" sz="1867" dirty="0"/>
          </a:p>
        </p:txBody>
      </p:sp>
      <p:sp>
        <p:nvSpPr>
          <p:cNvPr id="31" name="Text 29"/>
          <p:cNvSpPr/>
          <p:nvPr/>
        </p:nvSpPr>
        <p:spPr>
          <a:xfrm>
            <a:off x="4389120" y="4815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with one project, one test type.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119360" y="4913376"/>
            <a:ext cx="1463040" cy="3657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10119360" y="49133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09600" y="5608320"/>
            <a:ext cx="548640" cy="5486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609600" y="5608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341120" y="560832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Release Gates</a:t>
            </a:r>
            <a:endParaRPr lang="en-US" sz="1867" dirty="0"/>
          </a:p>
        </p:txBody>
      </p:sp>
      <p:sp>
        <p:nvSpPr>
          <p:cNvPr id="37" name="Text 35"/>
          <p:cNvSpPr/>
          <p:nvPr/>
        </p:nvSpPr>
        <p:spPr>
          <a:xfrm>
            <a:off x="4389120" y="5608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capstone — build once you trust the signals.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119360" y="5705856"/>
            <a:ext cx="1463040" cy="3657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10119360" y="570585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</a:t>
            </a:r>
            <a:endParaRPr lang="en-US" sz="1333" dirty="0"/>
          </a:p>
        </p:txBody>
      </p:sp>
      <p:sp>
        <p:nvSpPr>
          <p:cNvPr id="40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42935384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Don't Boil the Ocean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1219200" y="1584960"/>
            <a:ext cx="9753600" cy="2438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219200" y="1584960"/>
            <a:ext cx="97536" cy="24384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1584960" y="1828800"/>
            <a:ext cx="902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 one pattern. One pipeline. One team.</a:t>
            </a:r>
            <a:endParaRPr lang="en-US" sz="2400" dirty="0"/>
          </a:p>
          <a:p>
            <a:endParaRPr lang="en-US" sz="2400" dirty="0"/>
          </a:p>
          <a:p>
            <a:r>
              <a:rPr lang="en-US" sz="21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it working. Show the results. Let it spread.</a:t>
            </a:r>
            <a:endParaRPr lang="en-US" sz="2400" dirty="0"/>
          </a:p>
          <a:p>
            <a:endParaRPr lang="en-US" sz="2400" dirty="0"/>
          </a:p>
          <a:p>
            <a:r>
              <a:rPr lang="en-US" sz="1867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best CAI implementations start small and grow organically — not with a mandate from above.</a:t>
            </a:r>
            <a:endParaRPr lang="en-US" sz="2400" dirty="0"/>
          </a:p>
        </p:txBody>
      </p:sp>
      <p:sp>
        <p:nvSpPr>
          <p:cNvPr id="6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6456987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84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How You Know CAI Is Helping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609600" y="1341120"/>
            <a:ext cx="3413760" cy="16459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609600" y="1402080"/>
            <a:ext cx="73152" cy="15240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792480" y="1438656"/>
            <a:ext cx="310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Triage Time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792480" y="1828800"/>
            <a:ext cx="310896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Minutes from red build to root cause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792480" y="2377440"/>
            <a:ext cx="310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 50%+ from baseline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4267200" y="1341120"/>
            <a:ext cx="3413760" cy="16459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4267200" y="1402080"/>
            <a:ext cx="73152" cy="15240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4450080" y="1438656"/>
            <a:ext cx="310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Summary Acceptance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4450080" y="1828800"/>
            <a:ext cx="310896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 of summaries devs find accurate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4450080" y="2377440"/>
            <a:ext cx="310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 85% usefulness rating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7924800" y="1341120"/>
            <a:ext cx="3413760" cy="16459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7924800" y="1402080"/>
            <a:ext cx="73152" cy="15240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8107680" y="1438656"/>
            <a:ext cx="310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Repeated Failures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8107680" y="1828800"/>
            <a:ext cx="310896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failure seen &gt; once before fix</a:t>
            </a:r>
            <a:endParaRPr lang="en-US" sz="1333" dirty="0"/>
          </a:p>
        </p:txBody>
      </p:sp>
      <p:sp>
        <p:nvSpPr>
          <p:cNvPr id="17" name="Text 15"/>
          <p:cNvSpPr/>
          <p:nvPr/>
        </p:nvSpPr>
        <p:spPr>
          <a:xfrm>
            <a:off x="8107680" y="2377440"/>
            <a:ext cx="310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 as RAG matures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609600" y="3169920"/>
            <a:ext cx="3413760" cy="16459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609600" y="3230880"/>
            <a:ext cx="73152" cy="15240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792480" y="3267456"/>
            <a:ext cx="310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Minutes Saved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792480" y="3657600"/>
            <a:ext cx="310896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 time avoided by risk routing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792480" y="4206240"/>
            <a:ext cx="310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weekly, report monthly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4267200" y="3169920"/>
            <a:ext cx="3413760" cy="16459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4267200" y="3230880"/>
            <a:ext cx="73152" cy="15240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4450080" y="3267456"/>
            <a:ext cx="310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Gate Override Rate</a:t>
            </a:r>
            <a:endParaRPr lang="en-US" sz="1733" dirty="0"/>
          </a:p>
        </p:txBody>
      </p:sp>
      <p:sp>
        <p:nvSpPr>
          <p:cNvPr id="26" name="Text 24"/>
          <p:cNvSpPr/>
          <p:nvPr/>
        </p:nvSpPr>
        <p:spPr>
          <a:xfrm>
            <a:off x="4450080" y="3657600"/>
            <a:ext cx="310896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often humans override AI rec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4450080" y="4206240"/>
            <a:ext cx="310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10% = well-calibrated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7924800" y="3169920"/>
            <a:ext cx="3413760" cy="16459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9" name="Shape 27"/>
          <p:cNvSpPr/>
          <p:nvPr/>
        </p:nvSpPr>
        <p:spPr>
          <a:xfrm>
            <a:off x="7924800" y="3230880"/>
            <a:ext cx="73152" cy="15240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8107680" y="3267456"/>
            <a:ext cx="310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False Hold Rate</a:t>
            </a:r>
            <a:endParaRPr lang="en-US" sz="1733" dirty="0"/>
          </a:p>
        </p:txBody>
      </p:sp>
      <p:sp>
        <p:nvSpPr>
          <p:cNvPr id="31" name="Text 29"/>
          <p:cNvSpPr/>
          <p:nvPr/>
        </p:nvSpPr>
        <p:spPr>
          <a:xfrm>
            <a:off x="8107680" y="3657600"/>
            <a:ext cx="310896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Safe releases flagged as risky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8107680" y="4206240"/>
            <a:ext cx="3108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+ tune thresholds</a:t>
            </a:r>
            <a:endParaRPr lang="en-US" sz="1333" dirty="0"/>
          </a:p>
        </p:txBody>
      </p:sp>
      <p:sp>
        <p:nvSpPr>
          <p:cNvPr id="33" name="Text 31"/>
          <p:cNvSpPr/>
          <p:nvPr/>
        </p:nvSpPr>
        <p:spPr>
          <a:xfrm>
            <a:off x="609600" y="4693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 before you automate. Establish baselines in advisory mode, then track improvement as you mature.</a:t>
            </a:r>
            <a:endParaRPr lang="en-US" sz="1467" dirty="0"/>
          </a:p>
        </p:txBody>
      </p:sp>
      <p:sp>
        <p:nvSpPr>
          <p:cNvPr id="34" name="Text 32"/>
          <p:cNvSpPr/>
          <p:nvPr/>
        </p:nvSpPr>
        <p:spPr>
          <a:xfrm>
            <a:off x="60960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 these metrics quarterly. If numbers aren’t improving, the feedback loop is broken.</a:t>
            </a:r>
            <a:endParaRPr lang="en-US" sz="1333" dirty="0"/>
          </a:p>
        </p:txBody>
      </p:sp>
      <p:sp>
        <p:nvSpPr>
          <p:cNvPr id="35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34993489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24384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</a:rPr>
              <a:t>Five-Step Evaluation Methodology</a:t>
            </a:r>
          </a:p>
        </p:txBody>
      </p:sp>
      <p:sp>
        <p:nvSpPr>
          <p:cNvPr id="3" name="Subtitle"/>
          <p:cNvSpPr/>
          <p:nvPr/>
        </p:nvSpPr>
        <p:spPr>
          <a:xfrm>
            <a:off x="609600" y="109728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buNone/>
            </a:pPr>
            <a:r>
              <a:rPr lang="en-US" sz="2400" dirty="0">
                <a:solidFill>
                  <a:srgbClr val="555555"/>
                </a:solidFill>
                <a:latin typeface="Lato" pitchFamily="34" charset="0"/>
              </a:rPr>
              <a:t>Apply this loop to every CAI pattern before promoting from advisory to assisted</a:t>
            </a:r>
          </a:p>
        </p:txBody>
      </p:sp>
      <p:sp>
        <p:nvSpPr>
          <p:cNvPr id="10" name="Card1BG"/>
          <p:cNvSpPr/>
          <p:nvPr/>
        </p:nvSpPr>
        <p:spPr>
          <a:xfrm>
            <a:off x="609600" y="1828800"/>
            <a:ext cx="213360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2060"/>
            </a:solidFill>
          </a:ln>
          <a:effectLst>
            <a:outerShdw blurRad="50800" dist="254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Card1Num"/>
          <p:cNvSpPr/>
          <p:nvPr/>
        </p:nvSpPr>
        <p:spPr>
          <a:xfrm>
            <a:off x="609600" y="182880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4267" b="1" dirty="0">
                <a:solidFill>
                  <a:srgbClr val="002060"/>
                </a:solidFill>
                <a:latin typeface="Lato"/>
              </a:rPr>
              <a:t>1</a:t>
            </a:r>
          </a:p>
        </p:txBody>
      </p:sp>
      <p:sp>
        <p:nvSpPr>
          <p:cNvPr id="12" name="Card1Title"/>
          <p:cNvSpPr/>
          <p:nvPr/>
        </p:nvSpPr>
        <p:spPr>
          <a:xfrm>
            <a:off x="609600" y="2560320"/>
            <a:ext cx="213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133" b="1" dirty="0">
                <a:solidFill>
                  <a:srgbClr val="002060"/>
                </a:solidFill>
                <a:latin typeface="Lato"/>
              </a:rPr>
              <a:t>Baseline</a:t>
            </a:r>
          </a:p>
        </p:txBody>
      </p:sp>
      <p:sp>
        <p:nvSpPr>
          <p:cNvPr id="13" name="Card1Desc"/>
          <p:cNvSpPr/>
          <p:nvPr/>
        </p:nvSpPr>
        <p:spPr>
          <a:xfrm>
            <a:off x="706667" y="3048000"/>
            <a:ext cx="1933333" cy="1066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en-US" sz="1600" dirty="0">
                <a:solidFill>
                  <a:srgbClr val="555555"/>
                </a:solidFill>
                <a:latin typeface="Lato"/>
              </a:rPr>
              <a:t>Measure your current process before turning on AI</a:t>
            </a:r>
          </a:p>
        </p:txBody>
      </p:sp>
      <p:sp>
        <p:nvSpPr>
          <p:cNvPr id="20" name="Card2BG"/>
          <p:cNvSpPr/>
          <p:nvPr/>
        </p:nvSpPr>
        <p:spPr>
          <a:xfrm>
            <a:off x="2926080" y="1828800"/>
            <a:ext cx="213360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2060"/>
            </a:solidFill>
          </a:ln>
          <a:effectLst>
            <a:outerShdw blurRad="50800" dist="254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Card2Num"/>
          <p:cNvSpPr/>
          <p:nvPr/>
        </p:nvSpPr>
        <p:spPr>
          <a:xfrm>
            <a:off x="2926080" y="182880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4267" b="1" dirty="0">
                <a:solidFill>
                  <a:srgbClr val="002060"/>
                </a:solidFill>
                <a:latin typeface="Lato"/>
              </a:rPr>
              <a:t>2</a:t>
            </a:r>
          </a:p>
        </p:txBody>
      </p:sp>
      <p:sp>
        <p:nvSpPr>
          <p:cNvPr id="22" name="Card2Title"/>
          <p:cNvSpPr/>
          <p:nvPr/>
        </p:nvSpPr>
        <p:spPr>
          <a:xfrm>
            <a:off x="2926080" y="2560320"/>
            <a:ext cx="213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133" b="1" dirty="0">
                <a:solidFill>
                  <a:srgbClr val="002060"/>
                </a:solidFill>
                <a:latin typeface="Lato"/>
              </a:rPr>
              <a:t>Advisory Mode</a:t>
            </a:r>
          </a:p>
        </p:txBody>
      </p:sp>
      <p:sp>
        <p:nvSpPr>
          <p:cNvPr id="23" name="Card2Desc"/>
          <p:cNvSpPr/>
          <p:nvPr/>
        </p:nvSpPr>
        <p:spPr>
          <a:xfrm>
            <a:off x="3026667" y="3048000"/>
            <a:ext cx="1933333" cy="1066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en-US" sz="1600" dirty="0">
                <a:solidFill>
                  <a:srgbClr val="555555"/>
                </a:solidFill>
                <a:latin typeface="Lato"/>
              </a:rPr>
              <a:t>Run AI in recommend mode — humans decide</a:t>
            </a:r>
          </a:p>
        </p:txBody>
      </p:sp>
      <p:sp>
        <p:nvSpPr>
          <p:cNvPr id="30" name="Card3BG"/>
          <p:cNvSpPr/>
          <p:nvPr/>
        </p:nvSpPr>
        <p:spPr>
          <a:xfrm>
            <a:off x="5242560" y="1828800"/>
            <a:ext cx="213360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2060"/>
            </a:solidFill>
          </a:ln>
          <a:effectLst>
            <a:outerShdw blurRad="50800" dist="254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1" name="Card3Num"/>
          <p:cNvSpPr/>
          <p:nvPr/>
        </p:nvSpPr>
        <p:spPr>
          <a:xfrm>
            <a:off x="5242560" y="182880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4267" b="1" dirty="0">
                <a:solidFill>
                  <a:srgbClr val="002060"/>
                </a:solidFill>
                <a:latin typeface="Lato"/>
              </a:rPr>
              <a:t>3</a:t>
            </a:r>
          </a:p>
        </p:txBody>
      </p:sp>
      <p:sp>
        <p:nvSpPr>
          <p:cNvPr id="32" name="Card3Title"/>
          <p:cNvSpPr/>
          <p:nvPr/>
        </p:nvSpPr>
        <p:spPr>
          <a:xfrm>
            <a:off x="5242560" y="2560320"/>
            <a:ext cx="213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133" b="1" dirty="0">
                <a:solidFill>
                  <a:srgbClr val="002060"/>
                </a:solidFill>
                <a:latin typeface="Lato"/>
              </a:rPr>
              <a:t>Compare</a:t>
            </a:r>
          </a:p>
        </p:txBody>
      </p:sp>
      <p:sp>
        <p:nvSpPr>
          <p:cNvPr id="33" name="Card3Desc"/>
          <p:cNvSpPr/>
          <p:nvPr/>
        </p:nvSpPr>
        <p:spPr>
          <a:xfrm>
            <a:off x="5346667" y="3048000"/>
            <a:ext cx="1933333" cy="1066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en-US" sz="1600" dirty="0">
                <a:solidFill>
                  <a:srgbClr val="555555"/>
                </a:solidFill>
                <a:latin typeface="Lato"/>
              </a:rPr>
              <a:t>Measure AI outcomes vs. human outcomes on same tasks</a:t>
            </a:r>
          </a:p>
        </p:txBody>
      </p:sp>
      <p:sp>
        <p:nvSpPr>
          <p:cNvPr id="40" name="Card4BG"/>
          <p:cNvSpPr/>
          <p:nvPr/>
        </p:nvSpPr>
        <p:spPr>
          <a:xfrm>
            <a:off x="7559040" y="1828800"/>
            <a:ext cx="213360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2060"/>
            </a:solidFill>
          </a:ln>
          <a:effectLst>
            <a:outerShdw blurRad="50800" dist="254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1" name="Card4Num"/>
          <p:cNvSpPr/>
          <p:nvPr/>
        </p:nvSpPr>
        <p:spPr>
          <a:xfrm>
            <a:off x="7559040" y="182880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4267" b="1" dirty="0">
                <a:solidFill>
                  <a:srgbClr val="002060"/>
                </a:solidFill>
                <a:latin typeface="Lato"/>
              </a:rPr>
              <a:t>4</a:t>
            </a:r>
          </a:p>
        </p:txBody>
      </p:sp>
      <p:sp>
        <p:nvSpPr>
          <p:cNvPr id="42" name="Card4Title"/>
          <p:cNvSpPr/>
          <p:nvPr/>
        </p:nvSpPr>
        <p:spPr>
          <a:xfrm>
            <a:off x="7559040" y="2560320"/>
            <a:ext cx="213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133" b="1" dirty="0">
                <a:solidFill>
                  <a:srgbClr val="002060"/>
                </a:solidFill>
                <a:latin typeface="Lato"/>
              </a:rPr>
              <a:t>Track</a:t>
            </a:r>
          </a:p>
        </p:txBody>
      </p:sp>
      <p:sp>
        <p:nvSpPr>
          <p:cNvPr id="43" name="Card4Desc"/>
          <p:cNvSpPr/>
          <p:nvPr/>
        </p:nvSpPr>
        <p:spPr>
          <a:xfrm>
            <a:off x="7660000" y="3048000"/>
            <a:ext cx="1933333" cy="1066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en-US" sz="1600" dirty="0">
                <a:solidFill>
                  <a:srgbClr val="555555"/>
                </a:solidFill>
                <a:latin typeface="Lato"/>
              </a:rPr>
              <a:t>Monitor false positives and false negatives over time</a:t>
            </a:r>
          </a:p>
        </p:txBody>
      </p:sp>
      <p:sp>
        <p:nvSpPr>
          <p:cNvPr id="50" name="Card5BG"/>
          <p:cNvSpPr/>
          <p:nvPr/>
        </p:nvSpPr>
        <p:spPr>
          <a:xfrm>
            <a:off x="9875520" y="1828800"/>
            <a:ext cx="213360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2060"/>
            </a:solidFill>
          </a:ln>
          <a:effectLst>
            <a:outerShdw blurRad="50800" dist="254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1" name="Card5Num"/>
          <p:cNvSpPr/>
          <p:nvPr/>
        </p:nvSpPr>
        <p:spPr>
          <a:xfrm>
            <a:off x="9875520" y="182880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4267" b="1" dirty="0">
                <a:solidFill>
                  <a:srgbClr val="002060"/>
                </a:solidFill>
                <a:latin typeface="Lato"/>
              </a:rPr>
              <a:t>5</a:t>
            </a:r>
          </a:p>
        </p:txBody>
      </p:sp>
      <p:sp>
        <p:nvSpPr>
          <p:cNvPr id="52" name="Card5Title"/>
          <p:cNvSpPr/>
          <p:nvPr/>
        </p:nvSpPr>
        <p:spPr>
          <a:xfrm>
            <a:off x="9875520" y="2560320"/>
            <a:ext cx="213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133" b="1" dirty="0">
                <a:solidFill>
                  <a:srgbClr val="002060"/>
                </a:solidFill>
                <a:latin typeface="Lato"/>
              </a:rPr>
              <a:t>Promote</a:t>
            </a:r>
          </a:p>
        </p:txBody>
      </p:sp>
      <p:sp>
        <p:nvSpPr>
          <p:cNvPr id="53" name="Card5Desc"/>
          <p:cNvSpPr/>
          <p:nvPr/>
        </p:nvSpPr>
        <p:spPr>
          <a:xfrm>
            <a:off x="9973334" y="3048000"/>
            <a:ext cx="1933333" cy="1066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en-US" sz="1600" dirty="0">
                <a:solidFill>
                  <a:srgbClr val="555555"/>
                </a:solidFill>
                <a:latin typeface="Lato"/>
              </a:rPr>
              <a:t>Move to assisted mode only after measured trust</a:t>
            </a:r>
          </a:p>
        </p:txBody>
      </p:sp>
      <p:sp>
        <p:nvSpPr>
          <p:cNvPr id="60" name="Arrow1"/>
          <p:cNvSpPr/>
          <p:nvPr/>
        </p:nvSpPr>
        <p:spPr>
          <a:xfrm>
            <a:off x="2800000" y="2933333"/>
            <a:ext cx="2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02060"/>
                </a:solidFill>
                <a:latin typeface="Lato"/>
              </a:rPr>
              <a:t>→</a:t>
            </a:r>
          </a:p>
        </p:txBody>
      </p:sp>
      <p:sp>
        <p:nvSpPr>
          <p:cNvPr id="61" name="Arrow2"/>
          <p:cNvSpPr/>
          <p:nvPr/>
        </p:nvSpPr>
        <p:spPr>
          <a:xfrm>
            <a:off x="5120000" y="2933333"/>
            <a:ext cx="2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02060"/>
                </a:solidFill>
                <a:latin typeface="Lato"/>
              </a:rPr>
              <a:t>→</a:t>
            </a:r>
          </a:p>
        </p:txBody>
      </p:sp>
      <p:sp>
        <p:nvSpPr>
          <p:cNvPr id="62" name="Arrow3"/>
          <p:cNvSpPr/>
          <p:nvPr/>
        </p:nvSpPr>
        <p:spPr>
          <a:xfrm>
            <a:off x="7433333" y="2933333"/>
            <a:ext cx="2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02060"/>
                </a:solidFill>
                <a:latin typeface="Lato"/>
              </a:rPr>
              <a:t>→</a:t>
            </a:r>
          </a:p>
        </p:txBody>
      </p:sp>
      <p:sp>
        <p:nvSpPr>
          <p:cNvPr id="63" name="Arrow4"/>
          <p:cNvSpPr/>
          <p:nvPr/>
        </p:nvSpPr>
        <p:spPr>
          <a:xfrm>
            <a:off x="9746667" y="2933333"/>
            <a:ext cx="2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02060"/>
                </a:solidFill>
                <a:latin typeface="Lato"/>
              </a:rPr>
              <a:t>→</a:t>
            </a:r>
          </a:p>
        </p:txBody>
      </p:sp>
      <p:sp>
        <p:nvSpPr>
          <p:cNvPr id="70" name="Caption"/>
          <p:cNvSpPr/>
          <p:nvPr/>
        </p:nvSpPr>
        <p:spPr>
          <a:xfrm>
            <a:off x="609600" y="4572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en-US" sz="1867" i="1" dirty="0">
                <a:solidFill>
                  <a:srgbClr val="666666"/>
                </a:solidFill>
                <a:latin typeface="Lato"/>
              </a:rPr>
              <a:t>This five-step loop applies to every CAI pattern. Don’t skip steps — each one builds the trust data for the next.</a:t>
            </a:r>
          </a:p>
        </p:txBody>
      </p:sp>
      <p:sp>
        <p:nvSpPr>
          <p:cNvPr id="80" name="SlideNum"/>
          <p:cNvSpPr/>
          <p:nvPr/>
        </p:nvSpPr>
        <p:spPr>
          <a:xfrm>
            <a:off x="11582400" y="6217920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>
              <a:buNone/>
            </a:pPr>
            <a:fld id="{B6F15528-1B12-4E2C-A2C0-1234567890AB}" type="slidenum">
              <a:rPr lang="en-US" sz="1333">
                <a:solidFill>
                  <a:srgbClr val="999999"/>
                </a:solidFill>
                <a:latin typeface="Lato"/>
              </a:rPr>
              <a:t>43</a:t>
            </a:fld>
            <a:endParaRPr lang="en-US" sz="1333"/>
          </a:p>
        </p:txBody>
      </p:sp>
    </p:spTree>
    <p:extLst>
      <p:ext uri="{BB962C8B-B14F-4D97-AF65-F5344CB8AC3E}">
        <p14:creationId xmlns:p14="http://schemas.microsoft.com/office/powerpoint/2010/main" val="2384720662"/>
      </p:ext>
    </p:extLst>
  </p:cSld>
  <p:clrMapOvr>
    <a:masterClrMapping/>
  </p:clrMapOvr>
</p:sld>
</file>

<file path=ppt/slides/slide4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CAI Adoption Path</a:t>
            </a:r>
            <a:endParaRPr lang="en-US" sz="4533" dirty="0"/>
          </a:p>
        </p:txBody>
      </p:sp>
      <p:sp>
        <p:nvSpPr>
          <p:cNvPr id="10" name="Day1Box"/>
          <p:cNvSpPr/>
          <p:nvPr/>
        </p:nvSpPr>
        <p:spPr>
          <a:xfrm>
            <a:off x="609600" y="1341120"/>
            <a:ext cx="3454400" cy="3425952"/>
          </a:xfrm>
          <a:prstGeom prst="roundRect">
            <a:avLst>
              <a:gd name="adj" fmla="val 5000"/>
            </a:avLst>
          </a:prstGeom>
          <a:solidFill>
            <a:srgbClr val="16A085"/>
          </a:solidFill>
        </p:spPr>
        <p:txBody>
          <a:bodyPr wrap="square" lIns="121920" tIns="121920" rIns="121920" bIns="121920" anchor="t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Lato" pitchFamily="34" charset="0"/>
              </a:rPr>
              <a:t>Day 1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Poppins" pitchFamily="34" charset="0"/>
              </a:rPr>
              <a:t>Log summaries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Poppins" pitchFamily="34" charset="0"/>
              </a:rPr>
              <a:t>PR comments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Poppins" pitchFamily="34" charset="0"/>
              </a:rPr>
              <a:t>Basic triage assist</a:t>
            </a:r>
          </a:p>
          <a:p>
            <a:pPr algn="ctr"/>
            <a:r>
              <a:rPr lang="en-US" sz="1333" i="1" dirty="0">
                <a:solidFill>
                  <a:srgbClr val="E0F2EF"/>
                </a:solidFill>
                <a:latin typeface="Poppins" pitchFamily="34" charset="0"/>
              </a:rPr>
              <a:t>Human-in-the-loop</a:t>
            </a:r>
          </a:p>
        </p:txBody>
      </p:sp>
      <p:sp>
        <p:nvSpPr>
          <p:cNvPr id="11" name="Arrow1"/>
          <p:cNvSpPr/>
          <p:nvPr/>
        </p:nvSpPr>
        <p:spPr>
          <a:xfrm>
            <a:off x="4165600" y="2438400"/>
            <a:ext cx="609600" cy="1219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Day30Box"/>
          <p:cNvSpPr/>
          <p:nvPr/>
        </p:nvSpPr>
        <p:spPr>
          <a:xfrm>
            <a:off x="4876800" y="1341120"/>
            <a:ext cx="3454400" cy="3425952"/>
          </a:xfrm>
          <a:prstGeom prst="roundRect">
            <a:avLst>
              <a:gd name="adj" fmla="val 5000"/>
            </a:avLst>
          </a:prstGeom>
          <a:solidFill>
            <a:srgbClr val="00A79D"/>
          </a:solidFill>
        </p:spPr>
        <p:txBody>
          <a:bodyPr wrap="square" lIns="121920" tIns="121920" rIns="121920" bIns="121920" anchor="t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Lato" pitchFamily="34" charset="0"/>
              </a:rPr>
              <a:t>Day 30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Poppins" pitchFamily="34" charset="0"/>
              </a:rPr>
              <a:t>Failure classification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Poppins" pitchFamily="34" charset="0"/>
              </a:rPr>
              <a:t>Dashboarding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Poppins" pitchFamily="34" charset="0"/>
              </a:rPr>
              <a:t>Safe auto-remediation</a:t>
            </a:r>
          </a:p>
          <a:p>
            <a:pPr algn="ctr"/>
            <a:r>
              <a:rPr lang="en-US" sz="1333" i="1" dirty="0">
                <a:solidFill>
                  <a:srgbClr val="E0F2EF"/>
                </a:solidFill>
                <a:latin typeface="Poppins" pitchFamily="34" charset="0"/>
              </a:rPr>
              <a:t>Human-on-the-loop</a:t>
            </a:r>
          </a:p>
        </p:txBody>
      </p:sp>
      <p:sp>
        <p:nvSpPr>
          <p:cNvPr id="13" name="Arrow2"/>
          <p:cNvSpPr/>
          <p:nvPr/>
        </p:nvSpPr>
        <p:spPr>
          <a:xfrm>
            <a:off x="8432800" y="2438400"/>
            <a:ext cx="609600" cy="1219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Day90Box"/>
          <p:cNvSpPr/>
          <p:nvPr/>
        </p:nvSpPr>
        <p:spPr>
          <a:xfrm>
            <a:off x="9144000" y="1341120"/>
            <a:ext cx="3454400" cy="3425952"/>
          </a:xfrm>
          <a:prstGeom prst="roundRect">
            <a:avLst>
              <a:gd name="adj" fmla="val 5000"/>
            </a:avLst>
          </a:prstGeom>
          <a:solidFill>
            <a:srgbClr val="011936"/>
          </a:solidFill>
        </p:spPr>
        <p:txBody>
          <a:bodyPr wrap="square" lIns="121920" tIns="121920" rIns="121920" bIns="121920" anchor="t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Lato" pitchFamily="34" charset="0"/>
              </a:rPr>
              <a:t>Day 90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Poppins" pitchFamily="34" charset="0"/>
              </a:rPr>
              <a:t>RAG memory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Poppins" pitchFamily="34" charset="0"/>
              </a:rPr>
              <a:t>Policy-bounded gates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Poppins" pitchFamily="34" charset="0"/>
              </a:rPr>
              <a:t>Risk-scored deploys</a:t>
            </a:r>
          </a:p>
          <a:p>
            <a:pPr algn="ctr"/>
            <a:r>
              <a:rPr lang="en-US" sz="1333" i="1" dirty="0">
                <a:solidFill>
                  <a:srgbClr val="E0F2EF"/>
                </a:solidFill>
                <a:latin typeface="Poppins" pitchFamily="34" charset="0"/>
              </a:rPr>
              <a:t>Human-over-the-loop</a:t>
            </a:r>
          </a:p>
        </p:txBody>
      </p:sp>
      <p:sp>
        <p:nvSpPr>
          <p:cNvPr id="4" name="Text 1"/>
          <p:cNvSpPr/>
          <p:nvPr/>
        </p:nvSpPr>
        <p:spPr>
          <a:xfrm>
            <a:off x="609600" y="499872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with the simplest win: summarize logs and comment on PRs. Prove value in week one.</a:t>
            </a:r>
            <a:endParaRPr lang="en-US" sz="17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 classification and dashboards once you trust the summaries. Measure triage time reduction.</a:t>
            </a:r>
            <a:endParaRPr lang="en-US" sz="17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733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Graduate to retrieval memory and policy gates only after earning trust with data.</a:t>
            </a:r>
            <a:endParaRPr lang="en-US" sz="1733" dirty="0"/>
          </a:p>
        </p:txBody>
      </p:sp>
      <p:sp>
        <p:nvSpPr>
          <p:cNvPr id="15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42</a:t>
            </a:r>
          </a:p>
        </p:txBody>
      </p:sp>
    </p:spTree>
    <p:extLst>
      <p:ext uri="{BB962C8B-B14F-4D97-AF65-F5344CB8AC3E}">
        <ns2:creationId val="285987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75360"/>
            <a:ext cx="1097280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333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CI/CD</a:t>
            </a:r>
            <a:endParaRPr lang="en-US" sz="5333" dirty="0"/>
          </a:p>
          <a:p>
            <a:pPr algn="ctr"/>
            <a:r>
              <a:rPr lang="en-US" sz="5333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CI/CD + CAI</a:t>
            </a:r>
            <a:endParaRPr lang="en-US" sz="5333" dirty="0"/>
          </a:p>
        </p:txBody>
      </p:sp>
      <p:sp>
        <p:nvSpPr>
          <p:cNvPr id="3" name="Shape 1"/>
          <p:cNvSpPr/>
          <p:nvPr/>
        </p:nvSpPr>
        <p:spPr>
          <a:xfrm>
            <a:off x="4267200" y="2804160"/>
            <a:ext cx="3657600" cy="36576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3169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pipeline doesn't have to be dumb anymore.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 "AI in development" into </a:t>
            </a:r>
            <a:r>
              <a:rPr lang="en-US" sz="24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Continuous AI.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512064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 one pattern. Add one AI step to one pipeline. See what happens.</a:t>
            </a:r>
            <a:endParaRPr lang="en-US" sz="2000" dirty="0"/>
          </a:p>
        </p:txBody>
      </p:sp>
      <p:sp>
        <p:nvSpPr>
          <p:cNvPr id="6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6389540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840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Questions?</a:t>
            </a:r>
            <a:endParaRPr lang="en-US" sz="5867" dirty="0"/>
          </a:p>
        </p:txBody>
      </p:sp>
      <p:sp>
        <p:nvSpPr>
          <p:cNvPr id="3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41018219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That's all — thanks!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267200" y="1706880"/>
            <a:ext cx="3657600" cy="36576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2072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Brent Laster</a:t>
            </a:r>
            <a:endParaRPr lang="en-US" sz="2667" dirty="0"/>
          </a:p>
        </p:txBody>
      </p:sp>
      <p:sp>
        <p:nvSpPr>
          <p:cNvPr id="5" name="Text 3"/>
          <p:cNvSpPr/>
          <p:nvPr/>
        </p:nvSpPr>
        <p:spPr>
          <a:xfrm>
            <a:off x="609600" y="25603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 Skills Transformations LLC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609600" y="32918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Contact: </a:t>
            </a:r>
            <a:r>
              <a:rPr lang="en-US" sz="1867" dirty="0">
                <a:solidFill>
                  <a:srgbClr val="0070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training@getskillsnow.com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609600" y="3840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dirty="0">
                <a:solidFill>
                  <a:srgbClr val="0070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techskillstransformations.com</a:t>
            </a:r>
            <a:endParaRPr lang="en-US" sz="1733" dirty="0"/>
          </a:p>
          <a:p>
            <a:pPr algn="ctr"/>
            <a:r>
              <a:rPr lang="en-US" sz="1733" dirty="0">
                <a:solidFill>
                  <a:srgbClr val="0070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getskillsnow.com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60960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Books by Brent Laster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2438400" y="5242560"/>
            <a:ext cx="2194560" cy="60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2438400" y="5242560"/>
            <a:ext cx="2194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 Git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5120640" y="5242560"/>
            <a:ext cx="2194560" cy="60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5120640" y="5242560"/>
            <a:ext cx="2194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Learning GitHub Copilot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7802880" y="5242560"/>
            <a:ext cx="2194560" cy="60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7802880" y="5242560"/>
            <a:ext cx="2194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Learning GitHub Actions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609600" y="6217920"/>
            <a:ext cx="10972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 Brent C. Laster &amp; Tech Skills Transformations LLC</a:t>
            </a:r>
            <a:endParaRPr lang="en-US" sz="1200" dirty="0"/>
          </a:p>
        </p:txBody>
      </p:sp>
      <p:sp>
        <p:nvSpPr>
          <p:cNvPr id="16" name="SlideNumber"/>
          <p:cNvSpPr/>
          <p:nvPr/>
        </p:nvSpPr>
        <p:spPr>
          <a:xfrm>
            <a:off x="11277600" y="640080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Poppins" pitchFamily="34" charset="0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3125931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Three Levels of AI Integration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1582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progression from one-shot to closed-loop</a:t>
            </a:r>
            <a:endParaRPr lang="en-US" sz="1867" dirty="0"/>
          </a:p>
        </p:txBody>
      </p:sp>
      <p:sp>
        <p:nvSpPr>
          <p:cNvPr id="4" name="Shape 4"/>
          <p:cNvSpPr/>
          <p:nvPr/>
        </p:nvSpPr>
        <p:spPr>
          <a:xfrm>
            <a:off x="609600" y="1706880"/>
            <a:ext cx="3352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609600" y="1706880"/>
            <a:ext cx="3352800" cy="97536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6"/>
          <p:cNvSpPr/>
          <p:nvPr/>
        </p:nvSpPr>
        <p:spPr>
          <a:xfrm>
            <a:off x="731520" y="1950384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48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7"/>
          <p:cNvSpPr/>
          <p:nvPr/>
        </p:nvSpPr>
        <p:spPr>
          <a:xfrm>
            <a:off x="1341120" y="1950384"/>
            <a:ext cx="2438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in a Pipeline
Single AI step, useful
but doesn't get smarter</a:t>
            </a:r>
            <a:endParaRPr lang="en-US" sz="1600" dirty="0"/>
          </a:p>
        </p:txBody>
      </p:sp>
      <p:sp>
        <p:nvSpPr>
          <p:cNvPr id="8" name="Shape 8"/>
          <p:cNvSpPr/>
          <p:nvPr/>
        </p:nvSpPr>
        <p:spPr>
          <a:xfrm>
            <a:off x="4267200" y="1706880"/>
            <a:ext cx="3352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9"/>
          <p:cNvSpPr/>
          <p:nvPr/>
        </p:nvSpPr>
        <p:spPr>
          <a:xfrm>
            <a:off x="4267200" y="1706880"/>
            <a:ext cx="3352800" cy="97536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10"/>
          <p:cNvSpPr/>
          <p:nvPr/>
        </p:nvSpPr>
        <p:spPr>
          <a:xfrm>
            <a:off x="4389120" y="1950384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48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4800" dirty="0"/>
          </a:p>
        </p:txBody>
      </p:sp>
      <p:sp>
        <p:nvSpPr>
          <p:cNvPr id="11" name="Text 11"/>
          <p:cNvSpPr/>
          <p:nvPr/>
        </p:nvSpPr>
        <p:spPr>
          <a:xfrm>
            <a:off x="4998720" y="1950384"/>
            <a:ext cx="2438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AI-Assisted CI/CD
Multiple AI steps sharing
context across stages</a:t>
            </a:r>
            <a:endParaRPr lang="en-US" sz="1600" dirty="0"/>
          </a:p>
        </p:txBody>
      </p:sp>
      <p:sp>
        <p:nvSpPr>
          <p:cNvPr id="12" name="Shape 12"/>
          <p:cNvSpPr/>
          <p:nvPr/>
        </p:nvSpPr>
        <p:spPr>
          <a:xfrm>
            <a:off x="7924800" y="1706880"/>
            <a:ext cx="3352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3"/>
          <p:cNvSpPr/>
          <p:nvPr/>
        </p:nvSpPr>
        <p:spPr>
          <a:xfrm>
            <a:off x="7924800" y="1706880"/>
            <a:ext cx="3352800" cy="97536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4"/>
          <p:cNvSpPr/>
          <p:nvPr/>
        </p:nvSpPr>
        <p:spPr>
          <a:xfrm>
            <a:off x="8046720" y="1950384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48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4800" dirty="0"/>
          </a:p>
        </p:txBody>
      </p:sp>
      <p:sp>
        <p:nvSpPr>
          <p:cNvPr id="15" name="Text 15"/>
          <p:cNvSpPr/>
          <p:nvPr/>
        </p:nvSpPr>
        <p:spPr>
          <a:xfrm>
            <a:off x="8656320" y="1950384"/>
            <a:ext cx="2438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CAI: Closed-Loop
Every outcome trains the
system — continuous intelligence</a:t>
            </a:r>
            <a:endParaRPr lang="en-US" sz="1600" dirty="0"/>
          </a:p>
        </p:txBody>
      </p:sp>
      <p:sp>
        <p:nvSpPr>
          <p:cNvPr id="20" name="Text 20"/>
          <p:cNvSpPr/>
          <p:nvPr/>
        </p:nvSpPr>
        <p:spPr>
          <a:xfrm>
            <a:off x="609600" y="560832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20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feedback loop is what makes it continuous</a:t>
            </a:r>
            <a:endParaRPr lang="en-US" sz="2000" dirty="0"/>
          </a:p>
        </p:txBody>
      </p:sp>
      <p:sp>
        <p:nvSpPr>
          <p:cNvPr id="21" name="TextBox 21"/>
          <p:cNvSpPr txBox="1"/>
          <p:nvPr/>
        </p:nvSpPr>
        <p:spPr>
          <a:xfrm>
            <a:off x="11417154" y="6309360"/>
            <a:ext cx="409086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33">
                <a:solidFill>
                  <a:srgbClr val="808080"/>
                </a:solidFill>
                <a:latin typeface="Poppins"/>
              </a:rPr>
              <a:t>6b</a:t>
            </a:r>
          </a:p>
        </p:txBody>
      </p:sp>
    </p:spTree>
    <p:extLst>
      <p:ext uri="{BB962C8B-B14F-4D97-AF65-F5344CB8AC3E}">
        <p14:creationId xmlns:p14="http://schemas.microsoft.com/office/powerpoint/2010/main" val="15089929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 Summarization: Before → After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1582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Twenty minutes of setup. Highest visibility pattern.</a:t>
            </a:r>
            <a:endParaRPr lang="en-US" sz="1867" dirty="0"/>
          </a:p>
        </p:txBody>
      </p:sp>
      <p:sp>
        <p:nvSpPr>
          <p:cNvPr id="4" name="Shape 4"/>
          <p:cNvSpPr/>
          <p:nvPr/>
        </p:nvSpPr>
        <p:spPr>
          <a:xfrm>
            <a:off x="609600" y="1706880"/>
            <a:ext cx="51206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609600" y="1706880"/>
            <a:ext cx="97536" cy="36576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6"/>
          <p:cNvSpPr/>
          <p:nvPr/>
        </p:nvSpPr>
        <p:spPr>
          <a:xfrm>
            <a:off x="853440" y="1828800"/>
            <a:ext cx="426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133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</a:t>
            </a:r>
            <a:endParaRPr lang="en-US" sz="2133" dirty="0"/>
          </a:p>
        </p:txBody>
      </p:sp>
      <p:sp>
        <p:nvSpPr>
          <p:cNvPr id="7" name="Text 7"/>
          <p:cNvSpPr/>
          <p:nvPr/>
        </p:nvSpPr>
        <p:spPr>
          <a:xfrm>
            <a:off x="853440" y="2316144"/>
            <a:ext cx="4267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"Build #4521 failed"
Useless notification.
Open a 10,000-line log.
Search manually.</a:t>
            </a:r>
            <a:endParaRPr lang="en-US" sz="1600" dirty="0"/>
          </a:p>
        </p:txBody>
      </p:sp>
      <p:sp>
        <p:nvSpPr>
          <p:cNvPr id="8" name="Shape 8"/>
          <p:cNvSpPr/>
          <p:nvPr/>
        </p:nvSpPr>
        <p:spPr>
          <a:xfrm>
            <a:off x="6461760" y="1706880"/>
            <a:ext cx="51206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9"/>
          <p:cNvSpPr/>
          <p:nvPr/>
        </p:nvSpPr>
        <p:spPr>
          <a:xfrm>
            <a:off x="6461760" y="1706880"/>
            <a:ext cx="97536" cy="36576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10"/>
          <p:cNvSpPr/>
          <p:nvPr/>
        </p:nvSpPr>
        <p:spPr>
          <a:xfrm>
            <a:off x="6705600" y="1828800"/>
            <a:ext cx="426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133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</a:t>
            </a:r>
            <a:endParaRPr lang="en-US" sz="2133" dirty="0"/>
          </a:p>
        </p:txBody>
      </p:sp>
      <p:sp>
        <p:nvSpPr>
          <p:cNvPr id="11" name="Text 11"/>
          <p:cNvSpPr/>
          <p:nvPr/>
        </p:nvSpPr>
        <p:spPr>
          <a:xfrm>
            <a:off x="6705600" y="2316144"/>
            <a:ext cx="4267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"TypeScript compilation OOM
on 847 files. Fix: increase
runner to 8GB or split.
Confidence: 94%"
Actionable intelligence.</a:t>
            </a:r>
            <a:endParaRPr lang="en-US" sz="1600" dirty="0"/>
          </a:p>
        </p:txBody>
      </p:sp>
      <p:sp>
        <p:nvSpPr>
          <p:cNvPr id="12" name="Text 12"/>
          <p:cNvSpPr/>
          <p:nvPr/>
        </p:nvSpPr>
        <p:spPr>
          <a:xfrm>
            <a:off x="609600" y="560832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867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Always link back to the full raw log — summaries can miss secondary warnings</a:t>
            </a:r>
            <a:endParaRPr lang="en-US" sz="1867" dirty="0"/>
          </a:p>
        </p:txBody>
      </p:sp>
      <p:sp>
        <p:nvSpPr>
          <p:cNvPr id="13" name="TextBox 13"/>
          <p:cNvSpPr txBox="1"/>
          <p:nvPr/>
        </p:nvSpPr>
        <p:spPr>
          <a:xfrm>
            <a:off x="11362652" y="6309360"/>
            <a:ext cx="463588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33">
                <a:solidFill>
                  <a:srgbClr val="808080"/>
                </a:solidFill>
                <a:latin typeface="Poppins"/>
              </a:rPr>
              <a:t>16b</a:t>
            </a:r>
          </a:p>
        </p:txBody>
      </p:sp>
    </p:spTree>
    <p:extLst>
      <p:ext uri="{BB962C8B-B14F-4D97-AF65-F5344CB8AC3E}">
        <p14:creationId xmlns:p14="http://schemas.microsoft.com/office/powerpoint/2010/main" val="744415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Five Risk Scoring Factors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1582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change gets the scrutiny it deserves — no more, no less</a:t>
            </a:r>
            <a:endParaRPr lang="en-US" sz="1867" dirty="0"/>
          </a:p>
        </p:txBody>
      </p:sp>
      <p:sp>
        <p:nvSpPr>
          <p:cNvPr id="4" name="Shape 4"/>
          <p:cNvSpPr/>
          <p:nvPr/>
        </p:nvSpPr>
        <p:spPr>
          <a:xfrm>
            <a:off x="609600" y="1706880"/>
            <a:ext cx="1950384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609600" y="1706880"/>
            <a:ext cx="1950384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6"/>
          <p:cNvSpPr/>
          <p:nvPr/>
        </p:nvSpPr>
        <p:spPr>
          <a:xfrm>
            <a:off x="792480" y="1950384"/>
            <a:ext cx="1584624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Files Touched
Core logic = high;
Docs = low</a:t>
            </a:r>
            <a:endParaRPr lang="en-US" sz="1467" dirty="0"/>
          </a:p>
        </p:txBody>
      </p:sp>
      <p:sp>
        <p:nvSpPr>
          <p:cNvPr id="7" name="Shape 7"/>
          <p:cNvSpPr/>
          <p:nvPr/>
        </p:nvSpPr>
        <p:spPr>
          <a:xfrm>
            <a:off x="2804160" y="1706880"/>
            <a:ext cx="1950384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8"/>
          <p:cNvSpPr/>
          <p:nvPr/>
        </p:nvSpPr>
        <p:spPr>
          <a:xfrm>
            <a:off x="2804160" y="1706880"/>
            <a:ext cx="1950384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9"/>
          <p:cNvSpPr/>
          <p:nvPr/>
        </p:nvSpPr>
        <p:spPr>
          <a:xfrm>
            <a:off x="2987040" y="1950384"/>
            <a:ext cx="1584624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Blast Radius
Services and users
affected</a:t>
            </a:r>
            <a:endParaRPr lang="en-US" sz="1467" dirty="0"/>
          </a:p>
        </p:txBody>
      </p:sp>
      <p:sp>
        <p:nvSpPr>
          <p:cNvPr id="10" name="Shape 10"/>
          <p:cNvSpPr/>
          <p:nvPr/>
        </p:nvSpPr>
        <p:spPr>
          <a:xfrm>
            <a:off x="4998720" y="1706880"/>
            <a:ext cx="1950384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11"/>
          <p:cNvSpPr/>
          <p:nvPr/>
        </p:nvSpPr>
        <p:spPr>
          <a:xfrm>
            <a:off x="4998720" y="1706880"/>
            <a:ext cx="1950384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2"/>
          <p:cNvSpPr/>
          <p:nvPr/>
        </p:nvSpPr>
        <p:spPr>
          <a:xfrm>
            <a:off x="5181600" y="1950384"/>
            <a:ext cx="1584624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Coverage
Zero tests on new
code = auto-flag</a:t>
            </a:r>
            <a:endParaRPr lang="en-US" sz="1467" dirty="0"/>
          </a:p>
        </p:txBody>
      </p:sp>
      <p:sp>
        <p:nvSpPr>
          <p:cNvPr id="13" name="Shape 13"/>
          <p:cNvSpPr/>
          <p:nvPr/>
        </p:nvSpPr>
        <p:spPr>
          <a:xfrm>
            <a:off x="7193280" y="1706880"/>
            <a:ext cx="1950384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4"/>
          <p:cNvSpPr/>
          <p:nvPr/>
        </p:nvSpPr>
        <p:spPr>
          <a:xfrm>
            <a:off x="7193280" y="1706880"/>
            <a:ext cx="1950384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5"/>
          <p:cNvSpPr/>
          <p:nvPr/>
        </p:nvSpPr>
        <p:spPr>
          <a:xfrm>
            <a:off x="7376160" y="1950384"/>
            <a:ext cx="1584624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Failure Similarity
Resembles past
incidents?</a:t>
            </a:r>
            <a:endParaRPr lang="en-US" sz="1467" dirty="0"/>
          </a:p>
        </p:txBody>
      </p:sp>
      <p:sp>
        <p:nvSpPr>
          <p:cNvPr id="16" name="Shape 16"/>
          <p:cNvSpPr/>
          <p:nvPr/>
        </p:nvSpPr>
        <p:spPr>
          <a:xfrm>
            <a:off x="9387840" y="1706880"/>
            <a:ext cx="1950384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7"/>
          <p:cNvSpPr/>
          <p:nvPr/>
        </p:nvSpPr>
        <p:spPr>
          <a:xfrm>
            <a:off x="9387840" y="1706880"/>
            <a:ext cx="1950384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8"/>
          <p:cNvSpPr/>
          <p:nvPr/>
        </p:nvSpPr>
        <p:spPr>
          <a:xfrm>
            <a:off x="9570720" y="1950384"/>
            <a:ext cx="1584624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Change Complexity
Lines changed +
cyclomatic delta</a:t>
            </a:r>
            <a:endParaRPr lang="en-US" sz="1467" dirty="0"/>
          </a:p>
        </p:txBody>
      </p:sp>
      <p:sp>
        <p:nvSpPr>
          <p:cNvPr id="19" name="Text 19"/>
          <p:cNvSpPr/>
          <p:nvPr/>
        </p:nvSpPr>
        <p:spPr>
          <a:xfrm>
            <a:off x="609600" y="524256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867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 risk → full suite + security + manual gate  |  Low risk → smoke tests, merged in minutes</a:t>
            </a:r>
            <a:endParaRPr lang="en-US" sz="1867" dirty="0"/>
          </a:p>
        </p:txBody>
      </p:sp>
      <p:sp>
        <p:nvSpPr>
          <p:cNvPr id="20" name="TextBox 20"/>
          <p:cNvSpPr txBox="1"/>
          <p:nvPr/>
        </p:nvSpPr>
        <p:spPr>
          <a:xfrm>
            <a:off x="11373874" y="6309360"/>
            <a:ext cx="452367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33">
                <a:solidFill>
                  <a:srgbClr val="808080"/>
                </a:solidFill>
                <a:latin typeface="Poppins"/>
              </a:rPr>
              <a:t>21b</a:t>
            </a:r>
          </a:p>
        </p:txBody>
      </p:sp>
    </p:spTree>
    <p:extLst>
      <p:ext uri="{BB962C8B-B14F-4D97-AF65-F5344CB8AC3E}">
        <p14:creationId xmlns:p14="http://schemas.microsoft.com/office/powerpoint/2010/main" val="35572776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Six CAI Failure Modes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1582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 these before you deploy — every one is preventable</a:t>
            </a:r>
            <a:endParaRPr lang="en-US" sz="1867" dirty="0"/>
          </a:p>
        </p:txBody>
      </p:sp>
      <p:sp>
        <p:nvSpPr>
          <p:cNvPr id="4" name="Shape 4"/>
          <p:cNvSpPr/>
          <p:nvPr/>
        </p:nvSpPr>
        <p:spPr>
          <a:xfrm>
            <a:off x="609600" y="158496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609600" y="1584960"/>
            <a:ext cx="335280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6"/>
          <p:cNvSpPr/>
          <p:nvPr/>
        </p:nvSpPr>
        <p:spPr>
          <a:xfrm>
            <a:off x="792480" y="176784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Hallucinated Triage
AI misclassifies a
real bug as flaky</a:t>
            </a:r>
            <a:endParaRPr lang="en-US" sz="1467" dirty="0"/>
          </a:p>
        </p:txBody>
      </p:sp>
      <p:sp>
        <p:nvSpPr>
          <p:cNvPr id="7" name="Shape 7"/>
          <p:cNvSpPr/>
          <p:nvPr/>
        </p:nvSpPr>
        <p:spPr>
          <a:xfrm>
            <a:off x="4267200" y="158496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8"/>
          <p:cNvSpPr/>
          <p:nvPr/>
        </p:nvSpPr>
        <p:spPr>
          <a:xfrm>
            <a:off x="4267200" y="1584960"/>
            <a:ext cx="335280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9"/>
          <p:cNvSpPr/>
          <p:nvPr/>
        </p:nvSpPr>
        <p:spPr>
          <a:xfrm>
            <a:off x="4450080" y="176784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False Gate Confidence
Precise number that
isn't omniscient</a:t>
            </a:r>
            <a:endParaRPr lang="en-US" sz="1467" dirty="0"/>
          </a:p>
        </p:txBody>
      </p:sp>
      <p:sp>
        <p:nvSpPr>
          <p:cNvPr id="10" name="Shape 10"/>
          <p:cNvSpPr/>
          <p:nvPr/>
        </p:nvSpPr>
        <p:spPr>
          <a:xfrm>
            <a:off x="7924800" y="158496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11"/>
          <p:cNvSpPr/>
          <p:nvPr/>
        </p:nvSpPr>
        <p:spPr>
          <a:xfrm>
            <a:off x="7924800" y="1584960"/>
            <a:ext cx="335280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2"/>
          <p:cNvSpPr/>
          <p:nvPr/>
        </p:nvSpPr>
        <p:spPr>
          <a:xfrm>
            <a:off x="8107680" y="176784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Secret Leakage
Logs with API keys
sent to models</a:t>
            </a:r>
            <a:endParaRPr lang="en-US" sz="1467" dirty="0"/>
          </a:p>
        </p:txBody>
      </p:sp>
      <p:sp>
        <p:nvSpPr>
          <p:cNvPr id="13" name="Shape 13"/>
          <p:cNvSpPr/>
          <p:nvPr/>
        </p:nvSpPr>
        <p:spPr>
          <a:xfrm>
            <a:off x="609600" y="365760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4"/>
          <p:cNvSpPr/>
          <p:nvPr/>
        </p:nvSpPr>
        <p:spPr>
          <a:xfrm>
            <a:off x="609600" y="3657600"/>
            <a:ext cx="335280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5"/>
          <p:cNvSpPr/>
          <p:nvPr/>
        </p:nvSpPr>
        <p:spPr>
          <a:xfrm>
            <a:off x="792480" y="384048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Stale RAG
Outdated fixes for
old versions</a:t>
            </a:r>
            <a:endParaRPr lang="en-US" sz="1467" dirty="0"/>
          </a:p>
        </p:txBody>
      </p:sp>
      <p:sp>
        <p:nvSpPr>
          <p:cNvPr id="16" name="Shape 16"/>
          <p:cNvSpPr/>
          <p:nvPr/>
        </p:nvSpPr>
        <p:spPr>
          <a:xfrm>
            <a:off x="4267200" y="365760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7"/>
          <p:cNvSpPr/>
          <p:nvPr/>
        </p:nvSpPr>
        <p:spPr>
          <a:xfrm>
            <a:off x="4267200" y="3657600"/>
            <a:ext cx="335280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8"/>
          <p:cNvSpPr/>
          <p:nvPr/>
        </p:nvSpPr>
        <p:spPr>
          <a:xfrm>
            <a:off x="4450080" y="384048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Cost/Latency Creep
Unchecked scaling
of AI calls</a:t>
            </a:r>
            <a:endParaRPr lang="en-US" sz="1467" dirty="0"/>
          </a:p>
        </p:txBody>
      </p:sp>
      <p:sp>
        <p:nvSpPr>
          <p:cNvPr id="19" name="Shape 19"/>
          <p:cNvSpPr/>
          <p:nvPr/>
        </p:nvSpPr>
        <p:spPr>
          <a:xfrm>
            <a:off x="7924800" y="365760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20"/>
          <p:cNvSpPr/>
          <p:nvPr/>
        </p:nvSpPr>
        <p:spPr>
          <a:xfrm>
            <a:off x="7924800" y="3657600"/>
            <a:ext cx="335280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21"/>
          <p:cNvSpPr/>
          <p:nvPr/>
        </p:nvSpPr>
        <p:spPr>
          <a:xfrm>
            <a:off x="8107680" y="384048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Autonomy Creep
Trust drifts until
nobody reviews</a:t>
            </a:r>
            <a:endParaRPr lang="en-US" sz="1467" dirty="0"/>
          </a:p>
        </p:txBody>
      </p:sp>
      <p:sp>
        <p:nvSpPr>
          <p:cNvPr id="22" name="Text 22"/>
          <p:cNvSpPr/>
          <p:nvPr/>
        </p:nvSpPr>
        <p:spPr>
          <a:xfrm>
            <a:off x="609600" y="585216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733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Mitigation: human oversight + version-controlled boundaries + regular accuracy checks</a:t>
            </a:r>
            <a:endParaRPr lang="en-US" sz="1733" dirty="0"/>
          </a:p>
        </p:txBody>
      </p:sp>
      <p:sp>
        <p:nvSpPr>
          <p:cNvPr id="23" name="TextBox 23"/>
          <p:cNvSpPr txBox="1"/>
          <p:nvPr/>
        </p:nvSpPr>
        <p:spPr>
          <a:xfrm>
            <a:off x="11319371" y="6309360"/>
            <a:ext cx="506869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33">
                <a:solidFill>
                  <a:srgbClr val="808080"/>
                </a:solidFill>
                <a:latin typeface="Poppins"/>
              </a:rPr>
              <a:t>26b</a:t>
            </a:r>
          </a:p>
        </p:txBody>
      </p:sp>
    </p:spTree>
    <p:extLst>
      <p:ext uri="{BB962C8B-B14F-4D97-AF65-F5344CB8AC3E}">
        <p14:creationId xmlns:p14="http://schemas.microsoft.com/office/powerpoint/2010/main" val="13683594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Autonomy Ladder: Three Levels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1582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 is earned through demonstrated reliability</a:t>
            </a:r>
            <a:endParaRPr lang="en-US" sz="1867" dirty="0"/>
          </a:p>
        </p:txBody>
      </p:sp>
      <p:sp>
        <p:nvSpPr>
          <p:cNvPr id="4" name="Shape 4"/>
          <p:cNvSpPr/>
          <p:nvPr/>
        </p:nvSpPr>
        <p:spPr>
          <a:xfrm>
            <a:off x="609600" y="1706880"/>
            <a:ext cx="3352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609600" y="1706880"/>
            <a:ext cx="3352800" cy="97536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6"/>
          <p:cNvSpPr/>
          <p:nvPr/>
        </p:nvSpPr>
        <p:spPr>
          <a:xfrm>
            <a:off x="731520" y="1950384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48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7"/>
          <p:cNvSpPr/>
          <p:nvPr/>
        </p:nvSpPr>
        <p:spPr>
          <a:xfrm>
            <a:off x="1341120" y="1950384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1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Advisory</a:t>
            </a:r>
            <a:endParaRPr lang="en-US" sz="2133" dirty="0"/>
          </a:p>
        </p:txBody>
      </p:sp>
      <p:sp>
        <p:nvSpPr>
          <p:cNvPr id="8" name="Text 8"/>
          <p:cNvSpPr/>
          <p:nvPr/>
        </p:nvSpPr>
        <p:spPr>
          <a:xfrm>
            <a:off x="1341120" y="2438400"/>
            <a:ext cx="2438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recommends,
human decides.
Always start here.
No exceptions.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4267200" y="1706880"/>
            <a:ext cx="3352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10"/>
          <p:cNvSpPr/>
          <p:nvPr/>
        </p:nvSpPr>
        <p:spPr>
          <a:xfrm>
            <a:off x="4267200" y="1706880"/>
            <a:ext cx="3352800" cy="9753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11"/>
          <p:cNvSpPr/>
          <p:nvPr/>
        </p:nvSpPr>
        <p:spPr>
          <a:xfrm>
            <a:off x="4389120" y="1950384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4800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2"/>
          <p:cNvSpPr/>
          <p:nvPr/>
        </p:nvSpPr>
        <p:spPr>
          <a:xfrm>
            <a:off x="4998720" y="1950384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1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Approval Assist</a:t>
            </a:r>
            <a:endParaRPr lang="en-US" sz="2133" dirty="0"/>
          </a:p>
        </p:txBody>
      </p:sp>
      <p:sp>
        <p:nvSpPr>
          <p:cNvPr id="13" name="Text 13"/>
          <p:cNvSpPr/>
          <p:nvPr/>
        </p:nvSpPr>
        <p:spPr>
          <a:xfrm>
            <a:off x="4998720" y="2438400"/>
            <a:ext cx="2438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auto-approves routine,
escalates unusual.
After weeks of proven
reliability.</a:t>
            </a:r>
            <a:endParaRPr lang="en-US" sz="1600" dirty="0"/>
          </a:p>
        </p:txBody>
      </p:sp>
      <p:sp>
        <p:nvSpPr>
          <p:cNvPr id="14" name="Shape 14"/>
          <p:cNvSpPr/>
          <p:nvPr/>
        </p:nvSpPr>
        <p:spPr>
          <a:xfrm>
            <a:off x="7924800" y="1706880"/>
            <a:ext cx="3352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5"/>
          <p:cNvSpPr/>
          <p:nvPr/>
        </p:nvSpPr>
        <p:spPr>
          <a:xfrm>
            <a:off x="7924800" y="1706880"/>
            <a:ext cx="3352800" cy="9753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6"/>
          <p:cNvSpPr/>
          <p:nvPr/>
        </p:nvSpPr>
        <p:spPr>
          <a:xfrm>
            <a:off x="8046720" y="1950384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48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4800" dirty="0"/>
          </a:p>
        </p:txBody>
      </p:sp>
      <p:sp>
        <p:nvSpPr>
          <p:cNvPr id="17" name="Text 17"/>
          <p:cNvSpPr/>
          <p:nvPr/>
        </p:nvSpPr>
        <p:spPr>
          <a:xfrm>
            <a:off x="8656320" y="1950384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1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Enforced Gate</a:t>
            </a:r>
            <a:endParaRPr lang="en-US" sz="2133" dirty="0"/>
          </a:p>
        </p:txBody>
      </p:sp>
      <p:sp>
        <p:nvSpPr>
          <p:cNvPr id="18" name="Text 18"/>
          <p:cNvSpPr/>
          <p:nvPr/>
        </p:nvSpPr>
        <p:spPr>
          <a:xfrm>
            <a:off x="8656320" y="2438400"/>
            <a:ext cx="2438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has decision authority.
After months of accuracy.
Only for well-understood,
low-risk scenarios.</a:t>
            </a:r>
            <a:endParaRPr lang="en-US" sz="1600" dirty="0"/>
          </a:p>
        </p:txBody>
      </p:sp>
      <p:sp>
        <p:nvSpPr>
          <p:cNvPr id="19" name="TextBox 19"/>
          <p:cNvSpPr txBox="1"/>
          <p:nvPr/>
        </p:nvSpPr>
        <p:spPr>
          <a:xfrm>
            <a:off x="11335400" y="6309360"/>
            <a:ext cx="490840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33">
                <a:solidFill>
                  <a:srgbClr val="808080"/>
                </a:solidFill>
                <a:latin typeface="Poppins"/>
              </a:rPr>
              <a:t>27b</a:t>
            </a:r>
          </a:p>
        </p:txBody>
      </p:sp>
    </p:spTree>
    <p:extLst>
      <p:ext uri="{BB962C8B-B14F-4D97-AF65-F5344CB8AC3E}">
        <p14:creationId xmlns:p14="http://schemas.microsoft.com/office/powerpoint/2010/main" val="3507595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Sarah's PR: Six Patterns Applied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1582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intelligent system — each component makes the others more effective</a:t>
            </a:r>
            <a:endParaRPr lang="en-US" sz="1867" dirty="0"/>
          </a:p>
        </p:txBody>
      </p:sp>
      <p:sp>
        <p:nvSpPr>
          <p:cNvPr id="4" name="Shape 4"/>
          <p:cNvSpPr/>
          <p:nvPr/>
        </p:nvSpPr>
        <p:spPr>
          <a:xfrm>
            <a:off x="609600" y="158496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609600" y="1584960"/>
            <a:ext cx="73152" cy="18288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6"/>
          <p:cNvSpPr/>
          <p:nvPr/>
        </p:nvSpPr>
        <p:spPr>
          <a:xfrm>
            <a:off x="792480" y="1706880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2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7"/>
          <p:cNvSpPr/>
          <p:nvPr/>
        </p:nvSpPr>
        <p:spPr>
          <a:xfrm>
            <a:off x="1341120" y="1706880"/>
            <a:ext cx="243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Synthesis
Caught the
edge case</a:t>
            </a:r>
            <a:endParaRPr lang="en-US" sz="1467" dirty="0"/>
          </a:p>
        </p:txBody>
      </p:sp>
      <p:sp>
        <p:nvSpPr>
          <p:cNvPr id="8" name="Shape 8"/>
          <p:cNvSpPr/>
          <p:nvPr/>
        </p:nvSpPr>
        <p:spPr>
          <a:xfrm>
            <a:off x="4267200" y="158496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9"/>
          <p:cNvSpPr/>
          <p:nvPr/>
        </p:nvSpPr>
        <p:spPr>
          <a:xfrm>
            <a:off x="4267200" y="1584960"/>
            <a:ext cx="73152" cy="18288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10"/>
          <p:cNvSpPr/>
          <p:nvPr/>
        </p:nvSpPr>
        <p:spPr>
          <a:xfrm>
            <a:off x="4450080" y="1706880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2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11"/>
          <p:cNvSpPr/>
          <p:nvPr/>
        </p:nvSpPr>
        <p:spPr>
          <a:xfrm>
            <a:off x="4998720" y="1706880"/>
            <a:ext cx="243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Classification
Diagnosed
the failure</a:t>
            </a:r>
            <a:endParaRPr lang="en-US" sz="1467" dirty="0"/>
          </a:p>
        </p:txBody>
      </p:sp>
      <p:sp>
        <p:nvSpPr>
          <p:cNvPr id="12" name="Shape 12"/>
          <p:cNvSpPr/>
          <p:nvPr/>
        </p:nvSpPr>
        <p:spPr>
          <a:xfrm>
            <a:off x="7924800" y="158496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3"/>
          <p:cNvSpPr/>
          <p:nvPr/>
        </p:nvSpPr>
        <p:spPr>
          <a:xfrm>
            <a:off x="7924800" y="1584960"/>
            <a:ext cx="73152" cy="18288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4"/>
          <p:cNvSpPr/>
          <p:nvPr/>
        </p:nvSpPr>
        <p:spPr>
          <a:xfrm>
            <a:off x="8107680" y="1706880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2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5"/>
          <p:cNvSpPr/>
          <p:nvPr/>
        </p:nvSpPr>
        <p:spPr>
          <a:xfrm>
            <a:off x="8656320" y="1706880"/>
            <a:ext cx="243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Summarization
Communicated
in 10 seconds</a:t>
            </a:r>
            <a:endParaRPr lang="en-US" sz="1467" dirty="0"/>
          </a:p>
        </p:txBody>
      </p:sp>
      <p:sp>
        <p:nvSpPr>
          <p:cNvPr id="16" name="Shape 16"/>
          <p:cNvSpPr/>
          <p:nvPr/>
        </p:nvSpPr>
        <p:spPr>
          <a:xfrm>
            <a:off x="609600" y="365760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7"/>
          <p:cNvSpPr/>
          <p:nvPr/>
        </p:nvSpPr>
        <p:spPr>
          <a:xfrm>
            <a:off x="609600" y="3657600"/>
            <a:ext cx="73152" cy="18288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8"/>
          <p:cNvSpPr/>
          <p:nvPr/>
        </p:nvSpPr>
        <p:spPr>
          <a:xfrm>
            <a:off x="792480" y="3779520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2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Text 19"/>
          <p:cNvSpPr/>
          <p:nvPr/>
        </p:nvSpPr>
        <p:spPr>
          <a:xfrm>
            <a:off x="1341120" y="3779520"/>
            <a:ext cx="243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RAG Lookup
Found the fix
from 3 months ago</a:t>
            </a:r>
            <a:endParaRPr lang="en-US" sz="1467" dirty="0"/>
          </a:p>
        </p:txBody>
      </p:sp>
      <p:sp>
        <p:nvSpPr>
          <p:cNvPr id="20" name="Shape 20"/>
          <p:cNvSpPr/>
          <p:nvPr/>
        </p:nvSpPr>
        <p:spPr>
          <a:xfrm>
            <a:off x="4267200" y="365760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21"/>
          <p:cNvSpPr/>
          <p:nvPr/>
        </p:nvSpPr>
        <p:spPr>
          <a:xfrm>
            <a:off x="4267200" y="3657600"/>
            <a:ext cx="73152" cy="18288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2"/>
          <p:cNvSpPr/>
          <p:nvPr/>
        </p:nvSpPr>
        <p:spPr>
          <a:xfrm>
            <a:off x="4450080" y="3779520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2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3200" dirty="0"/>
          </a:p>
        </p:txBody>
      </p:sp>
      <p:sp>
        <p:nvSpPr>
          <p:cNvPr id="23" name="Text 23"/>
          <p:cNvSpPr/>
          <p:nvPr/>
        </p:nvSpPr>
        <p:spPr>
          <a:xfrm>
            <a:off x="4998720" y="3779520"/>
            <a:ext cx="243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Scoring
Flagged the
severity</a:t>
            </a:r>
            <a:endParaRPr lang="en-US" sz="1467" dirty="0"/>
          </a:p>
        </p:txBody>
      </p:sp>
      <p:sp>
        <p:nvSpPr>
          <p:cNvPr id="24" name="Shape 24"/>
          <p:cNvSpPr/>
          <p:nvPr/>
        </p:nvSpPr>
        <p:spPr>
          <a:xfrm>
            <a:off x="7924800" y="365760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5"/>
          <p:cNvSpPr/>
          <p:nvPr/>
        </p:nvSpPr>
        <p:spPr>
          <a:xfrm>
            <a:off x="7924800" y="3657600"/>
            <a:ext cx="73152" cy="18288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6"/>
          <p:cNvSpPr/>
          <p:nvPr/>
        </p:nvSpPr>
        <p:spPr>
          <a:xfrm>
            <a:off x="8107680" y="3779520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2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3200" dirty="0"/>
          </a:p>
        </p:txBody>
      </p:sp>
      <p:sp>
        <p:nvSpPr>
          <p:cNvPr id="27" name="Text 27"/>
          <p:cNvSpPr/>
          <p:nvPr/>
        </p:nvSpPr>
        <p:spPr>
          <a:xfrm>
            <a:off x="8656320" y="3779520"/>
            <a:ext cx="243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Release Gate
Shipped safely
with human sign-off</a:t>
            </a:r>
            <a:endParaRPr lang="en-US" sz="1467" dirty="0"/>
          </a:p>
        </p:txBody>
      </p:sp>
      <p:sp>
        <p:nvSpPr>
          <p:cNvPr id="28" name="TextBox 28"/>
          <p:cNvSpPr txBox="1"/>
          <p:nvPr/>
        </p:nvSpPr>
        <p:spPr>
          <a:xfrm>
            <a:off x="11317768" y="6309360"/>
            <a:ext cx="508473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33">
                <a:solidFill>
                  <a:srgbClr val="808080"/>
                </a:solidFill>
                <a:latin typeface="Poppins"/>
              </a:rPr>
              <a:t>30b</a:t>
            </a:r>
          </a:p>
        </p:txBody>
      </p:sp>
    </p:spTree>
    <p:extLst>
      <p:ext uri="{BB962C8B-B14F-4D97-AF65-F5344CB8AC3E}">
        <p14:creationId xmlns:p14="http://schemas.microsoft.com/office/powerpoint/2010/main" val="7597366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Six-Component CAI Stack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1582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to three weeks for a basic pilot</a:t>
            </a:r>
            <a:endParaRPr lang="en-US" sz="1867" dirty="0"/>
          </a:p>
        </p:txBody>
      </p:sp>
      <p:sp>
        <p:nvSpPr>
          <p:cNvPr id="4" name="Shape 4"/>
          <p:cNvSpPr/>
          <p:nvPr/>
        </p:nvSpPr>
        <p:spPr>
          <a:xfrm>
            <a:off x="609600" y="158496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609600" y="1584960"/>
            <a:ext cx="335280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6"/>
          <p:cNvSpPr/>
          <p:nvPr/>
        </p:nvSpPr>
        <p:spPr>
          <a:xfrm>
            <a:off x="792480" y="176784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 Runner
No changes —
use what you have</a:t>
            </a:r>
            <a:endParaRPr lang="en-US" sz="1600" dirty="0"/>
          </a:p>
        </p:txBody>
      </p:sp>
      <p:sp>
        <p:nvSpPr>
          <p:cNvPr id="7" name="Shape 7"/>
          <p:cNvSpPr/>
          <p:nvPr/>
        </p:nvSpPr>
        <p:spPr>
          <a:xfrm>
            <a:off x="4267200" y="158496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8"/>
          <p:cNvSpPr/>
          <p:nvPr/>
        </p:nvSpPr>
        <p:spPr>
          <a:xfrm>
            <a:off x="4267200" y="1584960"/>
            <a:ext cx="335280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9"/>
          <p:cNvSpPr/>
          <p:nvPr/>
        </p:nvSpPr>
        <p:spPr>
          <a:xfrm>
            <a:off x="4450080" y="176784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Redaction Layer
Build first, before
anything touches a model</a:t>
            </a:r>
            <a:endParaRPr lang="en-US" sz="1600" dirty="0"/>
          </a:p>
        </p:txBody>
      </p:sp>
      <p:sp>
        <p:nvSpPr>
          <p:cNvPr id="10" name="Shape 10"/>
          <p:cNvSpPr/>
          <p:nvPr/>
        </p:nvSpPr>
        <p:spPr>
          <a:xfrm>
            <a:off x="7924800" y="158496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11"/>
          <p:cNvSpPr/>
          <p:nvPr/>
        </p:nvSpPr>
        <p:spPr>
          <a:xfrm>
            <a:off x="7924800" y="1584960"/>
            <a:ext cx="335280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2"/>
          <p:cNvSpPr/>
          <p:nvPr/>
        </p:nvSpPr>
        <p:spPr>
          <a:xfrm>
            <a:off x="8107680" y="176784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Gateway
The difference between
a demo and production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609600" y="365760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4"/>
          <p:cNvSpPr/>
          <p:nvPr/>
        </p:nvSpPr>
        <p:spPr>
          <a:xfrm>
            <a:off x="609600" y="3657600"/>
            <a:ext cx="335280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5"/>
          <p:cNvSpPr/>
          <p:nvPr/>
        </p:nvSpPr>
        <p:spPr>
          <a:xfrm>
            <a:off x="792480" y="384048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Vector Store
The memory layer
for RAG</a:t>
            </a:r>
            <a:endParaRPr lang="en-US" sz="1600" dirty="0"/>
          </a:p>
        </p:txBody>
      </p:sp>
      <p:sp>
        <p:nvSpPr>
          <p:cNvPr id="16" name="Shape 16"/>
          <p:cNvSpPr/>
          <p:nvPr/>
        </p:nvSpPr>
        <p:spPr>
          <a:xfrm>
            <a:off x="4267200" y="365760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7"/>
          <p:cNvSpPr/>
          <p:nvPr/>
        </p:nvSpPr>
        <p:spPr>
          <a:xfrm>
            <a:off x="4267200" y="3657600"/>
            <a:ext cx="335280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8"/>
          <p:cNvSpPr/>
          <p:nvPr/>
        </p:nvSpPr>
        <p:spPr>
          <a:xfrm>
            <a:off x="4450080" y="384048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Policy Engine
Your guardrails
in code</a:t>
            </a:r>
            <a:endParaRPr lang="en-US" sz="1600" dirty="0"/>
          </a:p>
        </p:txBody>
      </p:sp>
      <p:sp>
        <p:nvSpPr>
          <p:cNvPr id="19" name="Shape 19"/>
          <p:cNvSpPr/>
          <p:nvPr/>
        </p:nvSpPr>
        <p:spPr>
          <a:xfrm>
            <a:off x="7924800" y="365760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20"/>
          <p:cNvSpPr/>
          <p:nvPr/>
        </p:nvSpPr>
        <p:spPr>
          <a:xfrm>
            <a:off x="7924800" y="3657600"/>
            <a:ext cx="335280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21"/>
          <p:cNvSpPr/>
          <p:nvPr/>
        </p:nvSpPr>
        <p:spPr>
          <a:xfrm>
            <a:off x="8107680" y="384048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Log
Every AI decision
recorded</a:t>
            </a:r>
            <a:endParaRPr lang="en-US" sz="1600" dirty="0"/>
          </a:p>
        </p:txBody>
      </p:sp>
      <p:sp>
        <p:nvSpPr>
          <p:cNvPr id="22" name="Text 22"/>
          <p:cNvSpPr/>
          <p:nvPr/>
        </p:nvSpPr>
        <p:spPr>
          <a:xfrm>
            <a:off x="609600" y="585216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867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with redaction + model gateway, layer in the rest as you mature</a:t>
            </a:r>
            <a:endParaRPr lang="en-US" sz="1867" dirty="0"/>
          </a:p>
        </p:txBody>
      </p:sp>
      <p:sp>
        <p:nvSpPr>
          <p:cNvPr id="23" name="TextBox 23"/>
          <p:cNvSpPr txBox="1"/>
          <p:nvPr/>
        </p:nvSpPr>
        <p:spPr>
          <a:xfrm>
            <a:off x="11317768" y="6309360"/>
            <a:ext cx="508473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33">
                <a:solidFill>
                  <a:srgbClr val="808080"/>
                </a:solidFill>
                <a:latin typeface="Poppins"/>
              </a:rPr>
              <a:t>34b</a:t>
            </a:r>
          </a:p>
        </p:txBody>
      </p:sp>
    </p:spTree>
    <p:extLst>
      <p:ext uri="{BB962C8B-B14F-4D97-AF65-F5344CB8AC3E}">
        <p14:creationId xmlns:p14="http://schemas.microsoft.com/office/powerpoint/2010/main" val="3024750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Six CAI Metrics &amp;amp; Targets</a:t>
            </a:r>
            <a:endParaRPr lang="en-US" sz="4533" dirty="0"/>
          </a:p>
        </p:txBody>
      </p:sp>
      <p:sp>
        <p:nvSpPr>
          <p:cNvPr id="3" name="Text 1"/>
          <p:cNvSpPr/>
          <p:nvPr/>
        </p:nvSpPr>
        <p:spPr>
          <a:xfrm>
            <a:off x="609600" y="11582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with just two: classifier precision and gate override rate</a:t>
            </a:r>
            <a:endParaRPr lang="en-US" sz="1867" dirty="0"/>
          </a:p>
        </p:txBody>
      </p:sp>
      <p:sp>
        <p:nvSpPr>
          <p:cNvPr id="4" name="Shape 4"/>
          <p:cNvSpPr/>
          <p:nvPr/>
        </p:nvSpPr>
        <p:spPr>
          <a:xfrm>
            <a:off x="609600" y="158496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609600" y="1584960"/>
            <a:ext cx="335280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6"/>
          <p:cNvSpPr/>
          <p:nvPr/>
        </p:nvSpPr>
        <p:spPr>
          <a:xfrm>
            <a:off x="792480" y="176784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Triage Time
Your headline metric</a:t>
            </a:r>
            <a:endParaRPr lang="en-US" sz="1733" dirty="0"/>
          </a:p>
        </p:txBody>
      </p:sp>
      <p:sp>
        <p:nvSpPr>
          <p:cNvPr id="7" name="Shape 7"/>
          <p:cNvSpPr/>
          <p:nvPr/>
        </p:nvSpPr>
        <p:spPr>
          <a:xfrm>
            <a:off x="4267200" y="158496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8"/>
          <p:cNvSpPr/>
          <p:nvPr/>
        </p:nvSpPr>
        <p:spPr>
          <a:xfrm>
            <a:off x="4267200" y="1584960"/>
            <a:ext cx="335280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9"/>
          <p:cNvSpPr/>
          <p:nvPr/>
        </p:nvSpPr>
        <p:spPr>
          <a:xfrm>
            <a:off x="4450080" y="176784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Minutes Saved
Gets budget approval</a:t>
            </a:r>
            <a:endParaRPr lang="en-US" sz="1733" dirty="0"/>
          </a:p>
        </p:txBody>
      </p:sp>
      <p:sp>
        <p:nvSpPr>
          <p:cNvPr id="10" name="Shape 10"/>
          <p:cNvSpPr/>
          <p:nvPr/>
        </p:nvSpPr>
        <p:spPr>
          <a:xfrm>
            <a:off x="7924800" y="158496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11"/>
          <p:cNvSpPr/>
          <p:nvPr/>
        </p:nvSpPr>
        <p:spPr>
          <a:xfrm>
            <a:off x="7924800" y="1584960"/>
            <a:ext cx="335280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2"/>
          <p:cNvSpPr/>
          <p:nvPr/>
        </p:nvSpPr>
        <p:spPr>
          <a:xfrm>
            <a:off x="8107680" y="176784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 Acceptance
Your quality indicator</a:t>
            </a:r>
            <a:endParaRPr lang="en-US" sz="1733" dirty="0"/>
          </a:p>
        </p:txBody>
      </p:sp>
      <p:sp>
        <p:nvSpPr>
          <p:cNvPr id="13" name="Shape 13"/>
          <p:cNvSpPr/>
          <p:nvPr/>
        </p:nvSpPr>
        <p:spPr>
          <a:xfrm>
            <a:off x="609600" y="365760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4"/>
          <p:cNvSpPr/>
          <p:nvPr/>
        </p:nvSpPr>
        <p:spPr>
          <a:xfrm>
            <a:off x="609600" y="3657600"/>
            <a:ext cx="335280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5"/>
          <p:cNvSpPr/>
          <p:nvPr/>
        </p:nvSpPr>
        <p:spPr>
          <a:xfrm>
            <a:off x="792480" y="384048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Repeated Failures
Feedback loop health</a:t>
            </a:r>
            <a:endParaRPr lang="en-US" sz="1733" dirty="0"/>
          </a:p>
        </p:txBody>
      </p:sp>
      <p:sp>
        <p:nvSpPr>
          <p:cNvPr id="16" name="Shape 16"/>
          <p:cNvSpPr/>
          <p:nvPr/>
        </p:nvSpPr>
        <p:spPr>
          <a:xfrm>
            <a:off x="4267200" y="365760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7"/>
          <p:cNvSpPr/>
          <p:nvPr/>
        </p:nvSpPr>
        <p:spPr>
          <a:xfrm>
            <a:off x="4267200" y="3657600"/>
            <a:ext cx="335280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8"/>
          <p:cNvSpPr/>
          <p:nvPr/>
        </p:nvSpPr>
        <p:spPr>
          <a:xfrm>
            <a:off x="4450080" y="384048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 Override Rate
Trust barometer #1</a:t>
            </a:r>
            <a:endParaRPr lang="en-US" sz="1733" dirty="0"/>
          </a:p>
        </p:txBody>
      </p:sp>
      <p:sp>
        <p:nvSpPr>
          <p:cNvPr id="19" name="Shape 19"/>
          <p:cNvSpPr/>
          <p:nvPr/>
        </p:nvSpPr>
        <p:spPr>
          <a:xfrm>
            <a:off x="7924800" y="3657600"/>
            <a:ext cx="335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20"/>
          <p:cNvSpPr/>
          <p:nvPr/>
        </p:nvSpPr>
        <p:spPr>
          <a:xfrm>
            <a:off x="7924800" y="3657600"/>
            <a:ext cx="335280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21"/>
          <p:cNvSpPr/>
          <p:nvPr/>
        </p:nvSpPr>
        <p:spPr>
          <a:xfrm>
            <a:off x="8107680" y="3840480"/>
            <a:ext cx="298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33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False Hold Rate
Trust barometer #2</a:t>
            </a:r>
            <a:endParaRPr lang="en-US" sz="1733" dirty="0"/>
          </a:p>
        </p:txBody>
      </p:sp>
      <p:sp>
        <p:nvSpPr>
          <p:cNvPr id="22" name="Text 22"/>
          <p:cNvSpPr/>
          <p:nvPr/>
        </p:nvSpPr>
        <p:spPr>
          <a:xfrm>
            <a:off x="609600" y="585216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867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These two numbers tell you if the system is earning trust or losing it</a:t>
            </a:r>
            <a:endParaRPr lang="en-US" sz="1867" dirty="0"/>
          </a:p>
        </p:txBody>
      </p:sp>
      <p:sp>
        <p:nvSpPr>
          <p:cNvPr id="23" name="TextBox 23"/>
          <p:cNvSpPr txBox="1"/>
          <p:nvPr/>
        </p:nvSpPr>
        <p:spPr>
          <a:xfrm>
            <a:off x="11364255" y="6309360"/>
            <a:ext cx="461985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33">
                <a:solidFill>
                  <a:srgbClr val="808080"/>
                </a:solidFill>
                <a:latin typeface="Poppins"/>
              </a:rPr>
              <a:t>41b</a:t>
            </a:r>
          </a:p>
        </p:txBody>
      </p:sp>
    </p:spTree>
    <p:extLst>
      <p:ext uri="{BB962C8B-B14F-4D97-AF65-F5344CB8AC3E}">
        <p14:creationId xmlns:p14="http://schemas.microsoft.com/office/powerpoint/2010/main" val="10628522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A8CB4-7435-3EBE-A737-52D22F06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01C0867-2F70-9F10-089A-980C559B7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3B3180-6C16-4B9C-40F6-5D759CF438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6525"/>
            <a:ext cx="10515600" cy="606425"/>
          </a:xfrm>
        </p:spPr>
        <p:txBody>
          <a:bodyPr>
            <a:normAutofit/>
          </a:bodyPr>
          <a:lstStyle/>
          <a:p>
            <a:r>
              <a:rPr lang="en-US" dirty="0"/>
              <a:t>That’s all - thanks!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AA874B-2043-0C7E-3358-38C7EAB7C6A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999999"/>
              </a:clrFrom>
              <a:clrTo>
                <a:srgbClr val="9999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1135" y="813600"/>
            <a:ext cx="1824410" cy="24110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63E9BB6-DBDD-88B7-E965-B43601E32E98}"/>
              </a:ext>
            </a:extLst>
          </p:cNvPr>
          <p:cNvSpPr/>
          <p:nvPr/>
        </p:nvSpPr>
        <p:spPr>
          <a:xfrm>
            <a:off x="4121502" y="5101810"/>
            <a:ext cx="73343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techskillstransformations.com</a:t>
            </a:r>
          </a:p>
          <a:p>
            <a:pPr algn="ctr"/>
            <a:r>
              <a:rPr lang="en-US" sz="2000" i="1" dirty="0" err="1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getskillsnow.com</a:t>
            </a:r>
            <a:endParaRPr lang="en-US" sz="2000" i="1" dirty="0">
              <a:solidFill>
                <a:srgbClr val="0070C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AEE13-05E3-7418-FC61-E21557401EBF}"/>
              </a:ext>
            </a:extLst>
          </p:cNvPr>
          <p:cNvSpPr txBox="1"/>
          <p:nvPr/>
        </p:nvSpPr>
        <p:spPr>
          <a:xfrm>
            <a:off x="5166141" y="157374"/>
            <a:ext cx="6740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Aptos" panose="020B0004020202020204" pitchFamily="34" charset="0"/>
              </a:rPr>
              <a:t>Contact: </a:t>
            </a:r>
            <a:r>
              <a:rPr lang="en-US" sz="2800" dirty="0" err="1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training@getskillsnow.com</a:t>
            </a:r>
            <a:endParaRPr lang="en-US" sz="2800" dirty="0">
              <a:solidFill>
                <a:srgbClr val="0070C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pic>
        <p:nvPicPr>
          <p:cNvPr id="1026" name="Picture 2" descr="Professional Git">
            <a:extLst>
              <a:ext uri="{FF2B5EF4-FFF2-40B4-BE49-F238E27FC236}">
                <a16:creationId xmlns:a16="http://schemas.microsoft.com/office/drawing/2014/main" id="{012A314D-4FB5-3FFA-0500-900AEEDC5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" y="828284"/>
            <a:ext cx="1824411" cy="2381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earning GitHub Copilot: Multiplying Your Coding Productivity Using AI">
            <a:extLst>
              <a:ext uri="{FF2B5EF4-FFF2-40B4-BE49-F238E27FC236}">
                <a16:creationId xmlns:a16="http://schemas.microsoft.com/office/drawing/2014/main" id="{F8AE847E-1265-D661-6FC1-133ABF4AA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38" y="3357704"/>
            <a:ext cx="1867113" cy="245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earning GitHub Actions: Automation and Integration of CI/CD with GitHub">
            <a:extLst>
              <a:ext uri="{FF2B5EF4-FFF2-40B4-BE49-F238E27FC236}">
                <a16:creationId xmlns:a16="http://schemas.microsoft.com/office/drawing/2014/main" id="{BC454DA3-0C23-5717-A9A9-4D99BEEF2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966" y="3429000"/>
            <a:ext cx="1867113" cy="245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440708-921C-156B-E432-253A3E27D9A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36423" y="774443"/>
            <a:ext cx="7692539" cy="3809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55F5CE-F988-F912-E201-B53CDA54FD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1609" y="4677549"/>
            <a:ext cx="1769772" cy="17697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13A919-7D0C-8FA9-744D-A61A1AD6F7E1}"/>
              </a:ext>
            </a:extLst>
          </p:cNvPr>
          <p:cNvSpPr txBox="1"/>
          <p:nvPr/>
        </p:nvSpPr>
        <p:spPr>
          <a:xfrm>
            <a:off x="-1475232" y="191414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18830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6061788-D76A-FC40-A1F2-6293CE3941A2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  <we:property name="claude.fileId" value="&quot;3d8df3e8-9840-4d8b-80e1-5713b6f1a70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28408</TotalTime>
  <Words>5122</Words>
  <Application>Microsoft Macintosh PowerPoint</Application>
  <PresentationFormat>Widescreen</PresentationFormat>
  <Paragraphs>897</Paragraphs>
  <Slides>56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7" baseType="lpstr">
      <vt:lpstr>Aptos</vt:lpstr>
      <vt:lpstr>Arial</vt:lpstr>
      <vt:lpstr>Arial Rounded MT Bold</vt:lpstr>
      <vt:lpstr>Avenir Next</vt:lpstr>
      <vt:lpstr>Consolas</vt:lpstr>
      <vt:lpstr>Futura Medium</vt:lpstr>
      <vt:lpstr>Lato</vt:lpstr>
      <vt:lpstr>Poppins</vt:lpstr>
      <vt:lpstr>Times New Roman</vt:lpstr>
      <vt:lpstr>Wingdings</vt:lpstr>
      <vt:lpstr>2_Custom Design</vt:lpstr>
      <vt:lpstr>               Version 2.8  04/03/26</vt:lpstr>
      <vt:lpstr>PowerPoint Presentation</vt:lpstr>
      <vt:lpstr>About me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That’s all - thanks!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211958</TotalTime>
  <Words>10805</Words>
  <Application>Microsoft Macintosh PowerPoint</Application>
  <PresentationFormat>Widescreen</PresentationFormat>
  <Paragraphs>1358</Paragraphs>
  <Slides>77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91" baseType="lpstr">
      <vt:lpstr>Aptos</vt:lpstr>
      <vt:lpstr>Arial</vt:lpstr>
      <vt:lpstr>Arial Narrow</vt:lpstr>
      <vt:lpstr>Arial Rounded MT Bold</vt:lpstr>
      <vt:lpstr>Avenir Next</vt:lpstr>
      <vt:lpstr>Avenir Next LT Pro</vt:lpstr>
      <vt:lpstr>Calibri</vt:lpstr>
      <vt:lpstr>Comic Sans MS</vt:lpstr>
      <vt:lpstr>Consolas</vt:lpstr>
      <vt:lpstr>Futura Medium</vt:lpstr>
      <vt:lpstr>Futura Medium</vt:lpstr>
      <vt:lpstr>Times New Roman</vt:lpstr>
      <vt:lpstr>Wingdings</vt:lpstr>
      <vt:lpstr>1_Custom Design</vt:lpstr>
      <vt:lpstr>PowerPoint Presentation</vt:lpstr>
      <vt:lpstr>PowerPoint Presentation</vt:lpstr>
      <vt:lpstr>Agenda</vt:lpstr>
      <vt:lpstr>Lab prep - repo is github.com/skillrepos/mcp</vt:lpstr>
      <vt:lpstr>Codespace timeouts</vt:lpstr>
      <vt:lpstr>About me  </vt:lpstr>
      <vt:lpstr>Upcoming NFJS AI Virtual Training</vt:lpstr>
      <vt:lpstr>Enterprise AI Accelerator Training</vt:lpstr>
      <vt:lpstr>PowerPoint Presentation</vt:lpstr>
      <vt:lpstr>What is an AI Agent? 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How AI Models Can Call Functions</vt:lpstr>
      <vt:lpstr>Problem: Different models handle function calls differently</vt:lpstr>
      <vt:lpstr>M x N Integration problem</vt:lpstr>
      <vt:lpstr>PowerPoint Presentation</vt:lpstr>
      <vt:lpstr>Model Context Protocol (Concept)</vt:lpstr>
      <vt:lpstr>Model Context Protocol (Concept)</vt:lpstr>
      <vt:lpstr>How does MCP Help? (Standardization)</vt:lpstr>
      <vt:lpstr>How does MCP Help? (Discoverability)</vt:lpstr>
      <vt:lpstr>PowerPoint Presentation</vt:lpstr>
      <vt:lpstr>Design Principles of MCP</vt:lpstr>
      <vt:lpstr>PowerPoint Presentation</vt:lpstr>
      <vt:lpstr>Overview of MCP Architecture</vt:lpstr>
      <vt:lpstr>Modularity and Scalability</vt:lpstr>
      <vt:lpstr>MCP Communication Protocol Overview</vt:lpstr>
      <vt:lpstr>MCP Transports</vt:lpstr>
      <vt:lpstr>PowerPoint Presentation</vt:lpstr>
      <vt:lpstr>MCP Framework Comparisons</vt:lpstr>
      <vt:lpstr>PowerPoint Presentation</vt:lpstr>
      <vt:lpstr>MCP Features</vt:lpstr>
      <vt:lpstr>Roots</vt:lpstr>
      <vt:lpstr>Samplings</vt:lpstr>
      <vt:lpstr>Elicitations</vt:lpstr>
      <vt:lpstr>MCP Feature Support</vt:lpstr>
      <vt:lpstr>Tools</vt:lpstr>
      <vt:lpstr>Prompt</vt:lpstr>
      <vt:lpstr>Prompt Flow (FastMCP 2.0+)</vt:lpstr>
      <vt:lpstr>Prompt Flow (FastMCP 2.0+)</vt:lpstr>
      <vt:lpstr>Resource</vt:lpstr>
      <vt:lpstr>MCP Discovery - Function and Benefits </vt:lpstr>
      <vt:lpstr>Discovery code and flow</vt:lpstr>
      <vt:lpstr>MCP Inspector</vt:lpstr>
      <vt:lpstr>PowerPoint Presentation</vt:lpstr>
      <vt:lpstr>How Authentication Works</vt:lpstr>
      <vt:lpstr>Specification management for MCP</vt:lpstr>
      <vt:lpstr>What is covered/not covered for authentication in the 6.18 MCP release</vt:lpstr>
      <vt:lpstr>Remaining Authentication Gaps</vt:lpstr>
      <vt:lpstr>What is covered/not covered in the 6.18 release for security</vt:lpstr>
      <vt:lpstr>Remaining Security Gaps</vt:lpstr>
      <vt:lpstr>PowerPoint Presentation</vt:lpstr>
      <vt:lpstr>Differences between APIs, LSP, and MCP</vt:lpstr>
      <vt:lpstr>Should you convert your APIs to MCP?</vt:lpstr>
      <vt:lpstr>Prompt and Model Discovery Pattern</vt:lpstr>
      <vt:lpstr>Benefits of This Pattern</vt:lpstr>
      <vt:lpstr>Leveraging resources for models</vt:lpstr>
      <vt:lpstr>PowerPoint Presentation</vt:lpstr>
      <vt:lpstr>MCP Servers List</vt:lpstr>
      <vt:lpstr>GitHub MCP Server: Flagship Public Endpoint</vt:lpstr>
      <vt:lpstr>MCP Client Config Files - Structure</vt:lpstr>
      <vt:lpstr>MCP Config Workflow </vt:lpstr>
      <vt:lpstr>Items to consider before connecting to a public MCP server</vt:lpstr>
      <vt:lpstr>PowerPoint Presentation</vt:lpstr>
      <vt:lpstr>Current MCP Challenges and Downsides</vt:lpstr>
      <vt:lpstr>MCP vulnerabilities – Key Take-aways from CyberArk Report</vt:lpstr>
      <vt:lpstr>Using extra fields </vt:lpstr>
      <vt:lpstr>Recommended Mitigations</vt:lpstr>
      <vt:lpstr>MCP Predictions</vt:lpstr>
      <vt:lpstr>That’s all - thanks!</vt:lpstr>
    </vt:vector>
  </TitlesOfParts>
  <Company>SAS Institute,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Brent Laster</cp:lastModifiedBy>
  <cp:revision>190</cp:revision>
  <dcterms:created xsi:type="dcterms:W3CDTF">2025-10-17T10:43:22Z</dcterms:created>
  <dcterms:modified xsi:type="dcterms:W3CDTF">2026-04-04T12:06:07Z</dcterms:modified>
</cp:coreProperties>
</file>